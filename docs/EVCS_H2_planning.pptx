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91795" r:id="rId4"/>
  </p:sldMasterIdLst>
  <p:notesMasterIdLst>
    <p:notesMasterId r:id="rId13"/>
  </p:notesMasterIdLst>
  <p:handoutMasterIdLst>
    <p:handoutMasterId r:id="rId14"/>
  </p:handoutMasterIdLst>
  <p:sldIdLst>
    <p:sldId id="779" r:id="rId5"/>
    <p:sldId id="780" r:id="rId6"/>
    <p:sldId id="781" r:id="rId7"/>
    <p:sldId id="783" r:id="rId8"/>
    <p:sldId id="774" r:id="rId9"/>
    <p:sldId id="775" r:id="rId10"/>
    <p:sldId id="782" r:id="rId11"/>
    <p:sldId id="777" r:id="rId12"/>
  </p:sldIdLst>
  <p:sldSz cx="12192000" cy="6858000"/>
  <p:notesSz cx="9939338" cy="1436846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1467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304671" algn="l" rtl="0" fontAlgn="base">
      <a:spcBef>
        <a:spcPct val="0"/>
      </a:spcBef>
      <a:spcAft>
        <a:spcPct val="0"/>
      </a:spcAft>
      <a:defRPr kumimoji="1" sz="1467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609341" algn="l" rtl="0" fontAlgn="base">
      <a:spcBef>
        <a:spcPct val="0"/>
      </a:spcBef>
      <a:spcAft>
        <a:spcPct val="0"/>
      </a:spcAft>
      <a:defRPr kumimoji="1" sz="1467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914012" algn="l" rtl="0" fontAlgn="base">
      <a:spcBef>
        <a:spcPct val="0"/>
      </a:spcBef>
      <a:spcAft>
        <a:spcPct val="0"/>
      </a:spcAft>
      <a:defRPr kumimoji="1" sz="1467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218682" algn="l" rtl="0" fontAlgn="base">
      <a:spcBef>
        <a:spcPct val="0"/>
      </a:spcBef>
      <a:spcAft>
        <a:spcPct val="0"/>
      </a:spcAft>
      <a:defRPr kumimoji="1" sz="1467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1523353" algn="l" defTabSz="609341" rtl="0" eaLnBrk="1" latinLnBrk="0" hangingPunct="1">
      <a:defRPr kumimoji="1" sz="1467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1828022" algn="l" defTabSz="609341" rtl="0" eaLnBrk="1" latinLnBrk="0" hangingPunct="1">
      <a:defRPr kumimoji="1" sz="1467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2132693" algn="l" defTabSz="609341" rtl="0" eaLnBrk="1" latinLnBrk="0" hangingPunct="1">
      <a:defRPr kumimoji="1" sz="1467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2437363" algn="l" defTabSz="609341" rtl="0" eaLnBrk="1" latinLnBrk="0" hangingPunct="1">
      <a:defRPr kumimoji="1" sz="1467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714BA55D-D6B4-450A-BF58-40644E8D0F97}">
          <p14:sldIdLst/>
        </p14:section>
        <p14:section name="Efficiency" id="{73AE3DAE-CCA8-4EE2-8707-AEB7A1117C07}">
          <p14:sldIdLst>
            <p14:sldId id="779"/>
            <p14:sldId id="780"/>
            <p14:sldId id="781"/>
            <p14:sldId id="783"/>
            <p14:sldId id="774"/>
            <p14:sldId id="775"/>
            <p14:sldId id="782"/>
            <p14:sldId id="777"/>
          </p14:sldIdLst>
        </p14:section>
        <p14:section name="END" id="{981BDB84-1C50-49E7-9D0A-78BD57A0003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056" userDrawn="1">
          <p15:clr>
            <a:srgbClr val="A4A3A4"/>
          </p15:clr>
        </p15:guide>
        <p15:guide id="2" orient="horz" pos="4080" userDrawn="1">
          <p15:clr>
            <a:srgbClr val="A4A3A4"/>
          </p15:clr>
        </p15:guide>
        <p15:guide id="4" pos="3712" userDrawn="1">
          <p15:clr>
            <a:srgbClr val="A4A3A4"/>
          </p15:clr>
        </p15:guide>
        <p15:guide id="5" pos="7488" userDrawn="1">
          <p15:clr>
            <a:srgbClr val="A4A3A4"/>
          </p15:clr>
        </p15:guide>
        <p15:guide id="6" pos="7424" userDrawn="1">
          <p15:clr>
            <a:srgbClr val="A4A3A4"/>
          </p15:clr>
        </p15:guide>
        <p15:guide id="7" pos="4224" userDrawn="1">
          <p15:clr>
            <a:srgbClr val="A4A3A4"/>
          </p15:clr>
        </p15:guide>
        <p15:guide id="8" pos="3520" userDrawn="1">
          <p15:clr>
            <a:srgbClr val="A4A3A4"/>
          </p15:clr>
        </p15:guide>
        <p15:guide id="9" orient="horz" pos="2496" userDrawn="1">
          <p15:clr>
            <a:srgbClr val="A4A3A4"/>
          </p15:clr>
        </p15:guide>
        <p15:guide id="10" orient="horz" pos="3184" userDrawn="1">
          <p15:clr>
            <a:srgbClr val="A4A3A4"/>
          </p15:clr>
        </p15:guide>
        <p15:guide id="11" orient="horz" pos="576" userDrawn="1">
          <p15:clr>
            <a:srgbClr val="A4A3A4"/>
          </p15:clr>
        </p15:guide>
        <p15:guide id="12" orient="horz" pos="816" userDrawn="1">
          <p15:clr>
            <a:srgbClr val="A4A3A4"/>
          </p15:clr>
        </p15:guide>
        <p15:guide id="15" pos="2688" userDrawn="1">
          <p15:clr>
            <a:srgbClr val="A4A3A4"/>
          </p15:clr>
        </p15:guide>
        <p15:guide id="16" pos="5888" userDrawn="1">
          <p15:clr>
            <a:srgbClr val="A4A3A4"/>
          </p15:clr>
        </p15:guide>
        <p15:guide id="17" pos="2880" userDrawn="1">
          <p15:clr>
            <a:srgbClr val="A4A3A4"/>
          </p15:clr>
        </p15:guide>
        <p15:guide id="18" pos="256" userDrawn="1">
          <p15:clr>
            <a:srgbClr val="A4A3A4"/>
          </p15:clr>
        </p15:guide>
        <p15:guide id="19" pos="896" userDrawn="1">
          <p15:clr>
            <a:srgbClr val="A4A3A4"/>
          </p15:clr>
        </p15:guide>
        <p15:guide id="20" orient="horz" pos="4016" userDrawn="1">
          <p15:clr>
            <a:srgbClr val="A4A3A4"/>
          </p15:clr>
        </p15:guide>
        <p15:guide id="21" orient="horz" pos="2352" userDrawn="1">
          <p15:clr>
            <a:srgbClr val="A4A3A4"/>
          </p15:clr>
        </p15:guide>
        <p15:guide id="22" orient="horz" pos="16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7DC"/>
    <a:srgbClr val="92D050"/>
    <a:srgbClr val="ED1D26"/>
    <a:srgbClr val="E7DCDB"/>
    <a:srgbClr val="FFF8E7"/>
    <a:srgbClr val="D9D9D9"/>
    <a:srgbClr val="D2CFD5"/>
    <a:srgbClr val="64D7D7"/>
    <a:srgbClr val="00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79064" autoAdjust="0"/>
  </p:normalViewPr>
  <p:slideViewPr>
    <p:cSldViewPr snapToObjects="1" showGuides="1">
      <p:cViewPr varScale="1">
        <p:scale>
          <a:sx n="88" d="100"/>
          <a:sy n="88" d="100"/>
        </p:scale>
        <p:origin x="76" y="56"/>
      </p:cViewPr>
      <p:guideLst>
        <p:guide orient="horz" pos="3056"/>
        <p:guide orient="horz" pos="4080"/>
        <p:guide pos="3712"/>
        <p:guide pos="7488"/>
        <p:guide pos="7424"/>
        <p:guide pos="4224"/>
        <p:guide pos="3520"/>
        <p:guide orient="horz" pos="2496"/>
        <p:guide orient="horz" pos="3184"/>
        <p:guide orient="horz" pos="576"/>
        <p:guide orient="horz" pos="816"/>
        <p:guide pos="2688"/>
        <p:guide pos="5888"/>
        <p:guide pos="2880"/>
        <p:guide pos="256"/>
        <p:guide pos="896"/>
        <p:guide orient="horz" pos="4016"/>
        <p:guide orient="horz" pos="2352"/>
        <p:guide orient="horz" pos="16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9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306737" cy="720603"/>
          </a:xfrm>
          <a:prstGeom prst="rect">
            <a:avLst/>
          </a:prstGeom>
        </p:spPr>
        <p:txBody>
          <a:bodyPr vert="horz" lIns="132725" tIns="66363" rIns="132725" bIns="66363" rtlCol="0"/>
          <a:lstStyle>
            <a:lvl1pPr algn="l">
              <a:defRPr sz="17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30284" y="1"/>
            <a:ext cx="4306737" cy="720603"/>
          </a:xfrm>
          <a:prstGeom prst="rect">
            <a:avLst/>
          </a:prstGeom>
        </p:spPr>
        <p:txBody>
          <a:bodyPr vert="horz" lIns="132725" tIns="66363" rIns="132725" bIns="66363" rtlCol="0"/>
          <a:lstStyle>
            <a:lvl1pPr algn="r">
              <a:defRPr sz="1700"/>
            </a:lvl1pPr>
          </a:lstStyle>
          <a:p>
            <a:fld id="{7899EDEC-1969-4ACD-9635-2F969C59571F}" type="datetimeFigureOut">
              <a:rPr lang="zh-TW" altLang="en-US" smtClean="0"/>
              <a:t>2026/8/21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13647861"/>
            <a:ext cx="4306737" cy="720603"/>
          </a:xfrm>
          <a:prstGeom prst="rect">
            <a:avLst/>
          </a:prstGeom>
        </p:spPr>
        <p:txBody>
          <a:bodyPr vert="horz" lIns="132725" tIns="66363" rIns="132725" bIns="66363" rtlCol="0" anchor="b"/>
          <a:lstStyle>
            <a:lvl1pPr algn="l">
              <a:defRPr sz="17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30284" y="13647861"/>
            <a:ext cx="4306737" cy="720603"/>
          </a:xfrm>
          <a:prstGeom prst="rect">
            <a:avLst/>
          </a:prstGeom>
        </p:spPr>
        <p:txBody>
          <a:bodyPr vert="horz" lIns="132725" tIns="66363" rIns="132725" bIns="66363" rtlCol="0" anchor="b"/>
          <a:lstStyle>
            <a:lvl1pPr algn="r">
              <a:defRPr sz="1700"/>
            </a:lvl1pPr>
          </a:lstStyle>
          <a:p>
            <a:fld id="{648322D3-8BFE-43F1-88ED-897CD151B3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94164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4307342" cy="717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3162" tIns="66580" rIns="133162" bIns="66580" numCol="1" anchor="t" anchorCtr="0" compatLnSpc="1">
            <a:prstTxWarp prst="textNoShape">
              <a:avLst/>
            </a:prstTxWarp>
          </a:bodyPr>
          <a:lstStyle>
            <a:lvl1pPr defTabSz="1331086">
              <a:defRPr sz="17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9776" y="0"/>
            <a:ext cx="4307342" cy="717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3162" tIns="66580" rIns="133162" bIns="66580" numCol="1" anchor="t" anchorCtr="0" compatLnSpc="1">
            <a:prstTxWarp prst="textNoShape">
              <a:avLst/>
            </a:prstTxWarp>
          </a:bodyPr>
          <a:lstStyle>
            <a:lvl1pPr algn="r" defTabSz="1331086">
              <a:defRPr sz="17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09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80975" y="1076325"/>
            <a:ext cx="9577388" cy="5387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06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3490" y="6824296"/>
            <a:ext cx="7952360" cy="6467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3162" tIns="66580" rIns="133162" bIns="66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3706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13648591"/>
            <a:ext cx="4307342" cy="717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3162" tIns="66580" rIns="133162" bIns="66580" numCol="1" anchor="b" anchorCtr="0" compatLnSpc="1">
            <a:prstTxWarp prst="textNoShape">
              <a:avLst/>
            </a:prstTxWarp>
          </a:bodyPr>
          <a:lstStyle>
            <a:lvl1pPr defTabSz="1331086">
              <a:defRPr sz="17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06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9776" y="13648591"/>
            <a:ext cx="4307342" cy="717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3162" tIns="66580" rIns="133162" bIns="66580" numCol="1" anchor="b" anchorCtr="0" compatLnSpc="1">
            <a:prstTxWarp prst="textNoShape">
              <a:avLst/>
            </a:prstTxWarp>
          </a:bodyPr>
          <a:lstStyle>
            <a:lvl1pPr algn="r" defTabSz="1331086">
              <a:defRPr sz="1700"/>
            </a:lvl1pPr>
          </a:lstStyle>
          <a:p>
            <a:pPr>
              <a:defRPr/>
            </a:pPr>
            <a:fld id="{150378E4-2288-4C9C-9C19-0B9BBFDA1B7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77825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8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304671" algn="l" rtl="0" eaLnBrk="0" fontAlgn="base" hangingPunct="0">
      <a:spcBef>
        <a:spcPct val="30000"/>
      </a:spcBef>
      <a:spcAft>
        <a:spcPct val="0"/>
      </a:spcAft>
      <a:defRPr kumimoji="1" sz="8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609341" algn="l" rtl="0" eaLnBrk="0" fontAlgn="base" hangingPunct="0">
      <a:spcBef>
        <a:spcPct val="30000"/>
      </a:spcBef>
      <a:spcAft>
        <a:spcPct val="0"/>
      </a:spcAft>
      <a:defRPr kumimoji="1" sz="8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914012" algn="l" rtl="0" eaLnBrk="0" fontAlgn="base" hangingPunct="0">
      <a:spcBef>
        <a:spcPct val="30000"/>
      </a:spcBef>
      <a:spcAft>
        <a:spcPct val="0"/>
      </a:spcAft>
      <a:defRPr kumimoji="1" sz="8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218682" algn="l" rtl="0" eaLnBrk="0" fontAlgn="base" hangingPunct="0">
      <a:spcBef>
        <a:spcPct val="30000"/>
      </a:spcBef>
      <a:spcAft>
        <a:spcPct val="0"/>
      </a:spcAft>
      <a:defRPr kumimoji="1" sz="8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1523353" algn="l" defTabSz="609341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28022" algn="l" defTabSz="609341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132693" algn="l" defTabSz="609341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437363" algn="l" defTabSz="609341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這是下半年的時程規劃。先講決策：我們取消了原本的「充電樁推薦」跟「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Relay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切換最小化」這兩項，把下半年全部資源集中在三個新需求上，目標是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Q4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如期交付。</a:t>
            </a:r>
          </a:p>
          <a:p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上半年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Q1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、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Q2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都已經如期完成。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Q3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我們會先跟生產單位確認規格，然後同步推進兩個需求的設計、實作跟驗證。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Q4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則是進行第三個、也是難度最高的需求，這個需求會建立在前兩個的基礎上，同時也是整個下半年的主線任務，我們把整個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Q4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都留給它，確保有足夠的時間做完整驗證，最後再做專案總結跟技術交接。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378E4-2288-4C9C-9C19-0B9BBFDA1B73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72356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這頁講「來車建議充電樁」。先把定義講清楚：在車還沒到之前，針對每一支空閒的充電槍先做模擬、建議那哪一支槍是最佳位置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?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。</a:t>
            </a:r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那麼，什麼叫「最佳」要講清楚。不能只講「這支槍自己充最快」，因為那對站上其他車的影響可能很大。所以要有兩個目標：第一，</a:t>
            </a:r>
            <a:r>
              <a:rPr lang="zh-TW" altLang="en-US" sz="800" b="1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引發</a:t>
            </a:r>
            <a:r>
              <a:rPr lang="en-US" altLang="zh-TW" sz="800" b="1" dirty="0" err="1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其他車輛</a:t>
            </a:r>
            <a:r>
              <a:rPr lang="zh-TW" altLang="en-US" sz="800" b="1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還電功率最小化</a:t>
            </a:r>
            <a:endParaRPr lang="en-US" altLang="zh-TW" sz="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；第二，</a:t>
            </a:r>
            <a:r>
              <a:rPr lang="en-US" altLang="zh-TW" sz="800" b="1" dirty="0" err="1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該槍自身充電</a:t>
            </a:r>
            <a:r>
              <a:rPr lang="zh-TW" altLang="en-US" sz="800" b="1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可得功率</a:t>
            </a:r>
            <a:r>
              <a:rPr lang="en-US" altLang="zh-TW" sz="800" b="1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</a:t>
            </a:r>
            <a:r>
              <a:rPr lang="zh-TW" altLang="en-US" sz="800" b="1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。這兩個目標之間的權重怎麼取捨，坦白說我們還需要再想。</a:t>
            </a:r>
          </a:p>
          <a:p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最後區分已完成跟未完成：插槍瞬間的還電判斷、充電模組最佳配置，這些算是已完成的基礎；但「來車之前對所有空閒槍逐一模擬、比較優劣」這件事，目前還沒做。所以定位是：計算基礎有了，但事前模擬比較、以及「最佳」的明確定義，都還是待完成項目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378E4-2288-4C9C-9C19-0B9BBFDA1B73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512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第二個是「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Relay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切換最小化」。這裡我要更正措辭，避免誤會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——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這不是我們優化得不好、或不想做，而是「需求本身」決定的限制。</a:t>
            </a:r>
          </a:p>
          <a:p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由於專案剛開始的需求是「漸進式借還電」，也就是一次借一個模組。在這個需求之下，切換的路徑是被需求本身固定死的，所以根本沒有優化空間可言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——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這是設計上就如此，不是能力問題。要等到未來需求如果改成「貪婪式、一次借多個模組」，那時候才會真正出現切換的優化空間，才有「減少切換」這件事好談。</a:t>
            </a:r>
          </a:p>
          <a:p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另外講一下硬體切換安全的職責邊界：我們的演算法只負責告訴硬體「下一步應該變成什麼狀態」；實際切換過程符不符合電氣安全規範，是另一顆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MCU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硬體層的責任，不是演算法的範疇。不過要真正整合，雙方的介面跟互動測試還需要另外討論，目前還沒開始。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378E4-2288-4C9C-9C19-0B9BBFDA1B73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6195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EB38B-DD78-ADAA-DBF8-E785DD0D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08D7E63-87D8-BB57-0CDD-31AF21066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786BC54-0F50-160A-B5FC-E8E7D6D8E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這頁是借電的決策模型，兩個關鍵條件。</a:t>
            </a:r>
          </a:p>
          <a:p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借入的觸發：當車輛請求用電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(Present)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大於或等於充電椿供給上限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(Available)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的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95%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，而且持續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N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個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step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，才發起借電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——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加持續條件，是為了避免瞬時尖峰造成誤觸發。出借的條件：出借方要在釋放掉二組功率模組之後、餘裕仍然足夠，也就是低於九成，才允許借出，這是為了保護出借方自己正在充電的車。</a:t>
            </a:r>
          </a:p>
          <a:p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這裡想特別跟院長點一個設計：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0.95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跟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0.9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這兩個係數是刻意分開的，形成一個遲滯區間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(hysteresis)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，避免系統在臨界點反覆震盪切換。右邊三條規則：最小借出單位固定兩個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Group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、對方全閒時一次全拿以減少切換、以及被動式調整。這兩個係數我們實作成可調變數，方便未來針對不同站點調校。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662A2A-56B6-C47C-3F17-D8CB18DBB4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378E4-2288-4C9C-9C19-0B9BBFDA1B73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36280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SMR Group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可變量設計是需求單位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BU Head – Kelly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目前最在意的部分，目的是讓演算法脫離特定硬體規格。</a:t>
            </a:r>
          </a:p>
          <a:p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左邊是初始化流程：開機時先讀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Config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設定檔，裡面有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SMR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單位容量、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SMR Group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的數量、充電槍數、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REC BD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數量；然後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SystemTopology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這個模組會依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Config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長出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runtime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的拓撲，一次建立、之後凍結不變；演算法就基於這個長出來的拓撲去運算。</a:t>
            </a:r>
          </a:p>
          <a:p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右邊三個設計原則是關鍵：第一，一律以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Group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數量為判斷單位，不去硬編碼像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125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千瓦這種功率字面值；第二，模組容量可變，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50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、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75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千瓦不同組合都不影響邏輯；第三，係數可調。這樣做的結果是：同一套演算法核心，可以涵蓋未來多種硬體組態，這才是真正可移植的模組。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378E4-2288-4C9C-9C19-0B9BBFDA1B73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2693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這頁是這次會議一個關鍵的架構共識。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Eddie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團隊希望把我們的演算法當作一個「函式庫」來用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——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他們只需要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API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、資料結構、使用說明，不需要理解內部實作。</a:t>
            </a:r>
          </a:p>
          <a:p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我提的三層解耦架構剛好跟他們一致：最底層是貪婪演算法核心，先完成凍結；中間是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SystemTopology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模組，負責可變參數；上層是拓撲套用層。</a:t>
            </a:r>
          </a:p>
          <a:p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這個決策的策略價值在於：演算法變成一個可以跨產品線複用的核心資產，而且未來可以整包移植到對方的控制器韌體、也就是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C firmware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378E4-2288-4C9C-9C19-0B9BBFDA1B73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5102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這頁我要提出時程上的風險。如果我們要在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12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月就完成「跟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EIBG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MCU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的實際整合」，時程恐怕不夠。原因是：介面規格、實際的硬體限制、通訊協定這些細節，目前雙方都還沒開始討論。</a:t>
            </a:r>
          </a:p>
          <a:p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這裡有個關鍵背景要讓院長知道：這個「實機整合」其實是二週前才新增的期待，不在我們規劃下半年目標的範圍裡。</a:t>
            </a:r>
          </a:p>
          <a:p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所以我的建議有三點：第一，這件事至少預留三個月的緩衝；第二，盡早跟需求單位溝通這個風險，不要等到後段才講；第三，我們要明確告訴 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EIBG —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目前的定位還是「模擬層級」，不是直接落地的硬體控制。這樣預期管理才不會出問題。</a:t>
            </a:r>
          </a:p>
          <a:p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378E4-2288-4C9C-9C19-0B9BBFDA1B73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93318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時程分三階段：演算法凍結、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SMR 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可變量、實機對接。協作方式上，一日參訪口頭知會就好，長期駐點要正式通知信。年底前，我們可以完成核心開發跟模擬驗證；至於實機整合的時程，就照剛剛風險頁講的，要看介面規格討論的進度。</a:t>
            </a:r>
          </a:p>
          <a:p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結論三點：第一，需求已對齊，規格凍結、既有產品零改動。第二，資產化交付，這套演算法封裝成可長期複用的核心資產。第三，定位透明</a:t>
            </a:r>
            <a:r>
              <a:rPr kumimoji="1" lang="en-US" altLang="zh-TW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—</a:t>
            </a:r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現階段是模擬層級，實機整合還要看介面討論。</a:t>
            </a:r>
          </a:p>
          <a:p>
            <a:b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</a:br>
            <a:endParaRPr kumimoji="1" lang="zh-TW" altLang="en-US" sz="800" b="0" kern="1200" dirty="0"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+mn-cs"/>
            </a:endParaRPr>
          </a:p>
          <a:p>
            <a:r>
              <a:rPr kumimoji="1" lang="zh-TW" altLang="en-US" sz="800" b="0" kern="1200" dirty="0"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+mn-cs"/>
              </a:rPr>
              <a:t>後續需要院長支持的是：實機整合階段我會赴現場協作，屆時差旅跟正式通知，再請院長支持。以上，謝謝院長。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378E4-2288-4C9C-9C19-0B9BBFDA1B73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86206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Title Goes Here (28-32pt)</a:t>
            </a:r>
            <a:endParaRPr 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 userDrawn="1"/>
        </p:nvSpPr>
        <p:spPr>
          <a:xfrm>
            <a:off x="482266" y="6528265"/>
            <a:ext cx="8579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91775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84B288-D41F-4145-A1C0-E0281E1E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40356"/>
            <a:ext cx="11379200" cy="67939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altLang="zh-TW" dirty="0"/>
              <a:t>Page Title Goes Here (32pt)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BE7FFB-6DD4-4C49-91B1-9DC75DF6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170462"/>
            <a:ext cx="11379200" cy="466963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altLang="zh-TW" dirty="0"/>
              <a:t>Content goes here (24pt)</a:t>
            </a:r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BD7ECA-A67F-4BFF-9619-0DDD6E5A9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176267"/>
            <a:ext cx="2743200" cy="422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MM/DD/YYYY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9C03B7-7699-4072-AC6D-A339A44A7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611" y="6191967"/>
            <a:ext cx="4114800" cy="437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u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Name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C81264-E3A8-4919-AA46-612C30BB1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2" y="6191968"/>
            <a:ext cx="401121" cy="422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1BD21A8-5E88-4AE4-993C-2D76760CAD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442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800" r:id="rId1"/>
  </p:sldLayoutIdLst>
  <p:hf hdr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AF9D14-9F0B-43F9-56DD-BA616782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DeltaSans" panose="020B0502030000000004" pitchFamily="34" charset="0"/>
              </a:rPr>
              <a:t>2026</a:t>
            </a:r>
            <a:r>
              <a:rPr lang="zh-TW" altLang="en-US" dirty="0">
                <a:latin typeface="DeltaSans" panose="020B0502030000000004" pitchFamily="34" charset="0"/>
              </a:rPr>
              <a:t>下半年路線圖</a:t>
            </a:r>
            <a:endParaRPr lang="zh-TW" alt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8C167AB3-5575-A635-1D35-7680D7C9B8D2}"/>
              </a:ext>
            </a:extLst>
          </p:cNvPr>
          <p:cNvSpPr/>
          <p:nvPr/>
        </p:nvSpPr>
        <p:spPr>
          <a:xfrm>
            <a:off x="502920" y="1280160"/>
            <a:ext cx="1124712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A6F20A9-83ED-3B00-D4B0-D0B777D2A4E7}"/>
              </a:ext>
            </a:extLst>
          </p:cNvPr>
          <p:cNvSpPr txBox="1"/>
          <p:nvPr/>
        </p:nvSpPr>
        <p:spPr>
          <a:xfrm>
            <a:off x="424053" y="1024128"/>
            <a:ext cx="11338560" cy="24878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取消充電樁推薦與</a:t>
            </a:r>
            <a:r>
              <a:rPr sz="1450" b="0" i="0" dirty="0">
                <a:solidFill>
                  <a:srgbClr val="7F7F7F"/>
                </a:solidFill>
                <a:latin typeface="Calibri"/>
                <a:ea typeface="Microsoft JhengHei"/>
              </a:rPr>
              <a:t> Relay 切換最小化；H2 </a:t>
            </a:r>
            <a:r>
              <a:rPr sz="14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聚焦</a:t>
            </a:r>
            <a:r>
              <a:rPr lang="zh-TW" altLang="en-US" sz="1450" b="0" i="0" dirty="0">
                <a:solidFill>
                  <a:srgbClr val="7F7F7F"/>
                </a:solidFill>
                <a:latin typeface="Calibri"/>
                <a:ea typeface="Microsoft JhengHei"/>
              </a:rPr>
              <a:t>貪婪借電</a:t>
            </a:r>
            <a:r>
              <a:rPr sz="14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演算法</a:t>
            </a:r>
            <a:r>
              <a:rPr lang="zh-TW" altLang="en-US" sz="1450" b="0" i="0" dirty="0">
                <a:solidFill>
                  <a:srgbClr val="7F7F7F"/>
                </a:solidFill>
                <a:latin typeface="Calibri"/>
                <a:ea typeface="Microsoft JhengHei"/>
              </a:rPr>
              <a:t>等</a:t>
            </a:r>
            <a:r>
              <a:rPr sz="14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三項需求，如期於</a:t>
            </a:r>
            <a:r>
              <a:rPr sz="1450" b="0" i="0" dirty="0">
                <a:solidFill>
                  <a:srgbClr val="7F7F7F"/>
                </a:solidFill>
                <a:latin typeface="Calibri"/>
                <a:ea typeface="Microsoft JhengHei"/>
              </a:rPr>
              <a:t> 2026 Q4 </a:t>
            </a:r>
            <a:r>
              <a:rPr sz="14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交付</a:t>
            </a:r>
            <a:endParaRPr sz="1450" b="0" i="0" dirty="0">
              <a:solidFill>
                <a:srgbClr val="7F7F7F"/>
              </a:solidFill>
              <a:latin typeface="Calibri"/>
              <a:ea typeface="Microsoft JhengHei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38EC322-1ACE-128C-0C31-0774362BB173}"/>
              </a:ext>
            </a:extLst>
          </p:cNvPr>
          <p:cNvSpPr/>
          <p:nvPr/>
        </p:nvSpPr>
        <p:spPr>
          <a:xfrm>
            <a:off x="411480" y="1298448"/>
            <a:ext cx="11356467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D57A3744-FBAE-258D-369D-14D1D6C2D98C}"/>
              </a:ext>
            </a:extLst>
          </p:cNvPr>
          <p:cNvSpPr txBox="1"/>
          <p:nvPr/>
        </p:nvSpPr>
        <p:spPr>
          <a:xfrm>
            <a:off x="411480" y="1298448"/>
            <a:ext cx="11356467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icrosoft JhengHei"/>
              </a:rPr>
              <a:t>2026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F29B104-F2A1-69A8-BEDB-FF20934D7537}"/>
              </a:ext>
            </a:extLst>
          </p:cNvPr>
          <p:cNvSpPr/>
          <p:nvPr/>
        </p:nvSpPr>
        <p:spPr>
          <a:xfrm>
            <a:off x="411480" y="1627632"/>
            <a:ext cx="2831973" cy="420624"/>
          </a:xfrm>
          <a:prstGeom prst="rect">
            <a:avLst/>
          </a:prstGeom>
          <a:solidFill>
            <a:srgbClr val="9A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86B7A78-A861-BF3F-E237-3FAFCB776315}"/>
              </a:ext>
            </a:extLst>
          </p:cNvPr>
          <p:cNvSpPr txBox="1"/>
          <p:nvPr/>
        </p:nvSpPr>
        <p:spPr>
          <a:xfrm>
            <a:off x="411480" y="1627632"/>
            <a:ext cx="2831973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  <a:ea typeface="Microsoft JhengHei"/>
              </a:rPr>
              <a:t>2026 Q1　✓ 已完成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B84F03E3-4050-9416-C066-3F58507B9B30}"/>
              </a:ext>
            </a:extLst>
          </p:cNvPr>
          <p:cNvSpPr/>
          <p:nvPr/>
        </p:nvSpPr>
        <p:spPr>
          <a:xfrm>
            <a:off x="411480" y="2084831"/>
            <a:ext cx="2831973" cy="2651761"/>
          </a:xfrm>
          <a:prstGeom prst="rect">
            <a:avLst/>
          </a:prstGeom>
          <a:solidFill>
            <a:srgbClr val="F6F8FC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3E118BD5-15AA-9F7C-9060-EB51AD5B0D3D}"/>
              </a:ext>
            </a:extLst>
          </p:cNvPr>
          <p:cNvSpPr txBox="1"/>
          <p:nvPr/>
        </p:nvSpPr>
        <p:spPr>
          <a:xfrm>
            <a:off x="466344" y="2157983"/>
            <a:ext cx="2722245" cy="250545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• Timing Diagram </a:t>
            </a:r>
            <a:r>
              <a:rPr sz="1050" b="0" i="0" dirty="0" err="1">
                <a:solidFill>
                  <a:srgbClr val="9AA3B0"/>
                </a:solidFill>
                <a:latin typeface="Calibri"/>
                <a:ea typeface="Microsoft JhengHei"/>
              </a:rPr>
              <a:t>架構設計與繪圖模組</a:t>
            </a:r>
            <a:endParaRPr sz="1050" b="0" i="0" dirty="0">
              <a:solidFill>
                <a:srgbClr val="9AA3B0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• </a:t>
            </a:r>
            <a:r>
              <a:rPr sz="1050" b="0" i="0" dirty="0" err="1">
                <a:solidFill>
                  <a:srgbClr val="9AA3B0"/>
                </a:solidFill>
                <a:latin typeface="Calibri"/>
                <a:ea typeface="Microsoft JhengHei"/>
              </a:rPr>
              <a:t>來車</a:t>
            </a: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 SOC / </a:t>
            </a:r>
            <a:r>
              <a:rPr sz="1050" b="0" i="0" dirty="0" err="1">
                <a:solidFill>
                  <a:srgbClr val="9AA3B0"/>
                </a:solidFill>
                <a:latin typeface="Calibri"/>
                <a:ea typeface="Microsoft JhengHei"/>
              </a:rPr>
              <a:t>充電量</a:t>
            </a: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 / </a:t>
            </a:r>
            <a:r>
              <a:rPr sz="1050" b="0" i="0" dirty="0" err="1">
                <a:solidFill>
                  <a:srgbClr val="9AA3B0"/>
                </a:solidFill>
                <a:latin typeface="Calibri"/>
                <a:ea typeface="Microsoft JhengHei"/>
              </a:rPr>
              <a:t>密集率</a:t>
            </a: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 </a:t>
            </a:r>
            <a:r>
              <a:rPr sz="1050" b="0" i="0" dirty="0" err="1">
                <a:solidFill>
                  <a:srgbClr val="9AA3B0"/>
                </a:solidFill>
                <a:latin typeface="Calibri"/>
                <a:ea typeface="Microsoft JhengHei"/>
              </a:rPr>
              <a:t>測試參數與模擬系統</a:t>
            </a:r>
            <a:endParaRPr sz="1050" b="0" i="0" dirty="0">
              <a:solidFill>
                <a:srgbClr val="9AA3B0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• </a:t>
            </a:r>
            <a:r>
              <a:rPr sz="1050" b="0" i="0" dirty="0" err="1">
                <a:solidFill>
                  <a:srgbClr val="9AA3B0"/>
                </a:solidFill>
                <a:latin typeface="Calibri"/>
                <a:ea typeface="Microsoft JhengHei"/>
              </a:rPr>
              <a:t>隨機測試案例產生器</a:t>
            </a:r>
            <a:endParaRPr sz="1050" b="0" i="0" dirty="0">
              <a:solidFill>
                <a:srgbClr val="9AA3B0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• </a:t>
            </a:r>
            <a:r>
              <a:rPr sz="1050" b="0" i="0" dirty="0" err="1">
                <a:solidFill>
                  <a:srgbClr val="9AA3B0"/>
                </a:solidFill>
                <a:latin typeface="Calibri"/>
                <a:ea typeface="Microsoft JhengHei"/>
              </a:rPr>
              <a:t>模擬引擎驗證與技術文件</a:t>
            </a:r>
            <a:endParaRPr sz="1050" b="0" i="0" dirty="0">
              <a:solidFill>
                <a:srgbClr val="9AA3B0"/>
              </a:solidFill>
              <a:latin typeface="Calibri"/>
              <a:ea typeface="Microsoft JhengHei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D7C5097-5C02-2F25-A5DD-40712341B994}"/>
              </a:ext>
            </a:extLst>
          </p:cNvPr>
          <p:cNvSpPr/>
          <p:nvPr/>
        </p:nvSpPr>
        <p:spPr>
          <a:xfrm>
            <a:off x="3252978" y="1627632"/>
            <a:ext cx="2831973" cy="420624"/>
          </a:xfrm>
          <a:prstGeom prst="rect">
            <a:avLst/>
          </a:prstGeom>
          <a:solidFill>
            <a:srgbClr val="9A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7B8E527B-0C59-D8FE-5D83-F4E9AEB19A7D}"/>
              </a:ext>
            </a:extLst>
          </p:cNvPr>
          <p:cNvSpPr txBox="1"/>
          <p:nvPr/>
        </p:nvSpPr>
        <p:spPr>
          <a:xfrm>
            <a:off x="3252978" y="1627632"/>
            <a:ext cx="2831973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  <a:ea typeface="Microsoft JhengHei"/>
              </a:rPr>
              <a:t>2026 Q2　✓ 已完成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017B1E8A-A9A1-B3C6-8C83-5554311D4395}"/>
              </a:ext>
            </a:extLst>
          </p:cNvPr>
          <p:cNvSpPr/>
          <p:nvPr/>
        </p:nvSpPr>
        <p:spPr>
          <a:xfrm>
            <a:off x="3252978" y="2084831"/>
            <a:ext cx="2831973" cy="2651761"/>
          </a:xfrm>
          <a:prstGeom prst="rect">
            <a:avLst/>
          </a:prstGeom>
          <a:solidFill>
            <a:srgbClr val="F6F8FC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037A6304-687D-DCE7-ADD1-64B50DE95563}"/>
              </a:ext>
            </a:extLst>
          </p:cNvPr>
          <p:cNvSpPr txBox="1"/>
          <p:nvPr/>
        </p:nvSpPr>
        <p:spPr>
          <a:xfrm>
            <a:off x="3307842" y="2157983"/>
            <a:ext cx="2722245" cy="75514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• C </a:t>
            </a:r>
            <a:r>
              <a:rPr sz="1050" b="0" i="0" dirty="0" err="1">
                <a:solidFill>
                  <a:srgbClr val="9AA3B0"/>
                </a:solidFill>
                <a:latin typeface="Calibri"/>
                <a:ea typeface="Microsoft JhengHei"/>
              </a:rPr>
              <a:t>語言演算法實現</a:t>
            </a:r>
            <a:endParaRPr sz="1050" b="0" i="0" strike="sngStrike" dirty="0">
              <a:solidFill>
                <a:srgbClr val="9AA3B0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• Relay </a:t>
            </a:r>
            <a:r>
              <a:rPr sz="1050" b="0" i="0" dirty="0" err="1">
                <a:solidFill>
                  <a:srgbClr val="9AA3B0"/>
                </a:solidFill>
                <a:latin typeface="Calibri"/>
                <a:ea typeface="Microsoft JhengHei"/>
              </a:rPr>
              <a:t>切換量測與統計機制</a:t>
            </a:r>
            <a:endParaRPr sz="1050" b="0" i="0" dirty="0">
              <a:solidFill>
                <a:srgbClr val="9AA3B0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• </a:t>
            </a:r>
            <a:r>
              <a:rPr sz="1050" b="0" i="0" dirty="0" err="1">
                <a:solidFill>
                  <a:srgbClr val="9AA3B0"/>
                </a:solidFill>
                <a:latin typeface="Calibri"/>
                <a:ea typeface="Microsoft JhengHei"/>
              </a:rPr>
              <a:t>切換成本函數整合（EVCS</a:t>
            </a: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 </a:t>
            </a:r>
            <a:r>
              <a:rPr sz="1050" b="0" i="0" dirty="0" err="1">
                <a:solidFill>
                  <a:srgbClr val="9AA3B0"/>
                </a:solidFill>
                <a:latin typeface="Calibri"/>
                <a:ea typeface="Microsoft JhengHei"/>
              </a:rPr>
              <a:t>Optima，保留為基線</a:t>
            </a: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）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E1790CC8-AB16-9DE9-BF50-16D22CA21B99}"/>
              </a:ext>
            </a:extLst>
          </p:cNvPr>
          <p:cNvSpPr/>
          <p:nvPr/>
        </p:nvSpPr>
        <p:spPr>
          <a:xfrm>
            <a:off x="6094476" y="1627632"/>
            <a:ext cx="2831973" cy="4206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BB33C892-F8A8-0D5A-1D16-7937C411E3A8}"/>
              </a:ext>
            </a:extLst>
          </p:cNvPr>
          <p:cNvSpPr txBox="1"/>
          <p:nvPr/>
        </p:nvSpPr>
        <p:spPr>
          <a:xfrm>
            <a:off x="6094476" y="1627632"/>
            <a:ext cx="2831973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icrosoft JhengHei"/>
              </a:rPr>
              <a:t>2026 Q3</a:t>
            </a: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12339706-843A-90A7-E16C-CD1874D323EB}"/>
              </a:ext>
            </a:extLst>
          </p:cNvPr>
          <p:cNvSpPr/>
          <p:nvPr/>
        </p:nvSpPr>
        <p:spPr>
          <a:xfrm>
            <a:off x="6094476" y="2084831"/>
            <a:ext cx="2831973" cy="2651761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716898F1-11DB-69CD-52C2-035BB91E152F}"/>
              </a:ext>
            </a:extLst>
          </p:cNvPr>
          <p:cNvSpPr txBox="1"/>
          <p:nvPr/>
        </p:nvSpPr>
        <p:spPr>
          <a:xfrm>
            <a:off x="6149340" y="2157983"/>
            <a:ext cx="2722245" cy="112319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•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確認生產單位規格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（</a:t>
            </a:r>
            <a:r>
              <a:rPr lang="zh-TW" alt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貪婪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借電演算法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▶ 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需求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 </a:t>
            </a:r>
            <a:r>
              <a:rPr lang="en-US"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1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 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貪婪借電</a:t>
            </a:r>
            <a:r>
              <a:rPr lang="zh-TW" altLang="en-US"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演算法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：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設計、實作、模擬驗證</a:t>
            </a:r>
            <a:endParaRPr sz="1050" b="1" i="0" dirty="0">
              <a:solidFill>
                <a:srgbClr val="C55A11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▶ 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需求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 2 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可變</a:t>
            </a:r>
            <a:r>
              <a:rPr lang="zh-TW" altLang="en-US"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量 </a:t>
            </a:r>
            <a:r>
              <a:rPr lang="en-US" altLang="zh-TW"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SMR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 Group 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數：設計、實作、動態配置驗證</a:t>
            </a:r>
            <a:endParaRPr sz="1050" b="1" i="0" dirty="0">
              <a:solidFill>
                <a:srgbClr val="C55A11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•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沿用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Q1/Q2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模擬引擎與測試框架驗證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79EAE842-D891-6E5D-7A65-354391A8EFB3}"/>
              </a:ext>
            </a:extLst>
          </p:cNvPr>
          <p:cNvSpPr/>
          <p:nvPr/>
        </p:nvSpPr>
        <p:spPr>
          <a:xfrm>
            <a:off x="8935974" y="1627632"/>
            <a:ext cx="2831973" cy="4206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5F515CA0-2A0E-F444-7E34-1841BD77210F}"/>
              </a:ext>
            </a:extLst>
          </p:cNvPr>
          <p:cNvSpPr txBox="1"/>
          <p:nvPr/>
        </p:nvSpPr>
        <p:spPr>
          <a:xfrm>
            <a:off x="8935974" y="1627632"/>
            <a:ext cx="2831973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icrosoft JhengHei"/>
              </a:rPr>
              <a:t>2026 Q4</a:t>
            </a:r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66481333-1AA7-976C-40DD-3468B6572F53}"/>
              </a:ext>
            </a:extLst>
          </p:cNvPr>
          <p:cNvSpPr/>
          <p:nvPr/>
        </p:nvSpPr>
        <p:spPr>
          <a:xfrm>
            <a:off x="8935974" y="2084831"/>
            <a:ext cx="2831973" cy="2651761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3FA2F6E8-4682-10E9-B53F-28B09AF2789F}"/>
              </a:ext>
            </a:extLst>
          </p:cNvPr>
          <p:cNvSpPr txBox="1"/>
          <p:nvPr/>
        </p:nvSpPr>
        <p:spPr>
          <a:xfrm>
            <a:off x="8990838" y="2157983"/>
            <a:ext cx="2722245" cy="9584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▶ 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需求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 </a:t>
            </a:r>
            <a:r>
              <a:rPr lang="en-US"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3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 N 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階借電：多階借電路徑設計（依賴需求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 </a:t>
            </a:r>
            <a:r>
              <a:rPr lang="en-US" sz="1050" b="1" dirty="0">
                <a:solidFill>
                  <a:srgbClr val="C55A11"/>
                </a:solidFill>
                <a:latin typeface="Calibri"/>
                <a:ea typeface="Microsoft JhengHei"/>
              </a:rPr>
              <a:t>1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、</a:t>
            </a:r>
            <a:r>
              <a:rPr lang="en-US"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2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•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需求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3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實作與整合、模擬驗證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• </a:t>
            </a:r>
            <a:r>
              <a:rPr lang="zh-TW" alt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貪婪借電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演算法整體驗證與效能測試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•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專案總結、API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規格、系統整合與技術移轉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</p:txBody>
      </p:sp>
      <p:sp>
        <p:nvSpPr>
          <p:cNvPr id="23" name="Rectangle 21">
            <a:extLst>
              <a:ext uri="{FF2B5EF4-FFF2-40B4-BE49-F238E27FC236}">
                <a16:creationId xmlns:a16="http://schemas.microsoft.com/office/drawing/2014/main" id="{BE5786C8-C40D-D01A-487C-90CC5831E551}"/>
              </a:ext>
            </a:extLst>
          </p:cNvPr>
          <p:cNvSpPr/>
          <p:nvPr/>
        </p:nvSpPr>
        <p:spPr>
          <a:xfrm>
            <a:off x="411480" y="4846320"/>
            <a:ext cx="11365992" cy="1481328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6501B6E0-2C0D-F7F7-6B17-F0EB9380DDBA}"/>
              </a:ext>
            </a:extLst>
          </p:cNvPr>
          <p:cNvSpPr txBox="1"/>
          <p:nvPr/>
        </p:nvSpPr>
        <p:spPr>
          <a:xfrm>
            <a:off x="438912" y="4846320"/>
            <a:ext cx="868680" cy="14813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Microsoft JhengHei"/>
              </a:rPr>
              <a:t>產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Microsoft JhengHei"/>
              </a:rPr>
              <a:t>出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B1738615-A4FE-01A9-1833-70B258F018D2}"/>
              </a:ext>
            </a:extLst>
          </p:cNvPr>
          <p:cNvSpPr/>
          <p:nvPr/>
        </p:nvSpPr>
        <p:spPr>
          <a:xfrm>
            <a:off x="1280160" y="4956048"/>
            <a:ext cx="9525" cy="1261872"/>
          </a:xfrm>
          <a:prstGeom prst="rect">
            <a:avLst/>
          </a:prstGeom>
          <a:solidFill>
            <a:srgbClr val="C9C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BE590941-D00A-A8EA-5CF0-1B9B48FF7CBD}"/>
              </a:ext>
            </a:extLst>
          </p:cNvPr>
          <p:cNvSpPr txBox="1"/>
          <p:nvPr/>
        </p:nvSpPr>
        <p:spPr>
          <a:xfrm>
            <a:off x="1417320" y="4937760"/>
            <a:ext cx="2491740" cy="12984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7F7F7F"/>
                </a:solidFill>
                <a:latin typeface="Calibri"/>
                <a:ea typeface="Microsoft JhengHei"/>
              </a:rPr>
              <a:t>[規格] </a:t>
            </a:r>
            <a:r>
              <a:rPr sz="1050" b="0" i="0">
                <a:solidFill>
                  <a:srgbClr val="7F7F7F"/>
                </a:solidFill>
                <a:latin typeface="Calibri"/>
                <a:ea typeface="Microsoft JhengHei"/>
              </a:rPr>
              <a:t>模擬引擎技術規格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7F7F7F"/>
                </a:solidFill>
                <a:latin typeface="Calibri"/>
                <a:ea typeface="Microsoft JhengHei"/>
              </a:rPr>
              <a:t>[設計] </a:t>
            </a:r>
            <a:r>
              <a:rPr sz="1050" b="0" i="0">
                <a:solidFill>
                  <a:srgbClr val="7F7F7F"/>
                </a:solidFill>
                <a:latin typeface="Calibri"/>
                <a:ea typeface="Microsoft JhengHei"/>
              </a:rPr>
              <a:t>Timing Diagram 視覺化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7F7F7F"/>
                </a:solidFill>
                <a:latin typeface="Calibri"/>
                <a:ea typeface="Microsoft JhengHei"/>
              </a:rPr>
              <a:t>[測試] </a:t>
            </a:r>
            <a:r>
              <a:rPr sz="1050" b="0" i="0">
                <a:solidFill>
                  <a:srgbClr val="7F7F7F"/>
                </a:solidFill>
                <a:latin typeface="Calibri"/>
                <a:ea typeface="Microsoft JhengHei"/>
              </a:rPr>
              <a:t>測試參數資料集 / 隨機案例報告</a:t>
            </a: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98D6271E-E3C8-3B7E-E4F8-8B3536FB82FC}"/>
              </a:ext>
            </a:extLst>
          </p:cNvPr>
          <p:cNvSpPr txBox="1"/>
          <p:nvPr/>
        </p:nvSpPr>
        <p:spPr>
          <a:xfrm>
            <a:off x="4018788" y="4937760"/>
            <a:ext cx="2491740" cy="78739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7F7F7F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7F7F7F"/>
                </a:solidFill>
                <a:latin typeface="Calibri"/>
                <a:ea typeface="Microsoft JhengHei"/>
              </a:rPr>
              <a:t>設計</a:t>
            </a:r>
            <a:r>
              <a:rPr sz="1050" b="1" i="0" dirty="0">
                <a:solidFill>
                  <a:srgbClr val="7F7F7F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Python→C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 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轉換</a:t>
            </a:r>
            <a:endParaRPr sz="1050" b="0" i="0" dirty="0">
              <a:solidFill>
                <a:srgbClr val="7F7F7F"/>
              </a:solidFill>
              <a:latin typeface="Calibri"/>
              <a:ea typeface="Microsoft Jheng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7F7F7F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7F7F7F"/>
                </a:solidFill>
                <a:latin typeface="Calibri"/>
                <a:ea typeface="Microsoft JhengHei"/>
              </a:rPr>
              <a:t>測試</a:t>
            </a:r>
            <a:r>
              <a:rPr sz="1050" b="1" i="0" dirty="0">
                <a:solidFill>
                  <a:srgbClr val="7F7F7F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性能報告</a:t>
            </a:r>
            <a:endParaRPr sz="1050" b="0" i="0" dirty="0">
              <a:solidFill>
                <a:srgbClr val="7F7F7F"/>
              </a:solidFill>
              <a:latin typeface="Calibri"/>
              <a:ea typeface="Microsoft Jheng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7F7F7F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7F7F7F"/>
                </a:solidFill>
                <a:latin typeface="Calibri"/>
                <a:ea typeface="Microsoft JhengHei"/>
              </a:rPr>
              <a:t>規格</a:t>
            </a:r>
            <a:r>
              <a:rPr sz="1050" b="1" i="0" dirty="0">
                <a:solidFill>
                  <a:srgbClr val="7F7F7F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演算法技術規格</a:t>
            </a:r>
            <a:endParaRPr sz="1050" b="0" i="0" dirty="0">
              <a:solidFill>
                <a:srgbClr val="7F7F7F"/>
              </a:solidFill>
              <a:latin typeface="Calibri"/>
              <a:ea typeface="Microsoft Jheng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7F7F7F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7F7F7F"/>
                </a:solidFill>
                <a:latin typeface="Calibri"/>
                <a:ea typeface="Microsoft JhengHei"/>
              </a:rPr>
              <a:t>設計</a:t>
            </a:r>
            <a:r>
              <a:rPr sz="1050" b="1" i="0" dirty="0">
                <a:solidFill>
                  <a:srgbClr val="7F7F7F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切換最小化模組（基線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）</a:t>
            </a: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4A028765-1F3C-5E4F-4B37-269030FB6C71}"/>
              </a:ext>
            </a:extLst>
          </p:cNvPr>
          <p:cNvSpPr txBox="1"/>
          <p:nvPr/>
        </p:nvSpPr>
        <p:spPr>
          <a:xfrm>
            <a:off x="6620256" y="4937760"/>
            <a:ext cx="2491740" cy="78739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2E5496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2E5496"/>
                </a:solidFill>
                <a:latin typeface="Calibri"/>
                <a:ea typeface="Microsoft JhengHei"/>
              </a:rPr>
              <a:t>規格</a:t>
            </a:r>
            <a:r>
              <a:rPr sz="1050" b="1" i="0" dirty="0">
                <a:solidFill>
                  <a:srgbClr val="2E5496"/>
                </a:solidFill>
                <a:latin typeface="Calibri"/>
                <a:ea typeface="Microsoft JhengHei"/>
              </a:rPr>
              <a:t>] </a:t>
            </a:r>
            <a:r>
              <a:rPr lang="zh-TW" altLang="en-US" sz="1050" dirty="0">
                <a:solidFill>
                  <a:srgbClr val="262626"/>
                </a:solidFill>
                <a:latin typeface="Calibri"/>
                <a:ea typeface="Microsoft JhengHei"/>
              </a:rPr>
              <a:t>貪婪借電</a:t>
            </a:r>
            <a:r>
              <a:rPr sz="1050" dirty="0" err="1">
                <a:solidFill>
                  <a:srgbClr val="262626"/>
                </a:solidFill>
                <a:latin typeface="Calibri"/>
                <a:ea typeface="Microsoft JhengHei"/>
              </a:rPr>
              <a:t>規格分析</a:t>
            </a:r>
            <a:endParaRPr sz="1050" dirty="0">
              <a:solidFill>
                <a:srgbClr val="262626"/>
              </a:solidFill>
              <a:latin typeface="Calibri"/>
              <a:ea typeface="Microsoft Jheng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2E7D32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2E7D32"/>
                </a:solidFill>
                <a:latin typeface="Calibri"/>
                <a:ea typeface="Microsoft JhengHei"/>
              </a:rPr>
              <a:t>設計</a:t>
            </a:r>
            <a:r>
              <a:rPr sz="1050" b="1" i="0" dirty="0">
                <a:solidFill>
                  <a:srgbClr val="2E7D32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貪婪借電</a:t>
            </a:r>
            <a:r>
              <a:rPr lang="zh-TW" alt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演算法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（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需求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1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2E7D32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2E7D32"/>
                </a:solidFill>
                <a:latin typeface="Calibri"/>
                <a:ea typeface="Microsoft JhengHei"/>
              </a:rPr>
              <a:t>設計</a:t>
            </a:r>
            <a:r>
              <a:rPr sz="1050" b="1" i="0" dirty="0">
                <a:solidFill>
                  <a:srgbClr val="2E7D32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可變</a:t>
            </a:r>
            <a:r>
              <a:rPr lang="zh-TW" alt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量</a:t>
            </a:r>
            <a:r>
              <a:rPr 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lang="en-US" sz="1050" dirty="0">
                <a:solidFill>
                  <a:srgbClr val="262626"/>
                </a:solidFill>
                <a:latin typeface="Calibri"/>
                <a:ea typeface="Microsoft JhengHei"/>
              </a:rPr>
              <a:t>SMR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Group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支援（需求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2）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測試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需求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1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/ </a:t>
            </a:r>
            <a:r>
              <a:rPr 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2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模擬驗證報告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</p:txBody>
      </p:sp>
      <p:sp>
        <p:nvSpPr>
          <p:cNvPr id="29" name="TextBox 27">
            <a:extLst>
              <a:ext uri="{FF2B5EF4-FFF2-40B4-BE49-F238E27FC236}">
                <a16:creationId xmlns:a16="http://schemas.microsoft.com/office/drawing/2014/main" id="{0EEFAFD8-CEC2-3181-5065-B6B6316EA730}"/>
              </a:ext>
            </a:extLst>
          </p:cNvPr>
          <p:cNvSpPr txBox="1"/>
          <p:nvPr/>
        </p:nvSpPr>
        <p:spPr>
          <a:xfrm>
            <a:off x="9221724" y="4937760"/>
            <a:ext cx="2491740" cy="78739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2E7D32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2E7D32"/>
                </a:solidFill>
                <a:latin typeface="Calibri"/>
                <a:ea typeface="Microsoft JhengHei"/>
              </a:rPr>
              <a:t>設計</a:t>
            </a:r>
            <a:r>
              <a:rPr sz="1050" b="1" i="0" dirty="0">
                <a:solidFill>
                  <a:srgbClr val="2E7D32"/>
                </a:solidFill>
                <a:latin typeface="Calibri"/>
                <a:ea typeface="Microsoft JhengHei"/>
              </a:rPr>
              <a:t>] 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N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階借電模組（需求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3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測試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需求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3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模擬驗證報告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測試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落地演算法整體驗證報告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2E5496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2E5496"/>
                </a:solidFill>
                <a:latin typeface="Calibri"/>
                <a:ea typeface="Microsoft JhengHei"/>
              </a:rPr>
              <a:t>規格</a:t>
            </a:r>
            <a:r>
              <a:rPr sz="1050" b="1" i="0" dirty="0">
                <a:solidFill>
                  <a:srgbClr val="2E5496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系統整合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/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技術移轉文件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9BFB2E6A-1E97-BEDD-7273-C3980F7B7892}"/>
              </a:ext>
            </a:extLst>
          </p:cNvPr>
          <p:cNvSpPr txBox="1"/>
          <p:nvPr/>
        </p:nvSpPr>
        <p:spPr>
          <a:xfrm>
            <a:off x="411480" y="6419088"/>
            <a:ext cx="11365992" cy="18723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估計假設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　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需求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 </a:t>
            </a:r>
            <a:r>
              <a:rPr lang="en-US"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1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（低～中）＋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需求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 2（中）約各 1.5 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個月於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 Q3；需求 </a:t>
            </a:r>
            <a:r>
              <a:rPr lang="en-US"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3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（高）為 Q4 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主線。實際依規格複雜度調整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69094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AE953C-38C4-844C-B4A9-80B9AB91F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DeltaSans" panose="020B0502030000000004" pitchFamily="34" charset="0"/>
              </a:rPr>
              <a:t>目前實作已具備</a:t>
            </a:r>
            <a:r>
              <a:rPr lang="en-US" altLang="zh-TW" dirty="0" err="1">
                <a:latin typeface="DeltaSans" panose="020B0502030000000004" pitchFamily="34" charset="0"/>
              </a:rPr>
              <a:t>來車建議充電樁</a:t>
            </a:r>
            <a:r>
              <a:rPr lang="zh-TW" altLang="en-US" dirty="0">
                <a:latin typeface="DeltaSans" panose="020B0502030000000004" pitchFamily="34" charset="0"/>
              </a:rPr>
              <a:t>核心模組</a:t>
            </a: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CCA801A5-2527-C5D4-E9E8-B0DE2CBD3637}"/>
              </a:ext>
            </a:extLst>
          </p:cNvPr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 H2 </a:t>
            </a:r>
            <a:r>
              <a:rPr lang="en-US" sz="1350" dirty="0" err="1">
                <a:solidFill>
                  <a:srgbClr val="5B64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計劃項目（已取消</a:t>
            </a:r>
            <a:r>
              <a:rPr lang="en-US" sz="1350" dirty="0">
                <a:solidFill>
                  <a:srgbClr val="5B64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1350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84EA6586-E466-F141-36F1-4B17643142C0}"/>
              </a:ext>
            </a:extLst>
          </p:cNvPr>
          <p:cNvSpPr/>
          <p:nvPr/>
        </p:nvSpPr>
        <p:spPr>
          <a:xfrm>
            <a:off x="640080" y="210312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E9F1FC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B6DE8EAA-B794-F80F-E95B-E25530662705}"/>
              </a:ext>
            </a:extLst>
          </p:cNvPr>
          <p:cNvSpPr/>
          <p:nvPr/>
        </p:nvSpPr>
        <p:spPr>
          <a:xfrm>
            <a:off x="1005840" y="228600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r>
              <a:rPr lang="zh-TW" alt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來車</a:t>
            </a:r>
            <a:r>
              <a:rPr lang="en-US" sz="160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</a:t>
            </a: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r>
              <a:rPr lang="zh-TW" alt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</a:t>
            </a:r>
            <a:endParaRPr lang="en-US" sz="16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C6E86BEE-1DA0-EE86-910B-5C6AE9987BDE}"/>
              </a:ext>
            </a:extLst>
          </p:cNvPr>
          <p:cNvSpPr/>
          <p:nvPr/>
        </p:nvSpPr>
        <p:spPr>
          <a:xfrm>
            <a:off x="1005840" y="2724912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 err="1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於車輛抵達前，針對每一支空閒充電槍先行模擬、比較各選項優劣</a:t>
            </a:r>
            <a:r>
              <a:rPr lang="en-US" sz="13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300" dirty="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F09ACEAF-591B-83F5-CEBB-5B54984631AC}"/>
              </a:ext>
            </a:extLst>
          </p:cNvPr>
          <p:cNvSpPr/>
          <p:nvPr/>
        </p:nvSpPr>
        <p:spPr>
          <a:xfrm>
            <a:off x="640080" y="3977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69044E1E-5D7F-278D-765F-58DFE143B1CA}"/>
              </a:ext>
            </a:extLst>
          </p:cNvPr>
          <p:cNvSpPr/>
          <p:nvPr/>
        </p:nvSpPr>
        <p:spPr>
          <a:xfrm>
            <a:off x="1005840" y="416052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r>
              <a:rPr lang="en-US" sz="160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最佳」需</a:t>
            </a:r>
            <a:r>
              <a:rPr lang="zh-TW" alt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符合以下</a:t>
            </a:r>
            <a:r>
              <a:rPr lang="en-US" sz="160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取捨待評估</a:t>
            </a:r>
            <a:endParaRPr lang="en-US" sz="16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26917454-616E-C468-816C-512EB9ED629F}"/>
              </a:ext>
            </a:extLst>
          </p:cNvPr>
          <p:cNvSpPr/>
          <p:nvPr/>
        </p:nvSpPr>
        <p:spPr>
          <a:xfrm>
            <a:off x="100584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8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15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27530D21-5B82-C4E8-499D-ADF693A1ED15}"/>
              </a:ext>
            </a:extLst>
          </p:cNvPr>
          <p:cNvSpPr/>
          <p:nvPr/>
        </p:nvSpPr>
        <p:spPr>
          <a:xfrm>
            <a:off x="1389888" y="46177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400" b="1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引發</a:t>
            </a:r>
            <a:r>
              <a:rPr lang="en-US" altLang="zh-TW" sz="1400" b="1" dirty="0" err="1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其他車輛</a:t>
            </a:r>
            <a:r>
              <a:rPr lang="zh-TW" altLang="en-US" sz="1400" b="1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還電功率最小化</a:t>
            </a:r>
            <a:endParaRPr lang="en-US" sz="14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28B3C6CD-E369-5438-C039-638DF8B801EC}"/>
              </a:ext>
            </a:extLst>
          </p:cNvPr>
          <p:cNvSpPr/>
          <p:nvPr/>
        </p:nvSpPr>
        <p:spPr>
          <a:xfrm>
            <a:off x="100584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8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1500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9D6DC468-B219-28B4-AE05-A0B27ABEB3D5}"/>
              </a:ext>
            </a:extLst>
          </p:cNvPr>
          <p:cNvSpPr/>
          <p:nvPr/>
        </p:nvSpPr>
        <p:spPr>
          <a:xfrm>
            <a:off x="1389888" y="51663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400" b="1" dirty="0" err="1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該槍自身充電</a:t>
            </a:r>
            <a:r>
              <a:rPr lang="zh-TW" altLang="en-US" sz="1400" b="1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可得功率</a:t>
            </a:r>
            <a:r>
              <a:rPr lang="en-US" altLang="zh-TW" sz="1400" b="1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</a:t>
            </a:r>
            <a:r>
              <a:rPr lang="zh-TW" altLang="en-US" sz="1400" b="1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</a:t>
            </a:r>
            <a:endParaRPr lang="en-US" altLang="zh-TW" sz="14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387C688-6699-64C8-3C87-FC874733A6FE}"/>
              </a:ext>
            </a:extLst>
          </p:cNvPr>
          <p:cNvSpPr/>
          <p:nvPr/>
        </p:nvSpPr>
        <p:spPr>
          <a:xfrm>
            <a:off x="1005840" y="56692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兩目標之間如何取捨，仍待進一步評估。</a:t>
            </a:r>
            <a:endParaRPr lang="en-US" sz="1200" dirty="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2F8E763F-0C05-4F38-B284-AE73080EAC7E}"/>
              </a:ext>
            </a:extLst>
          </p:cNvPr>
          <p:cNvSpPr/>
          <p:nvPr/>
        </p:nvSpPr>
        <p:spPr>
          <a:xfrm>
            <a:off x="6217920" y="210312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23ACC204-88B7-7558-B459-F8FF1D1FA449}"/>
              </a:ext>
            </a:extLst>
          </p:cNvPr>
          <p:cNvSpPr/>
          <p:nvPr/>
        </p:nvSpPr>
        <p:spPr>
          <a:xfrm>
            <a:off x="6583680" y="22860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 · </a:t>
            </a:r>
            <a:r>
              <a:rPr lang="zh-TW" altLang="en-US" sz="1200" b="1" kern="0" spc="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核心模組</a:t>
            </a:r>
            <a:endParaRPr lang="en-US" sz="12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6A068D87-EEB6-4879-05D2-A8CC3CE31F68}"/>
              </a:ext>
            </a:extLst>
          </p:cNvPr>
          <p:cNvSpPr/>
          <p:nvPr/>
        </p:nvSpPr>
        <p:spPr>
          <a:xfrm>
            <a:off x="6583680" y="2651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插槍瞬間的還電判斷、充電</a:t>
            </a:r>
            <a:r>
              <a:rPr lang="zh-TW" altLang="en-US" sz="15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模組配置</a:t>
            </a:r>
            <a:endParaRPr lang="en-US" sz="1550" dirty="0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B14E6D2F-ABFD-F957-E0FA-6BF475F76B88}"/>
              </a:ext>
            </a:extLst>
          </p:cNvPr>
          <p:cNvSpPr/>
          <p:nvPr/>
        </p:nvSpPr>
        <p:spPr>
          <a:xfrm>
            <a:off x="6583680" y="3200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屬本來就存在的能力，可作為後續模擬的計算基礎。</a:t>
            </a:r>
            <a:endParaRPr lang="en-US" sz="125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C65AEB70-7C36-FA11-B44D-4CDF40937B15}"/>
              </a:ext>
            </a:extLst>
          </p:cNvPr>
          <p:cNvSpPr/>
          <p:nvPr/>
        </p:nvSpPr>
        <p:spPr>
          <a:xfrm>
            <a:off x="6217920" y="3977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E145DDC8-54B8-298A-37D9-199DE959380E}"/>
              </a:ext>
            </a:extLst>
          </p:cNvPr>
          <p:cNvSpPr/>
          <p:nvPr/>
        </p:nvSpPr>
        <p:spPr>
          <a:xfrm>
            <a:off x="6217920" y="3977640"/>
            <a:ext cx="91440" cy="196596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DC1A050D-7588-1670-1958-A297D01E439D}"/>
              </a:ext>
            </a:extLst>
          </p:cNvPr>
          <p:cNvSpPr/>
          <p:nvPr/>
        </p:nvSpPr>
        <p:spPr>
          <a:xfrm>
            <a:off x="6583680" y="41605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8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未完成 · 尚待建立</a:t>
            </a:r>
            <a:endParaRPr lang="en-US" sz="120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4B2BFFA5-7445-A68D-BEE2-C4912350E2EC}"/>
              </a:ext>
            </a:extLst>
          </p:cNvPr>
          <p:cNvSpPr/>
          <p:nvPr/>
        </p:nvSpPr>
        <p:spPr>
          <a:xfrm>
            <a:off x="6583680" y="45262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來車前對「所有空閒槍」逐一模擬、比較各選項優劣</a:t>
            </a:r>
            <a:endParaRPr lang="en-US" sz="155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F9DB2BFE-FBA9-80F3-CA5D-864B10F07150}"/>
              </a:ext>
            </a:extLst>
          </p:cNvPr>
          <p:cNvSpPr/>
          <p:nvPr/>
        </p:nvSpPr>
        <p:spPr>
          <a:xfrm>
            <a:off x="6583680" y="52578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 err="1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目前尚未進行</a:t>
            </a:r>
            <a:r>
              <a:rPr lang="en-US" sz="12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69788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460E82-31B5-17B8-0ED2-FA18E5CB3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DeltaSans" panose="020B0502030000000004" pitchFamily="34" charset="0"/>
              </a:rPr>
              <a:t>Relay </a:t>
            </a:r>
            <a:r>
              <a:rPr lang="en-US" altLang="zh-TW" dirty="0" err="1">
                <a:latin typeface="DeltaSans" panose="020B0502030000000004" pitchFamily="34" charset="0"/>
              </a:rPr>
              <a:t>切換最小化</a:t>
            </a:r>
            <a:r>
              <a:rPr lang="en-US" altLang="zh-TW" dirty="0">
                <a:latin typeface="DeltaSans" panose="020B0502030000000004" pitchFamily="34" charset="0"/>
              </a:rPr>
              <a:t> </a:t>
            </a:r>
            <a:r>
              <a:rPr lang="zh-TW" altLang="en-US" dirty="0">
                <a:latin typeface="DeltaSans" panose="020B0502030000000004" pitchFamily="34" charset="0"/>
              </a:rPr>
              <a:t>需求限制下的定位</a:t>
            </a:r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C77038ED-9499-06D6-CD6B-43D1ED37E407}"/>
              </a:ext>
            </a:extLst>
          </p:cNvPr>
          <p:cNvSpPr/>
          <p:nvPr/>
        </p:nvSpPr>
        <p:spPr>
          <a:xfrm>
            <a:off x="640080" y="1645920"/>
            <a:ext cx="1092708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B50F02D0-6696-92F3-DBE6-5AEDD40AFE60}"/>
              </a:ext>
            </a:extLst>
          </p:cNvPr>
          <p:cNvSpPr/>
          <p:nvPr/>
        </p:nvSpPr>
        <p:spPr>
          <a:xfrm>
            <a:off x="1005840" y="164592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這是「需求」決定的限制，不是優化能力不足。　</a:t>
            </a: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在現行漸進式需求下，切換路徑由需求本身決定 —— 並無優化空間。</a:t>
            </a:r>
            <a:endParaRPr lang="en-US" sz="1600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7A95B1CC-A12A-9C68-8938-CC3D2C934274}"/>
              </a:ext>
            </a:extLst>
          </p:cNvPr>
          <p:cNvSpPr/>
          <p:nvPr/>
        </p:nvSpPr>
        <p:spPr>
          <a:xfrm>
            <a:off x="640080" y="269748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E9F1FC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C5D40025-8411-930F-130A-DF71759BF98D}"/>
              </a:ext>
            </a:extLst>
          </p:cNvPr>
          <p:cNvSpPr/>
          <p:nvPr/>
        </p:nvSpPr>
        <p:spPr>
          <a:xfrm>
            <a:off x="1005840" y="28803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4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現行需求</a:t>
            </a:r>
            <a:endParaRPr lang="en-US" sz="12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769531B4-0E48-0338-E043-1B2338871B82}"/>
              </a:ext>
            </a:extLst>
          </p:cNvPr>
          <p:cNvSpPr/>
          <p:nvPr/>
        </p:nvSpPr>
        <p:spPr>
          <a:xfrm>
            <a:off x="1005840" y="3200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漸進式借還電（一次借一個模組）</a:t>
            </a:r>
            <a:endParaRPr lang="en-US" sz="16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12772573-7698-EE40-E7FC-544AAEFC8A66}"/>
              </a:ext>
            </a:extLst>
          </p:cNvPr>
          <p:cNvSpPr/>
          <p:nvPr/>
        </p:nvSpPr>
        <p:spPr>
          <a:xfrm>
            <a:off x="1005840" y="363016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切換路徑被需求本身固定 → 在此限制下無切換優化空間（設計使然，非能力問題）。</a:t>
            </a:r>
            <a:endParaRPr lang="en-US" sz="1250" dirty="0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4F85A7B0-AAE4-114D-DF99-83FE0BF0D340}"/>
              </a:ext>
            </a:extLst>
          </p:cNvPr>
          <p:cNvSpPr/>
          <p:nvPr/>
        </p:nvSpPr>
        <p:spPr>
          <a:xfrm>
            <a:off x="6217920" y="269748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21D96FF9-7B25-BB23-857F-5A9993DE012A}"/>
              </a:ext>
            </a:extLst>
          </p:cNvPr>
          <p:cNvSpPr/>
          <p:nvPr/>
        </p:nvSpPr>
        <p:spPr>
          <a:xfrm>
            <a:off x="6583680" y="28803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若未來需求改變</a:t>
            </a:r>
            <a:endParaRPr lang="en-US" sz="12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2320AA29-523B-F313-0F4F-CC115ADBFDAA}"/>
              </a:ext>
            </a:extLst>
          </p:cNvPr>
          <p:cNvSpPr/>
          <p:nvPr/>
        </p:nvSpPr>
        <p:spPr>
          <a:xfrm>
            <a:off x="6583680" y="3200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貪婪式借電（一次借多個模組）</a:t>
            </a:r>
            <a:endParaRPr lang="en-US" sz="16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D485B82F-4A60-F614-D122-F500E84BAC60}"/>
              </a:ext>
            </a:extLst>
          </p:cNvPr>
          <p:cNvSpPr/>
          <p:nvPr/>
        </p:nvSpPr>
        <p:spPr>
          <a:xfrm>
            <a:off x="6583680" y="363016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才會出現真正的切換優化空間 → 屆時才談「減少切換」的規劃。</a:t>
            </a:r>
            <a:endParaRPr lang="en-US" sz="1250" dirty="0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C83F3502-D794-E037-61C5-E8FFF374D4D6}"/>
              </a:ext>
            </a:extLst>
          </p:cNvPr>
          <p:cNvSpPr/>
          <p:nvPr/>
        </p:nvSpPr>
        <p:spPr>
          <a:xfrm>
            <a:off x="640080" y="4526280"/>
            <a:ext cx="109270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8E41F785-6EF6-944A-48CD-1033CE1B66C9}"/>
              </a:ext>
            </a:extLst>
          </p:cNvPr>
          <p:cNvSpPr/>
          <p:nvPr/>
        </p:nvSpPr>
        <p:spPr>
          <a:xfrm>
            <a:off x="960120" y="4709160"/>
            <a:ext cx="457200" cy="45720"/>
          </a:xfrm>
          <a:prstGeom prst="rect">
            <a:avLst/>
          </a:prstGeom>
          <a:solidFill>
            <a:srgbClr val="F2C5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E98B0ED8-F1D1-2E29-5BBF-BB8A2968EF9C}"/>
              </a:ext>
            </a:extLst>
          </p:cNvPr>
          <p:cNvSpPr/>
          <p:nvPr/>
        </p:nvSpPr>
        <p:spPr>
          <a:xfrm>
            <a:off x="960120" y="479145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硬體切換安全性 · 職責邊界</a:t>
            </a:r>
            <a:endParaRPr lang="en-US" sz="13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8679FAB3-FB9D-F5D6-DE89-7AC3561B7DA9}"/>
              </a:ext>
            </a:extLst>
          </p:cNvPr>
          <p:cNvSpPr/>
          <p:nvPr/>
        </p:nvSpPr>
        <p:spPr>
          <a:xfrm>
            <a:off x="960120" y="51389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演算法職責</a:t>
            </a:r>
            <a:endParaRPr lang="en-US" sz="130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CEF2A521-4682-DD79-7814-A8F396656F74}"/>
              </a:ext>
            </a:extLst>
          </p:cNvPr>
          <p:cNvSpPr/>
          <p:nvPr/>
        </p:nvSpPr>
        <p:spPr>
          <a:xfrm>
            <a:off x="960120" y="546811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僅輸出「下一步應變成什麼狀態」，</a:t>
            </a:r>
            <a:r>
              <a:rPr lang="en-US" sz="1150" dirty="0" err="1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不涉實體切換</a:t>
            </a:r>
            <a:endParaRPr lang="en-US" sz="1150" dirty="0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C278BE9D-01B3-85C7-7505-955620B94273}"/>
              </a:ext>
            </a:extLst>
          </p:cNvPr>
          <p:cNvSpPr/>
          <p:nvPr/>
        </p:nvSpPr>
        <p:spPr>
          <a:xfrm>
            <a:off x="4434840" y="5138928"/>
            <a:ext cx="0" cy="777240"/>
          </a:xfrm>
          <a:prstGeom prst="line">
            <a:avLst/>
          </a:prstGeom>
          <a:noFill/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E87FDD18-D000-ED35-114B-02C5FB9250C3}"/>
              </a:ext>
            </a:extLst>
          </p:cNvPr>
          <p:cNvSpPr/>
          <p:nvPr/>
        </p:nvSpPr>
        <p:spPr>
          <a:xfrm>
            <a:off x="4572000" y="51389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需求單位</a:t>
            </a: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MCU 硬體層</a:t>
            </a:r>
            <a:endParaRPr lang="en-US" sz="130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C2A0C6A4-A6A8-24C6-B9F0-5156B546A7E5}"/>
              </a:ext>
            </a:extLst>
          </p:cNvPr>
          <p:cNvSpPr/>
          <p:nvPr/>
        </p:nvSpPr>
        <p:spPr>
          <a:xfrm>
            <a:off x="4572000" y="546811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實際切換是否符合電氣安全規範，屬硬體層職責。</a:t>
            </a:r>
            <a:endParaRPr lang="en-US" sz="1150" dirty="0"/>
          </a:p>
        </p:txBody>
      </p:sp>
      <p:sp>
        <p:nvSpPr>
          <p:cNvPr id="47" name="Shape 20">
            <a:extLst>
              <a:ext uri="{FF2B5EF4-FFF2-40B4-BE49-F238E27FC236}">
                <a16:creationId xmlns:a16="http://schemas.microsoft.com/office/drawing/2014/main" id="{8DD91380-09D0-24C9-09AD-8EF0FFB0F84C}"/>
              </a:ext>
            </a:extLst>
          </p:cNvPr>
          <p:cNvSpPr/>
          <p:nvPr/>
        </p:nvSpPr>
        <p:spPr>
          <a:xfrm>
            <a:off x="8046720" y="5138928"/>
            <a:ext cx="0" cy="777240"/>
          </a:xfrm>
          <a:prstGeom prst="line">
            <a:avLst/>
          </a:prstGeom>
          <a:noFill/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3E058D89-049F-E33B-E791-53D23F5FEEDA}"/>
              </a:ext>
            </a:extLst>
          </p:cNvPr>
          <p:cNvSpPr/>
          <p:nvPr/>
        </p:nvSpPr>
        <p:spPr>
          <a:xfrm>
            <a:off x="8183880" y="51389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整合待議</a:t>
            </a:r>
            <a:endParaRPr lang="en-US" sz="130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79526441-09FD-FF7C-840E-F2C88D36E5E4}"/>
              </a:ext>
            </a:extLst>
          </p:cNvPr>
          <p:cNvSpPr/>
          <p:nvPr/>
        </p:nvSpPr>
        <p:spPr>
          <a:xfrm>
            <a:off x="8183880" y="546811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雙方介面與互動測試需另行討論，目前尚未開始。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881187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B7D15-06E4-CD25-5CAE-1495459E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FCBD55-DED1-52C5-6FD4-CE00A2B3A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>
                <a:latin typeface="DeltaSans" panose="020B0502030000000004" pitchFamily="34" charset="0"/>
              </a:rPr>
              <a:t>貪婪演算法設計</a:t>
            </a:r>
            <a:r>
              <a:rPr lang="en-US" altLang="zh-TW" dirty="0">
                <a:latin typeface="DeltaSans" panose="020B0502030000000004" pitchFamily="34" charset="0"/>
              </a:rPr>
              <a:t>　</a:t>
            </a:r>
            <a:r>
              <a:rPr lang="en-US" altLang="zh-TW" dirty="0" err="1">
                <a:latin typeface="DeltaSans" panose="020B0502030000000004" pitchFamily="34" charset="0"/>
              </a:rPr>
              <a:t>借電決策模型</a:t>
            </a:r>
            <a:endParaRPr lang="zh-TW" altLang="en-US" dirty="0">
              <a:latin typeface="DeltaSans" panose="020B05020300000000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FF3B0A68-0224-EED3-3FC0-560506F83D9E}"/>
              </a:ext>
            </a:extLst>
          </p:cNvPr>
          <p:cNvSpPr/>
          <p:nvPr/>
        </p:nvSpPr>
        <p:spPr>
          <a:xfrm>
            <a:off x="640080" y="1190897"/>
            <a:ext cx="5669280" cy="1033272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2553C56B-A752-3279-E734-F739D64FD30F}"/>
              </a:ext>
            </a:extLst>
          </p:cNvPr>
          <p:cNvSpPr/>
          <p:nvPr/>
        </p:nvSpPr>
        <p:spPr>
          <a:xfrm>
            <a:off x="960120" y="1355489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借入觸發（需求方）</a:t>
            </a:r>
            <a:endParaRPr lang="en-US" sz="12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B190A2C1-4FE0-3B48-FE3A-42ED281CB20D}"/>
              </a:ext>
            </a:extLst>
          </p:cNvPr>
          <p:cNvSpPr/>
          <p:nvPr/>
        </p:nvSpPr>
        <p:spPr>
          <a:xfrm>
            <a:off x="960120" y="1508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≥ Available × 0.95</a:t>
            </a:r>
            <a:endParaRPr lang="en-US" sz="20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B7B7E22-A13E-ED14-C42A-238DEF58B0DD}"/>
              </a:ext>
            </a:extLst>
          </p:cNvPr>
          <p:cNvSpPr/>
          <p:nvPr/>
        </p:nvSpPr>
        <p:spPr>
          <a:xfrm>
            <a:off x="96012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且持續 N 個 step（防瞬時尖峰誤觸發）→ 發起借電</a:t>
            </a:r>
            <a:endParaRPr lang="en-US" sz="125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58B0435B-DB06-7E07-D9C7-74ECC9EE69D9}"/>
              </a:ext>
            </a:extLst>
          </p:cNvPr>
          <p:cNvSpPr/>
          <p:nvPr/>
        </p:nvSpPr>
        <p:spPr>
          <a:xfrm>
            <a:off x="640080" y="2306465"/>
            <a:ext cx="5669280" cy="1117575"/>
          </a:xfrm>
          <a:prstGeom prst="roundRect">
            <a:avLst>
              <a:gd name="adj" fmla="val 5806"/>
            </a:avLst>
          </a:prstGeom>
          <a:solidFill>
            <a:srgbClr val="E9F1FC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24AF3A5-17D8-7121-9E93-61160EADBA53}"/>
              </a:ext>
            </a:extLst>
          </p:cNvPr>
          <p:cNvSpPr/>
          <p:nvPr/>
        </p:nvSpPr>
        <p:spPr>
          <a:xfrm>
            <a:off x="960120" y="2471057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4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出借條件（出借方）</a:t>
            </a:r>
            <a:endParaRPr lang="en-US" sz="12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E5509FA-621A-BEFB-CCB6-90330AB35BCE}"/>
              </a:ext>
            </a:extLst>
          </p:cNvPr>
          <p:cNvSpPr/>
          <p:nvPr/>
        </p:nvSpPr>
        <p:spPr>
          <a:xfrm>
            <a:off x="960120" y="2651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&lt; ( Available − 釋放2 x </a:t>
            </a:r>
            <a:r>
              <a:rPr lang="en-US" altLang="zh-TW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SMR Group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× 0.9</a:t>
            </a:r>
            <a:endParaRPr lang="en-US" sz="1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6D1FD82-D32B-1104-94F4-4697F1DF0232}"/>
              </a:ext>
            </a:extLst>
          </p:cNvPr>
          <p:cNvSpPr/>
          <p:nvPr/>
        </p:nvSpPr>
        <p:spPr>
          <a:xfrm>
            <a:off x="960120" y="2971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釋出後餘裕仍足，才允許借出 → 保護出借方車輛</a:t>
            </a:r>
            <a:endParaRPr lang="en-US" sz="125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B5DFB7CE-0853-0157-4DC3-A4BCD1FC05E5}"/>
              </a:ext>
            </a:extLst>
          </p:cNvPr>
          <p:cNvSpPr/>
          <p:nvPr/>
        </p:nvSpPr>
        <p:spPr>
          <a:xfrm>
            <a:off x="640080" y="3528713"/>
            <a:ext cx="5669280" cy="967087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80F4D345-630D-1CF7-B9A2-A226112A50CC}"/>
              </a:ext>
            </a:extLst>
          </p:cNvPr>
          <p:cNvSpPr/>
          <p:nvPr/>
        </p:nvSpPr>
        <p:spPr>
          <a:xfrm>
            <a:off x="960120" y="3729881"/>
            <a:ext cx="457200" cy="45720"/>
          </a:xfrm>
          <a:prstGeom prst="rect">
            <a:avLst/>
          </a:prstGeom>
          <a:solidFill>
            <a:srgbClr val="F2C5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E822C709-E299-7AAB-A55C-552CDD883B55}"/>
              </a:ext>
            </a:extLst>
          </p:cNvPr>
          <p:cNvSpPr/>
          <p:nvPr/>
        </p:nvSpPr>
        <p:spPr>
          <a:xfrm>
            <a:off x="960120" y="37185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0.95 / 0.9 遲滯區間（Hysteresis）　</a:t>
            </a:r>
            <a:r>
              <a:rPr lang="en-US" sz="12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借入與釋放門檻分離，避免臨界點反覆震盪切換；兩係數實作為可調變數。</a:t>
            </a:r>
            <a:endParaRPr lang="en-US" sz="135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61DE869B-FF48-ACE8-B29F-39A426F61969}"/>
              </a:ext>
            </a:extLst>
          </p:cNvPr>
          <p:cNvSpPr/>
          <p:nvPr/>
        </p:nvSpPr>
        <p:spPr>
          <a:xfrm>
            <a:off x="6629400" y="1053737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借電規則</a:t>
            </a:r>
            <a:endParaRPr lang="en-US" sz="15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8F8C0F6B-BC4B-5097-4EBE-FB62250C1008}"/>
              </a:ext>
            </a:extLst>
          </p:cNvPr>
          <p:cNvSpPr/>
          <p:nvPr/>
        </p:nvSpPr>
        <p:spPr>
          <a:xfrm>
            <a:off x="6629400" y="1371600"/>
            <a:ext cx="4937760" cy="10058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5F282C13-A6DF-26C1-3826-ABCA3B091A4B}"/>
              </a:ext>
            </a:extLst>
          </p:cNvPr>
          <p:cNvSpPr/>
          <p:nvPr/>
        </p:nvSpPr>
        <p:spPr>
          <a:xfrm>
            <a:off x="6903720" y="15727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94804761-BD27-DADF-4A5D-F8CA51E6867F}"/>
              </a:ext>
            </a:extLst>
          </p:cNvPr>
          <p:cNvSpPr/>
          <p:nvPr/>
        </p:nvSpPr>
        <p:spPr>
          <a:xfrm>
            <a:off x="6903720" y="1572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63E76AE4-8E03-B6FE-4B9B-A26464B08D7B}"/>
              </a:ext>
            </a:extLst>
          </p:cNvPr>
          <p:cNvSpPr/>
          <p:nvPr/>
        </p:nvSpPr>
        <p:spPr>
          <a:xfrm>
            <a:off x="7452360" y="153619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最小借出單位 = 2 個 SMR Group</a:t>
            </a:r>
            <a:endParaRPr lang="en-US" sz="145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351DE632-ED93-574C-603E-78F67B64D6E1}"/>
              </a:ext>
            </a:extLst>
          </p:cNvPr>
          <p:cNvSpPr/>
          <p:nvPr/>
        </p:nvSpPr>
        <p:spPr>
          <a:xfrm>
            <a:off x="7452360" y="18288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「一分為二」邏輯，延續現行來車控制；不存在借出單一 Group 的路徑。</a:t>
            </a:r>
            <a:endParaRPr lang="en-US" sz="115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7141F897-586D-1373-86C8-E1661408EF72}"/>
              </a:ext>
            </a:extLst>
          </p:cNvPr>
          <p:cNvSpPr/>
          <p:nvPr/>
        </p:nvSpPr>
        <p:spPr>
          <a:xfrm>
            <a:off x="6629400" y="2443625"/>
            <a:ext cx="4937760" cy="985375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9C5FC99D-863D-89B3-2581-C1C71F9BEF85}"/>
              </a:ext>
            </a:extLst>
          </p:cNvPr>
          <p:cNvSpPr/>
          <p:nvPr/>
        </p:nvSpPr>
        <p:spPr>
          <a:xfrm>
            <a:off x="6903720" y="2644793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ABEB351A-7656-E245-D811-D668F7DD6BCA}"/>
              </a:ext>
            </a:extLst>
          </p:cNvPr>
          <p:cNvSpPr/>
          <p:nvPr/>
        </p:nvSpPr>
        <p:spPr>
          <a:xfrm>
            <a:off x="6903720" y="264479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3F012970-B7CF-CB7A-EC7F-CF8A32E38F0C}"/>
              </a:ext>
            </a:extLst>
          </p:cNvPr>
          <p:cNvSpPr/>
          <p:nvPr/>
        </p:nvSpPr>
        <p:spPr>
          <a:xfrm>
            <a:off x="7452360" y="2608217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對方全閒 → 一次全拿</a:t>
            </a:r>
            <a:endParaRPr lang="en-US" sz="145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FCBE3B9C-E0F0-A861-8682-0F2A826BC79F}"/>
              </a:ext>
            </a:extLst>
          </p:cNvPr>
          <p:cNvSpPr/>
          <p:nvPr/>
        </p:nvSpPr>
        <p:spPr>
          <a:xfrm>
            <a:off x="7452360" y="28956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被借方 REC BD 內模組皆閒置時，一次性借用全部模組，減少切換次數。</a:t>
            </a:r>
            <a:endParaRPr lang="en-US" sz="1150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41E5E06C-4563-33A7-9920-326AADC5F67A}"/>
              </a:ext>
            </a:extLst>
          </p:cNvPr>
          <p:cNvSpPr/>
          <p:nvPr/>
        </p:nvSpPr>
        <p:spPr>
          <a:xfrm>
            <a:off x="6629400" y="3506941"/>
            <a:ext cx="4937760" cy="985375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31F74880-3CF0-0DA5-7676-74DE1F60EE2F}"/>
              </a:ext>
            </a:extLst>
          </p:cNvPr>
          <p:cNvSpPr/>
          <p:nvPr/>
        </p:nvSpPr>
        <p:spPr>
          <a:xfrm>
            <a:off x="6903720" y="3708109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5FBD1F01-F49F-4557-A913-ABBD17F9F68C}"/>
              </a:ext>
            </a:extLst>
          </p:cNvPr>
          <p:cNvSpPr/>
          <p:nvPr/>
        </p:nvSpPr>
        <p:spPr>
          <a:xfrm>
            <a:off x="6903720" y="370810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E8B3E4B4-133D-4A50-5495-C79DDA32CE6A}"/>
              </a:ext>
            </a:extLst>
          </p:cNvPr>
          <p:cNvSpPr/>
          <p:nvPr/>
        </p:nvSpPr>
        <p:spPr>
          <a:xfrm>
            <a:off x="7452360" y="3671533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被動式調整</a:t>
            </a:r>
            <a:endParaRPr lang="en-US" sz="1450" dirty="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417B807C-79E2-B35F-48E1-C593349E0753}"/>
              </a:ext>
            </a:extLst>
          </p:cNvPr>
          <p:cNvSpPr/>
          <p:nvPr/>
        </p:nvSpPr>
        <p:spPr>
          <a:xfrm>
            <a:off x="7452360" y="39624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僅在「被請求」（借電或來車）時重算配置；不因用電下降主動調整。</a:t>
            </a:r>
            <a:endParaRPr lang="en-US" sz="1150" dirty="0"/>
          </a:p>
        </p:txBody>
      </p:sp>
      <p:pic>
        <p:nvPicPr>
          <p:cNvPr id="31" name="圖片 30" descr="一張含有 文字, 圖表, 螢幕擷取畫面, 地圖 的圖片&#10;&#10;AI 產生的內容可能不正確。">
            <a:extLst>
              <a:ext uri="{FF2B5EF4-FFF2-40B4-BE49-F238E27FC236}">
                <a16:creationId xmlns:a16="http://schemas.microsoft.com/office/drawing/2014/main" id="{A2490428-506A-C7CF-46DF-918739EE4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025" y="4600340"/>
            <a:ext cx="2767598" cy="2227180"/>
          </a:xfrm>
          <a:prstGeom prst="rect">
            <a:avLst/>
          </a:prstGeom>
        </p:spPr>
      </p:pic>
      <p:pic>
        <p:nvPicPr>
          <p:cNvPr id="33" name="圖片 32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64AD0A23-E1F8-B868-A992-69ABFC2C42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869" y="4693484"/>
            <a:ext cx="2600333" cy="2081348"/>
          </a:xfrm>
          <a:prstGeom prst="rect">
            <a:avLst/>
          </a:prstGeom>
        </p:spPr>
      </p:pic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17D315EB-384A-228E-D9E9-68E1901C385B}"/>
              </a:ext>
            </a:extLst>
          </p:cNvPr>
          <p:cNvSpPr/>
          <p:nvPr/>
        </p:nvSpPr>
        <p:spPr>
          <a:xfrm>
            <a:off x="5798820" y="5562600"/>
            <a:ext cx="594360" cy="3322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836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522968-30AC-5589-2A5F-93ABEDEF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DeltaSans" panose="020B0502030000000004" pitchFamily="34" charset="0"/>
              </a:rPr>
              <a:t>SMR Group </a:t>
            </a:r>
            <a:r>
              <a:rPr lang="en-US" altLang="zh-TW" dirty="0" err="1">
                <a:latin typeface="DeltaSans" panose="020B0502030000000004" pitchFamily="34" charset="0"/>
              </a:rPr>
              <a:t>可變量設計</a:t>
            </a:r>
            <a:endParaRPr lang="zh-TW" altLang="en-US" dirty="0">
              <a:latin typeface="DeltaSans" panose="020B0502030000000004" pitchFamily="34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1689F1D3-01F4-A3AF-21CE-952A7548EBEE}"/>
              </a:ext>
            </a:extLst>
          </p:cNvPr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讓演算法脫離特定硬體規格 —— 模組容量與數量改變時，邏輯不需重寫。</a:t>
            </a:r>
            <a:endParaRPr lang="en-US" sz="1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A31C3AF8-8DE7-14C0-3F29-9FA4D32EA6E0}"/>
              </a:ext>
            </a:extLst>
          </p:cNvPr>
          <p:cNvSpPr/>
          <p:nvPr/>
        </p:nvSpPr>
        <p:spPr>
          <a:xfrm>
            <a:off x="64008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初始化流程</a:t>
            </a:r>
            <a:endParaRPr lang="en-US" sz="15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8B24B73-6FF9-C467-E898-D852285B16E9}"/>
              </a:ext>
            </a:extLst>
          </p:cNvPr>
          <p:cNvSpPr/>
          <p:nvPr/>
        </p:nvSpPr>
        <p:spPr>
          <a:xfrm>
            <a:off x="640080" y="2560320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B5C087A6-FEF0-396F-B906-4A84C9D03B1E}"/>
              </a:ext>
            </a:extLst>
          </p:cNvPr>
          <p:cNvSpPr/>
          <p:nvPr/>
        </p:nvSpPr>
        <p:spPr>
          <a:xfrm>
            <a:off x="914400" y="27066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15F0D3DB-7C4D-7215-73FC-2000809AC111}"/>
              </a:ext>
            </a:extLst>
          </p:cNvPr>
          <p:cNvSpPr/>
          <p:nvPr/>
        </p:nvSpPr>
        <p:spPr>
          <a:xfrm>
            <a:off x="914400" y="2706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7EF5898-383D-DCE6-F682-83243EEEFB13}"/>
              </a:ext>
            </a:extLst>
          </p:cNvPr>
          <p:cNvSpPr/>
          <p:nvPr/>
        </p:nvSpPr>
        <p:spPr>
          <a:xfrm>
            <a:off x="1463040" y="26883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Config 設定檔</a:t>
            </a:r>
            <a:endParaRPr lang="en-US" sz="145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A7A6C368-A4FB-DA31-B942-235B801EB141}"/>
              </a:ext>
            </a:extLst>
          </p:cNvPr>
          <p:cNvSpPr/>
          <p:nvPr/>
        </p:nvSpPr>
        <p:spPr>
          <a:xfrm>
            <a:off x="1463040" y="30723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TW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SMR </a:t>
            </a:r>
            <a:r>
              <a:rPr lang="en-US" altLang="zh-TW" sz="1100" dirty="0" err="1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容量</a:t>
            </a:r>
            <a:r>
              <a:rPr lang="en-US" altLang="zh-TW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(25</a:t>
            </a:r>
            <a:r>
              <a:rPr lang="zh-TW" altLang="en-US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的倍數</a:t>
            </a:r>
            <a:r>
              <a:rPr lang="en-US" altLang="zh-TW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)、 </a:t>
            </a:r>
            <a:r>
              <a:rPr lang="en-US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SMR </a:t>
            </a:r>
            <a:r>
              <a:rPr lang="en-US" altLang="zh-TW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Group</a:t>
            </a:r>
            <a:r>
              <a:rPr lang="en-US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100" dirty="0" err="1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數量</a:t>
            </a:r>
            <a:r>
              <a:rPr lang="en-US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</a:t>
            </a:r>
            <a:r>
              <a:rPr lang="zh-TW" altLang="en-US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能被</a:t>
            </a:r>
            <a:r>
              <a:rPr lang="en-US" altLang="zh-TW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r>
              <a:rPr lang="zh-TW" altLang="en-US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整除</a:t>
            </a:r>
            <a:r>
              <a:rPr lang="en-US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)、</a:t>
            </a:r>
            <a:r>
              <a:rPr lang="zh-TW" altLang="en-US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充電槍數量 </a:t>
            </a:r>
            <a:r>
              <a:rPr lang="en-US" altLang="zh-TW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</a:t>
            </a:r>
            <a:r>
              <a:rPr lang="zh-TW" altLang="en-US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或 </a:t>
            </a:r>
            <a:r>
              <a:rPr lang="en-US" altLang="zh-TW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per REC BD)</a:t>
            </a:r>
            <a:r>
              <a:rPr lang="zh-TW" altLang="en-US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altLang="zh-TW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REC BD </a:t>
            </a:r>
            <a:r>
              <a:rPr lang="en-US" altLang="zh-TW" sz="1100" dirty="0" err="1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數量</a:t>
            </a:r>
            <a:r>
              <a:rPr lang="en-US" altLang="zh-TW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</a:t>
            </a:r>
            <a:r>
              <a:rPr lang="zh-TW" altLang="en-US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</a:t>
            </a:r>
            <a:r>
              <a:rPr lang="en-US" altLang="zh-TW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16)</a:t>
            </a:r>
            <a:endParaRPr lang="en-US" sz="11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E07F596-BA5C-8E83-3C3B-A28FA74CE57E}"/>
              </a:ext>
            </a:extLst>
          </p:cNvPr>
          <p:cNvSpPr/>
          <p:nvPr/>
        </p:nvSpPr>
        <p:spPr>
          <a:xfrm>
            <a:off x="2926080" y="35295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5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E66BCF1A-7489-36EF-229A-B636F75A8C53}"/>
              </a:ext>
            </a:extLst>
          </p:cNvPr>
          <p:cNvSpPr/>
          <p:nvPr/>
        </p:nvSpPr>
        <p:spPr>
          <a:xfrm>
            <a:off x="640080" y="3794760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1E2761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2A4936A2-88A1-700E-CE95-3841A2C55D88}"/>
              </a:ext>
            </a:extLst>
          </p:cNvPr>
          <p:cNvSpPr/>
          <p:nvPr/>
        </p:nvSpPr>
        <p:spPr>
          <a:xfrm>
            <a:off x="914400" y="394106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775BFBE-817A-669E-AF3E-6AA9E4C3D8C8}"/>
              </a:ext>
            </a:extLst>
          </p:cNvPr>
          <p:cNvSpPr/>
          <p:nvPr/>
        </p:nvSpPr>
        <p:spPr>
          <a:xfrm>
            <a:off x="914400" y="3941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992511CA-9C18-287D-3DF4-7447686DD8F1}"/>
              </a:ext>
            </a:extLst>
          </p:cNvPr>
          <p:cNvSpPr/>
          <p:nvPr/>
        </p:nvSpPr>
        <p:spPr>
          <a:xfrm>
            <a:off x="1463040" y="39227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SystemTopology 初始化</a:t>
            </a:r>
            <a:endParaRPr lang="en-US" sz="145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3F6872D2-458B-2E7A-662E-AD0B74194900}"/>
              </a:ext>
            </a:extLst>
          </p:cNvPr>
          <p:cNvSpPr/>
          <p:nvPr/>
        </p:nvSpPr>
        <p:spPr>
          <a:xfrm>
            <a:off x="1463040" y="43068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開機時依 Config 長出 runtime </a:t>
            </a:r>
            <a:r>
              <a:rPr lang="en-US" sz="1100" dirty="0" err="1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拓撲</a:t>
            </a:r>
            <a:endParaRPr lang="en-US" sz="1100" dirty="0">
              <a:solidFill>
                <a:srgbClr val="CADCFC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（一次建立、凍結不變）</a:t>
            </a:r>
            <a:endParaRPr lang="en-US" sz="11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F53C393B-F5A2-AF40-03B0-542EA14E949D}"/>
              </a:ext>
            </a:extLst>
          </p:cNvPr>
          <p:cNvSpPr/>
          <p:nvPr/>
        </p:nvSpPr>
        <p:spPr>
          <a:xfrm>
            <a:off x="2926080" y="476402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5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D6FD0CA1-4F43-DD0D-731D-97216464958C}"/>
              </a:ext>
            </a:extLst>
          </p:cNvPr>
          <p:cNvSpPr/>
          <p:nvPr/>
        </p:nvSpPr>
        <p:spPr>
          <a:xfrm>
            <a:off x="640080" y="5029200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B8570F89-C546-02FB-26C3-0C2498398447}"/>
              </a:ext>
            </a:extLst>
          </p:cNvPr>
          <p:cNvSpPr/>
          <p:nvPr/>
        </p:nvSpPr>
        <p:spPr>
          <a:xfrm>
            <a:off x="914400" y="51755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0A4283EF-62A9-6C29-B6AD-CFB1181A9631}"/>
              </a:ext>
            </a:extLst>
          </p:cNvPr>
          <p:cNvSpPr/>
          <p:nvPr/>
        </p:nvSpPr>
        <p:spPr>
          <a:xfrm>
            <a:off x="914400" y="5175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3DC74EDF-F559-0612-643A-AEA3375AF59F}"/>
              </a:ext>
            </a:extLst>
          </p:cNvPr>
          <p:cNvSpPr/>
          <p:nvPr/>
        </p:nvSpPr>
        <p:spPr>
          <a:xfrm>
            <a:off x="1463040" y="51572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演算法運算</a:t>
            </a:r>
            <a:endParaRPr lang="en-US" sz="145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520D69B3-3C6A-8DE3-75E9-5A6645BDE032}"/>
              </a:ext>
            </a:extLst>
          </p:cNvPr>
          <p:cNvSpPr/>
          <p:nvPr/>
        </p:nvSpPr>
        <p:spPr>
          <a:xfrm>
            <a:off x="1463040" y="55412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基於長出的拓撲進行借電 / 來車決策</a:t>
            </a:r>
            <a:endParaRPr lang="en-US" sz="11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509D43A1-F6C1-8DE1-3900-ADDDD2803AAC}"/>
              </a:ext>
            </a:extLst>
          </p:cNvPr>
          <p:cNvSpPr/>
          <p:nvPr/>
        </p:nvSpPr>
        <p:spPr>
          <a:xfrm>
            <a:off x="5989320" y="21031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設計原則</a:t>
            </a:r>
            <a:endParaRPr lang="en-US" sz="150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BAF0A26F-E27E-8F9D-6CD2-D4828E6C1961}"/>
              </a:ext>
            </a:extLst>
          </p:cNvPr>
          <p:cNvSpPr/>
          <p:nvPr/>
        </p:nvSpPr>
        <p:spPr>
          <a:xfrm>
            <a:off x="5989320" y="2560320"/>
            <a:ext cx="55778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5D3FFDC8-400C-A1E3-8C36-E12F39713B03}"/>
              </a:ext>
            </a:extLst>
          </p:cNvPr>
          <p:cNvSpPr/>
          <p:nvPr/>
        </p:nvSpPr>
        <p:spPr>
          <a:xfrm>
            <a:off x="6309360" y="2816352"/>
            <a:ext cx="73152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CFDAE6FB-0DB1-4105-90AC-C52DBAFBB808}"/>
              </a:ext>
            </a:extLst>
          </p:cNvPr>
          <p:cNvSpPr/>
          <p:nvPr/>
        </p:nvSpPr>
        <p:spPr>
          <a:xfrm>
            <a:off x="6583680" y="270662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以「SMR</a:t>
            </a:r>
            <a:r>
              <a:rPr lang="zh-TW" alt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Group 數量」為判斷單位</a:t>
            </a:r>
            <a:endParaRPr lang="en-US" sz="145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5DEC7729-0D06-21EC-7151-E0E96AF7ADF7}"/>
              </a:ext>
            </a:extLst>
          </p:cNvPr>
          <p:cNvSpPr/>
          <p:nvPr/>
        </p:nvSpPr>
        <p:spPr>
          <a:xfrm>
            <a:off x="6583680" y="31089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一律以 2 個 Group 為單位運算，不硬編碼 125kW 等功率字面值。</a:t>
            </a:r>
            <a:endParaRPr lang="en-US" sz="115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96C3BBFE-9834-CF23-00C0-5354A35FD9B8}"/>
              </a:ext>
            </a:extLst>
          </p:cNvPr>
          <p:cNvSpPr/>
          <p:nvPr/>
        </p:nvSpPr>
        <p:spPr>
          <a:xfrm>
            <a:off x="5989320" y="3794760"/>
            <a:ext cx="55778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718BBF5E-34C8-4AEC-6E72-15836D5F8ED6}"/>
              </a:ext>
            </a:extLst>
          </p:cNvPr>
          <p:cNvSpPr/>
          <p:nvPr/>
        </p:nvSpPr>
        <p:spPr>
          <a:xfrm>
            <a:off x="6309360" y="4050792"/>
            <a:ext cx="73152" cy="566928"/>
          </a:xfrm>
          <a:prstGeom prst="rect">
            <a:avLst/>
          </a:prstGeom>
          <a:solidFill>
            <a:srgbClr val="8A96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24A134D9-5A7B-6F37-8DA6-106656EB8906}"/>
              </a:ext>
            </a:extLst>
          </p:cNvPr>
          <p:cNvSpPr/>
          <p:nvPr/>
        </p:nvSpPr>
        <p:spPr>
          <a:xfrm>
            <a:off x="6583680" y="394106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模組容量可變</a:t>
            </a:r>
            <a:endParaRPr lang="en-US" sz="1450" dirty="0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D579CD6A-C436-2597-CB1B-925BC3F22D51}"/>
              </a:ext>
            </a:extLst>
          </p:cNvPr>
          <p:cNvSpPr/>
          <p:nvPr/>
        </p:nvSpPr>
        <p:spPr>
          <a:xfrm>
            <a:off x="6583680" y="43434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SMR 支援 50 / 75kW 等組合；容量改變不影響演算法邏輯。</a:t>
            </a:r>
            <a:endParaRPr lang="en-US" sz="1150" dirty="0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3F46CA79-848E-98CA-D320-DF50438B3C01}"/>
              </a:ext>
            </a:extLst>
          </p:cNvPr>
          <p:cNvSpPr/>
          <p:nvPr/>
        </p:nvSpPr>
        <p:spPr>
          <a:xfrm>
            <a:off x="5989320" y="5029200"/>
            <a:ext cx="55778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FBE230D0-F19D-E876-71F4-69FBEDA0A9BC}"/>
              </a:ext>
            </a:extLst>
          </p:cNvPr>
          <p:cNvSpPr/>
          <p:nvPr/>
        </p:nvSpPr>
        <p:spPr>
          <a:xfrm>
            <a:off x="6309360" y="5285232"/>
            <a:ext cx="73152" cy="566928"/>
          </a:xfrm>
          <a:prstGeom prst="rect">
            <a:avLst/>
          </a:prstGeom>
          <a:solidFill>
            <a:srgbClr val="8A96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24DBC120-6B05-7208-DB5E-A6507A708FBD}"/>
              </a:ext>
            </a:extLst>
          </p:cNvPr>
          <p:cNvSpPr/>
          <p:nvPr/>
        </p:nvSpPr>
        <p:spPr>
          <a:xfrm>
            <a:off x="6583680" y="517550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係數可調</a:t>
            </a:r>
            <a:endParaRPr lang="en-US" sz="1450" dirty="0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F17D930A-8295-BCC9-8CBA-37B63A4CD647}"/>
              </a:ext>
            </a:extLst>
          </p:cNvPr>
          <p:cNvSpPr/>
          <p:nvPr/>
        </p:nvSpPr>
        <p:spPr>
          <a:xfrm>
            <a:off x="6583680" y="557784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0.95 / 0.9 等門檻實作為可調參數，適應不同站點特性。</a:t>
            </a:r>
            <a:endParaRPr lang="en-US" sz="1150" dirty="0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6BAF3DEB-53F8-4939-CD4D-BBA626E0DA96}"/>
              </a:ext>
            </a:extLst>
          </p:cNvPr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價值：同一套演算法核心涵蓋未來多種硬體組態，成為真正可移植的模組。</a:t>
            </a:r>
            <a:endParaRPr lang="en-US" sz="1300" dirty="0"/>
          </a:p>
        </p:txBody>
      </p:sp>
      <p:pic>
        <p:nvPicPr>
          <p:cNvPr id="37" name="圖片 36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5989E457-7BAE-A0C1-05AD-B99CFEBD1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1508" y="1051460"/>
            <a:ext cx="2381372" cy="129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43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4342EE-44FA-59CC-FD88-9D284ECA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>
                <a:latin typeface="DeltaSans" panose="020B0502030000000004" pitchFamily="34" charset="0"/>
              </a:rPr>
              <a:t>關鍵架構決策</a:t>
            </a:r>
            <a:r>
              <a:rPr lang="en-US" altLang="zh-TW" dirty="0">
                <a:latin typeface="DeltaSans" panose="020B0502030000000004" pitchFamily="34" charset="0"/>
              </a:rPr>
              <a:t>　</a:t>
            </a:r>
            <a:r>
              <a:rPr lang="zh-TW" altLang="en-US" dirty="0">
                <a:latin typeface="DeltaSans" panose="020B0502030000000004" pitchFamily="34" charset="0"/>
              </a:rPr>
              <a:t>模組化封裝交付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EF251A73-77A0-C62A-32FC-F7A66716F8A3}"/>
              </a:ext>
            </a:extLst>
          </p:cNvPr>
          <p:cNvSpPr/>
          <p:nvPr/>
        </p:nvSpPr>
        <p:spPr>
          <a:xfrm>
            <a:off x="640080" y="1691640"/>
            <a:ext cx="4754880" cy="4480560"/>
          </a:xfrm>
          <a:prstGeom prst="roundRect">
            <a:avLst>
              <a:gd name="adj" fmla="val 1837"/>
            </a:avLst>
          </a:prstGeom>
          <a:solidFill>
            <a:srgbClr val="1E2761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A4AC67-C2E3-153A-A83F-5531D7B5EF5D}"/>
              </a:ext>
            </a:extLst>
          </p:cNvPr>
          <p:cNvSpPr/>
          <p:nvPr/>
        </p:nvSpPr>
        <p:spPr>
          <a:xfrm>
            <a:off x="96012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需求方期望</a:t>
            </a:r>
            <a:endParaRPr lang="en-US" sz="12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F662C7C-80AE-D2AD-132A-2B37E9FC9729}"/>
              </a:ext>
            </a:extLst>
          </p:cNvPr>
          <p:cNvSpPr/>
          <p:nvPr/>
        </p:nvSpPr>
        <p:spPr>
          <a:xfrm>
            <a:off x="960120" y="23317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把演算法當作「函式庫」使用</a:t>
            </a:r>
            <a:endParaRPr lang="en-US" sz="20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574106A-3A28-84FB-37BB-FEDF01478D69}"/>
              </a:ext>
            </a:extLst>
          </p:cNvPr>
          <p:cNvSpPr/>
          <p:nvPr/>
        </p:nvSpPr>
        <p:spPr>
          <a:xfrm>
            <a:off x="960120" y="30632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只需提供 API、資料結構與使用說明，無須理解內部實作。</a:t>
            </a:r>
            <a:endParaRPr lang="en-US" sz="135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8E27CB68-01B3-42B8-87C6-7B07C074C927}"/>
              </a:ext>
            </a:extLst>
          </p:cNvPr>
          <p:cNvSpPr/>
          <p:nvPr/>
        </p:nvSpPr>
        <p:spPr>
          <a:xfrm>
            <a:off x="960120" y="3977640"/>
            <a:ext cx="640080" cy="45720"/>
          </a:xfrm>
          <a:prstGeom prst="rect">
            <a:avLst/>
          </a:prstGeom>
          <a:solidFill>
            <a:srgbClr val="F2C5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6D7C0B7-0FB7-C727-D8E9-608891694911}"/>
              </a:ext>
            </a:extLst>
          </p:cNvPr>
          <p:cNvSpPr/>
          <p:nvPr/>
        </p:nvSpPr>
        <p:spPr>
          <a:xfrm>
            <a:off x="960120" y="4160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策略價值</a:t>
            </a:r>
            <a:endParaRPr lang="en-US" sz="12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218CCA29-392F-5C21-788D-57673C18F39F}"/>
              </a:ext>
            </a:extLst>
          </p:cNvPr>
          <p:cNvSpPr/>
          <p:nvPr/>
        </p:nvSpPr>
        <p:spPr>
          <a:xfrm>
            <a:off x="960120" y="448056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演算法成為可跨產品線複用的核心資產；未來可整包移植至對方控制器韌體。</a:t>
            </a:r>
            <a:endParaRPr lang="en-US" sz="145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3CB9A4C-2E22-9DCF-B767-E52E70441AC7}"/>
              </a:ext>
            </a:extLst>
          </p:cNvPr>
          <p:cNvSpPr/>
          <p:nvPr/>
        </p:nvSpPr>
        <p:spPr>
          <a:xfrm>
            <a:off x="5806440" y="17830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三層解耦架構（雙方共識）</a:t>
            </a:r>
            <a:endParaRPr lang="en-US" sz="15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E8F143E2-580E-8AB2-2DEF-F03122823B90}"/>
              </a:ext>
            </a:extLst>
          </p:cNvPr>
          <p:cNvSpPr/>
          <p:nvPr/>
        </p:nvSpPr>
        <p:spPr>
          <a:xfrm>
            <a:off x="5806440" y="2331720"/>
            <a:ext cx="5760720" cy="1143000"/>
          </a:xfrm>
          <a:prstGeom prst="roundRect">
            <a:avLst>
              <a:gd name="adj" fmla="val 7200"/>
            </a:avLst>
          </a:prstGeom>
          <a:solidFill>
            <a:srgbClr val="6C79B8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82E05EFD-8A0E-E0EB-EE21-A0612B98BF2B}"/>
              </a:ext>
            </a:extLst>
          </p:cNvPr>
          <p:cNvSpPr/>
          <p:nvPr/>
        </p:nvSpPr>
        <p:spPr>
          <a:xfrm>
            <a:off x="6126480" y="27111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D4B72AD-CF02-EF6D-C6C8-9CFFCBE6AC10}"/>
              </a:ext>
            </a:extLst>
          </p:cNvPr>
          <p:cNvSpPr/>
          <p:nvPr/>
        </p:nvSpPr>
        <p:spPr>
          <a:xfrm>
            <a:off x="6126480" y="27111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1DD93A3A-E0FF-0EE2-99AB-D4420CB9267D}"/>
              </a:ext>
            </a:extLst>
          </p:cNvPr>
          <p:cNvSpPr/>
          <p:nvPr/>
        </p:nvSpPr>
        <p:spPr>
          <a:xfrm>
            <a:off x="6720840" y="25328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拓撲套用層</a:t>
            </a:r>
            <a:endParaRPr lang="en-US" sz="165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D57E2115-AE61-9508-202C-62232D3155BA}"/>
              </a:ext>
            </a:extLst>
          </p:cNvPr>
          <p:cNvSpPr/>
          <p:nvPr/>
        </p:nvSpPr>
        <p:spPr>
          <a:xfrm>
            <a:off x="6720840" y="29535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演算法基於長出的拓撲運算</a:t>
            </a:r>
            <a:endParaRPr lang="en-US" sz="125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BBC625E6-B649-E763-B6AF-7CCB5B801C32}"/>
              </a:ext>
            </a:extLst>
          </p:cNvPr>
          <p:cNvSpPr/>
          <p:nvPr/>
        </p:nvSpPr>
        <p:spPr>
          <a:xfrm>
            <a:off x="5806440" y="3675888"/>
            <a:ext cx="5760720" cy="1143000"/>
          </a:xfrm>
          <a:prstGeom prst="roundRect">
            <a:avLst>
              <a:gd name="adj" fmla="val 7200"/>
            </a:avLst>
          </a:prstGeom>
          <a:solidFill>
            <a:srgbClr val="3A4886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BBEFF762-2F58-F42A-9C8D-405D0AA61955}"/>
              </a:ext>
            </a:extLst>
          </p:cNvPr>
          <p:cNvSpPr/>
          <p:nvPr/>
        </p:nvSpPr>
        <p:spPr>
          <a:xfrm>
            <a:off x="6126480" y="405536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783A9EFE-E38F-A3FB-DDF9-CE09635BD8DC}"/>
              </a:ext>
            </a:extLst>
          </p:cNvPr>
          <p:cNvSpPr/>
          <p:nvPr/>
        </p:nvSpPr>
        <p:spPr>
          <a:xfrm>
            <a:off x="6126480" y="40553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1A93916E-8BF6-3774-D0D2-E426DA0CECD3}"/>
              </a:ext>
            </a:extLst>
          </p:cNvPr>
          <p:cNvSpPr/>
          <p:nvPr/>
        </p:nvSpPr>
        <p:spPr>
          <a:xfrm>
            <a:off x="6720840" y="387705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SystemTopology 模組</a:t>
            </a:r>
            <a:endParaRPr lang="en-US" sz="165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521CF87F-48D5-31C8-7C1B-1660DCECD2C1}"/>
              </a:ext>
            </a:extLst>
          </p:cNvPr>
          <p:cNvSpPr/>
          <p:nvPr/>
        </p:nvSpPr>
        <p:spPr>
          <a:xfrm>
            <a:off x="6720840" y="4297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開機依設定長出可變拓撲（模組數量等）</a:t>
            </a:r>
            <a:endParaRPr lang="en-US" sz="125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BFFFF78C-5475-4789-5502-4860A3B9FC94}"/>
              </a:ext>
            </a:extLst>
          </p:cNvPr>
          <p:cNvSpPr/>
          <p:nvPr/>
        </p:nvSpPr>
        <p:spPr>
          <a:xfrm>
            <a:off x="5806440" y="5020056"/>
            <a:ext cx="5760720" cy="1143000"/>
          </a:xfrm>
          <a:prstGeom prst="roundRect">
            <a:avLst>
              <a:gd name="adj" fmla="val 7200"/>
            </a:avLst>
          </a:prstGeom>
          <a:solidFill>
            <a:srgbClr val="1E2761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07C9A186-8B03-E233-BC13-A8B6FF6CCB36}"/>
              </a:ext>
            </a:extLst>
          </p:cNvPr>
          <p:cNvSpPr/>
          <p:nvPr/>
        </p:nvSpPr>
        <p:spPr>
          <a:xfrm>
            <a:off x="6126480" y="53995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6E2097BA-6FB2-6677-94AC-68320F1E67B2}"/>
              </a:ext>
            </a:extLst>
          </p:cNvPr>
          <p:cNvSpPr/>
          <p:nvPr/>
        </p:nvSpPr>
        <p:spPr>
          <a:xfrm>
            <a:off x="6126480" y="53995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E92B1E9F-EB46-6C44-5472-0D46B446F948}"/>
              </a:ext>
            </a:extLst>
          </p:cNvPr>
          <p:cNvSpPr/>
          <p:nvPr/>
        </p:nvSpPr>
        <p:spPr>
          <a:xfrm>
            <a:off x="6720840" y="52212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貪婪演算法層</a:t>
            </a:r>
            <a:endParaRPr lang="en-US" sz="1650" dirty="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29A616CE-7450-51A0-A443-754C1BC7D7A5}"/>
              </a:ext>
            </a:extLst>
          </p:cNvPr>
          <p:cNvSpPr/>
          <p:nvPr/>
        </p:nvSpPr>
        <p:spPr>
          <a:xfrm>
            <a:off x="6720840" y="56418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核心邏輯，先完成並凍結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708460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AB4CAB-7825-1C9D-57C7-4BC16733C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>
                <a:latin typeface="DeltaSans" panose="020B0502030000000004" pitchFamily="34" charset="0"/>
              </a:rPr>
              <a:t>風險提示</a:t>
            </a:r>
            <a:r>
              <a:rPr lang="en-US" altLang="zh-TW" dirty="0">
                <a:latin typeface="DeltaSans" panose="020B0502030000000004" pitchFamily="34" charset="0"/>
              </a:rPr>
              <a:t>　</a:t>
            </a:r>
            <a:r>
              <a:rPr lang="zh-TW" altLang="en-US" dirty="0">
                <a:latin typeface="DeltaSans" panose="020B0502030000000004" pitchFamily="34" charset="0"/>
              </a:rPr>
              <a:t>需求單位</a:t>
            </a:r>
            <a:r>
              <a:rPr lang="en-US" altLang="zh-TW" dirty="0">
                <a:latin typeface="DeltaSans" panose="020B0502030000000004" pitchFamily="34" charset="0"/>
              </a:rPr>
              <a:t> MCU </a:t>
            </a:r>
            <a:r>
              <a:rPr lang="en-US" altLang="zh-TW" dirty="0" err="1">
                <a:latin typeface="DeltaSans" panose="020B0502030000000004" pitchFamily="34" charset="0"/>
              </a:rPr>
              <a:t>實機整合時程</a:t>
            </a:r>
            <a:endParaRPr lang="zh-TW" altLang="en-US" dirty="0">
              <a:latin typeface="DeltaSans" panose="020B05020300000000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5DFF4FB8-8458-A0C1-41B1-0CDADB9DA2AD}"/>
              </a:ext>
            </a:extLst>
          </p:cNvPr>
          <p:cNvSpPr/>
          <p:nvPr/>
        </p:nvSpPr>
        <p:spPr>
          <a:xfrm>
            <a:off x="640080" y="1645920"/>
            <a:ext cx="10927080" cy="1097280"/>
          </a:xfrm>
          <a:prstGeom prst="roundRect">
            <a:avLst>
              <a:gd name="adj" fmla="val 7500"/>
            </a:avLst>
          </a:prstGeom>
          <a:solidFill>
            <a:srgbClr val="FDF4E3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825B0836-3DA2-75DC-3639-914D5F37EC02}"/>
              </a:ext>
            </a:extLst>
          </p:cNvPr>
          <p:cNvSpPr/>
          <p:nvPr/>
        </p:nvSpPr>
        <p:spPr>
          <a:xfrm>
            <a:off x="640080" y="1645920"/>
            <a:ext cx="91440" cy="109728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CFF8CE5-98D1-9197-6165-DDEC55956AA8}"/>
              </a:ext>
            </a:extLst>
          </p:cNvPr>
          <p:cNvSpPr/>
          <p:nvPr/>
        </p:nvSpPr>
        <p:spPr>
          <a:xfrm>
            <a:off x="960120" y="1938528"/>
            <a:ext cx="566928" cy="512064"/>
          </a:xfrm>
          <a:prstGeom prst="triangl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F9CA2C03-AB3F-258A-899B-17D5CFA623A2}"/>
              </a:ext>
            </a:extLst>
          </p:cNvPr>
          <p:cNvSpPr/>
          <p:nvPr/>
        </p:nvSpPr>
        <p:spPr>
          <a:xfrm>
            <a:off x="960120" y="2011680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E2811B8-0E3C-E1C5-C6F7-54D177DA3747}"/>
              </a:ext>
            </a:extLst>
          </p:cNvPr>
          <p:cNvSpPr/>
          <p:nvPr/>
        </p:nvSpPr>
        <p:spPr>
          <a:xfrm>
            <a:off x="1737360" y="184708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若要在</a:t>
            </a:r>
            <a:r>
              <a:rPr lang="en-US" sz="18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11–12 </a:t>
            </a:r>
            <a:r>
              <a:rPr lang="en-US" sz="1800" b="1" dirty="0" err="1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月完成「與</a:t>
            </a:r>
            <a:r>
              <a:rPr lang="zh-TW" altLang="en-US" sz="18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需求單位</a:t>
            </a:r>
            <a:r>
              <a:rPr lang="en-US" sz="18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MCU 實際整合」，時程恐不足。</a:t>
            </a:r>
            <a:endParaRPr lang="en-US" sz="18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6D01E7C-F4BC-499E-8493-9094491C65CE}"/>
              </a:ext>
            </a:extLst>
          </p:cNvPr>
          <p:cNvSpPr/>
          <p:nvPr/>
        </p:nvSpPr>
        <p:spPr>
          <a:xfrm>
            <a:off x="1737360" y="23042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A06A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此為</a:t>
            </a:r>
            <a:r>
              <a:rPr lang="zh-TW" altLang="en-US" sz="1300" dirty="0">
                <a:solidFill>
                  <a:srgbClr val="A06A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需求方</a:t>
            </a:r>
            <a:r>
              <a:rPr lang="en-US" sz="1300" dirty="0" err="1">
                <a:solidFill>
                  <a:srgbClr val="A06A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後來新增之期待，非原始規劃範圍</a:t>
            </a:r>
            <a:r>
              <a:rPr lang="en-US" sz="1300" dirty="0">
                <a:solidFill>
                  <a:srgbClr val="A06A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—— 需及早進行預期管理。</a:t>
            </a:r>
            <a:endParaRPr lang="en-US" sz="13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93259D18-EEB8-5BD2-2B03-9DB2E21E376E}"/>
              </a:ext>
            </a:extLst>
          </p:cNvPr>
          <p:cNvSpPr/>
          <p:nvPr/>
        </p:nvSpPr>
        <p:spPr>
          <a:xfrm>
            <a:off x="640080" y="3017520"/>
            <a:ext cx="5349240" cy="2926080"/>
          </a:xfrm>
          <a:prstGeom prst="roundRect">
            <a:avLst>
              <a:gd name="adj" fmla="val 2813"/>
            </a:avLst>
          </a:prstGeom>
          <a:solidFill>
            <a:srgbClr val="E9F1FC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68E6150A-277B-60D1-770E-84B097E5AD28}"/>
              </a:ext>
            </a:extLst>
          </p:cNvPr>
          <p:cNvSpPr/>
          <p:nvPr/>
        </p:nvSpPr>
        <p:spPr>
          <a:xfrm>
            <a:off x="1005840" y="327355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尚未討論的關鍵細節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876D598A-D53E-311F-8467-E92E46A509F5}"/>
              </a:ext>
            </a:extLst>
          </p:cNvPr>
          <p:cNvSpPr/>
          <p:nvPr/>
        </p:nvSpPr>
        <p:spPr>
          <a:xfrm>
            <a:off x="1005840" y="367588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以下三項目前雙方皆尚未展開討論：</a:t>
            </a:r>
            <a:endParaRPr lang="en-US" sz="125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19C14E23-F37A-EABC-CA82-9FBB50F3D87E}"/>
              </a:ext>
            </a:extLst>
          </p:cNvPr>
          <p:cNvSpPr/>
          <p:nvPr/>
        </p:nvSpPr>
        <p:spPr>
          <a:xfrm>
            <a:off x="1005840" y="4160520"/>
            <a:ext cx="73152" cy="457200"/>
          </a:xfrm>
          <a:prstGeom prst="rect">
            <a:avLst/>
          </a:prstGeom>
          <a:solidFill>
            <a:srgbClr val="8A96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B87974D-156A-6FF0-0FF8-BB168972BC29}"/>
              </a:ext>
            </a:extLst>
          </p:cNvPr>
          <p:cNvSpPr/>
          <p:nvPr/>
        </p:nvSpPr>
        <p:spPr>
          <a:xfrm>
            <a:off x="1243584" y="40873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介面規格</a:t>
            </a:r>
            <a:endParaRPr lang="en-US" sz="14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F8777F9E-2015-090D-AD79-6FAF72C0BBB5}"/>
              </a:ext>
            </a:extLst>
          </p:cNvPr>
          <p:cNvSpPr/>
          <p:nvPr/>
        </p:nvSpPr>
        <p:spPr>
          <a:xfrm>
            <a:off x="2743200" y="408736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模組間 API 與資料結構的實體對接定義</a:t>
            </a:r>
            <a:endParaRPr lang="en-US" sz="115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3893F88F-EBD5-A789-C5BD-2ECF5108881E}"/>
              </a:ext>
            </a:extLst>
          </p:cNvPr>
          <p:cNvSpPr/>
          <p:nvPr/>
        </p:nvSpPr>
        <p:spPr>
          <a:xfrm>
            <a:off x="1005840" y="4764024"/>
            <a:ext cx="73152" cy="457200"/>
          </a:xfrm>
          <a:prstGeom prst="rect">
            <a:avLst/>
          </a:prstGeom>
          <a:solidFill>
            <a:srgbClr val="8A96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FB70D55D-C198-2683-0F3E-0628B7237372}"/>
              </a:ext>
            </a:extLst>
          </p:cNvPr>
          <p:cNvSpPr/>
          <p:nvPr/>
        </p:nvSpPr>
        <p:spPr>
          <a:xfrm>
            <a:off x="1243584" y="4690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實際硬體限制</a:t>
            </a:r>
            <a:endParaRPr lang="en-US" sz="14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A302FC0A-E98F-6F3A-BFAA-F3CA9A87F0D8}"/>
              </a:ext>
            </a:extLst>
          </p:cNvPr>
          <p:cNvSpPr/>
          <p:nvPr/>
        </p:nvSpPr>
        <p:spPr>
          <a:xfrm>
            <a:off x="2743200" y="46908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廠商 MCU 的腳位、時序與電氣邊界</a:t>
            </a:r>
            <a:endParaRPr lang="en-US" sz="115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C6BCA82F-B65E-402A-FBB9-2DFBC379836C}"/>
              </a:ext>
            </a:extLst>
          </p:cNvPr>
          <p:cNvSpPr/>
          <p:nvPr/>
        </p:nvSpPr>
        <p:spPr>
          <a:xfrm>
            <a:off x="1005840" y="5367528"/>
            <a:ext cx="73152" cy="457200"/>
          </a:xfrm>
          <a:prstGeom prst="rect">
            <a:avLst/>
          </a:prstGeom>
          <a:solidFill>
            <a:srgbClr val="8A96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46FFFCEC-9ECA-0E09-EF9A-33C1DAAE1373}"/>
              </a:ext>
            </a:extLst>
          </p:cNvPr>
          <p:cNvSpPr/>
          <p:nvPr/>
        </p:nvSpPr>
        <p:spPr>
          <a:xfrm>
            <a:off x="1243584" y="529437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通訊協定</a:t>
            </a:r>
            <a:endParaRPr lang="en-US" sz="14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D5BF1CB2-3B5C-DA3A-6FC5-6E35629F6860}"/>
              </a:ext>
            </a:extLst>
          </p:cNvPr>
          <p:cNvSpPr/>
          <p:nvPr/>
        </p:nvSpPr>
        <p:spPr>
          <a:xfrm>
            <a:off x="2743200" y="529437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640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串口指令格式、交握與錯誤處理</a:t>
            </a:r>
            <a:endParaRPr lang="en-US" sz="115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90B8FE94-5064-F02D-A2CF-98D40833C228}"/>
              </a:ext>
            </a:extLst>
          </p:cNvPr>
          <p:cNvSpPr/>
          <p:nvPr/>
        </p:nvSpPr>
        <p:spPr>
          <a:xfrm>
            <a:off x="6217920" y="3017520"/>
            <a:ext cx="5349240" cy="2926080"/>
          </a:xfrm>
          <a:prstGeom prst="roundRect">
            <a:avLst>
              <a:gd name="adj" fmla="val 2813"/>
            </a:avLst>
          </a:prstGeom>
          <a:solidFill>
            <a:srgbClr val="1E2761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44C015AE-E2C9-429A-2A47-E15911084958}"/>
              </a:ext>
            </a:extLst>
          </p:cNvPr>
          <p:cNvSpPr/>
          <p:nvPr/>
        </p:nvSpPr>
        <p:spPr>
          <a:xfrm>
            <a:off x="6583680" y="327355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建議因應</a:t>
            </a:r>
            <a:endParaRPr lang="en-US" sz="160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CE7EE500-3538-132D-CD72-7C67F6FBD75E}"/>
              </a:ext>
            </a:extLst>
          </p:cNvPr>
          <p:cNvSpPr/>
          <p:nvPr/>
        </p:nvSpPr>
        <p:spPr>
          <a:xfrm>
            <a:off x="6583680" y="384048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E9FCEB85-38F2-D6B8-956C-C169B3C3794B}"/>
              </a:ext>
            </a:extLst>
          </p:cNvPr>
          <p:cNvSpPr/>
          <p:nvPr/>
        </p:nvSpPr>
        <p:spPr>
          <a:xfrm>
            <a:off x="658368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BBDB558F-90CA-341A-DD94-C0D98A349C03}"/>
              </a:ext>
            </a:extLst>
          </p:cNvPr>
          <p:cNvSpPr/>
          <p:nvPr/>
        </p:nvSpPr>
        <p:spPr>
          <a:xfrm>
            <a:off x="7132320" y="3794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預留至少 3 個月緩衝</a:t>
            </a:r>
            <a:endParaRPr lang="en-US" sz="145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350216DF-7656-4849-B1EF-46C8499A83DF}"/>
              </a:ext>
            </a:extLst>
          </p:cNvPr>
          <p:cNvSpPr/>
          <p:nvPr/>
        </p:nvSpPr>
        <p:spPr>
          <a:xfrm>
            <a:off x="7132320" y="41422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把介面討論、對接、驗證的時間拉進時程。</a:t>
            </a:r>
            <a:endParaRPr lang="en-US" sz="115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4A1B8942-A493-FBB9-447B-1676524F9FCE}"/>
              </a:ext>
            </a:extLst>
          </p:cNvPr>
          <p:cNvSpPr/>
          <p:nvPr/>
        </p:nvSpPr>
        <p:spPr>
          <a:xfrm>
            <a:off x="6583680" y="453542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A6AC225E-D14A-0A30-D5EB-2384AD7453E8}"/>
              </a:ext>
            </a:extLst>
          </p:cNvPr>
          <p:cNvSpPr/>
          <p:nvPr/>
        </p:nvSpPr>
        <p:spPr>
          <a:xfrm>
            <a:off x="6583680" y="4535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D378DEB1-A1EC-B4DC-ED79-3947EDF3C77B}"/>
              </a:ext>
            </a:extLst>
          </p:cNvPr>
          <p:cNvSpPr/>
          <p:nvPr/>
        </p:nvSpPr>
        <p:spPr>
          <a:xfrm>
            <a:off x="7132320" y="44897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盡早與</a:t>
            </a:r>
            <a:r>
              <a:rPr lang="zh-TW" alt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需求單位</a:t>
            </a:r>
            <a:r>
              <a:rPr lang="en-US" sz="145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溝通風險</a:t>
            </a:r>
            <a:endParaRPr lang="en-US" sz="1450" dirty="0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FF32C1F4-27F4-B9D0-E386-7C15340560B4}"/>
              </a:ext>
            </a:extLst>
          </p:cNvPr>
          <p:cNvSpPr/>
          <p:nvPr/>
        </p:nvSpPr>
        <p:spPr>
          <a:xfrm>
            <a:off x="7132320" y="48371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先講清楚，避免後段才發現時程落差。</a:t>
            </a:r>
            <a:endParaRPr lang="en-US" sz="1150" dirty="0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4DA0A775-07C3-2F83-EBEC-D2E307B9C605}"/>
              </a:ext>
            </a:extLst>
          </p:cNvPr>
          <p:cNvSpPr/>
          <p:nvPr/>
        </p:nvSpPr>
        <p:spPr>
          <a:xfrm>
            <a:off x="6583680" y="523036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D8A769B9-8FA3-7383-CE14-159855D3C1FF}"/>
              </a:ext>
            </a:extLst>
          </p:cNvPr>
          <p:cNvSpPr/>
          <p:nvPr/>
        </p:nvSpPr>
        <p:spPr>
          <a:xfrm>
            <a:off x="6583680" y="5230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20CA754C-AF5B-0846-6DB4-28B54BB40718}"/>
              </a:ext>
            </a:extLst>
          </p:cNvPr>
          <p:cNvSpPr/>
          <p:nvPr/>
        </p:nvSpPr>
        <p:spPr>
          <a:xfrm>
            <a:off x="7132320" y="5184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</a:t>
            </a:r>
            <a:r>
              <a:rPr lang="zh-TW" alt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告知</a:t>
            </a:r>
            <a:r>
              <a:rPr lang="en-US" sz="145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450" dirty="0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B28D8285-9FF5-9B66-6CA0-69A8185E7786}"/>
              </a:ext>
            </a:extLst>
          </p:cNvPr>
          <p:cNvSpPr/>
          <p:nvPr/>
        </p:nvSpPr>
        <p:spPr>
          <a:xfrm>
            <a:off x="7132320" y="5532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 err="1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告知</a:t>
            </a:r>
            <a:r>
              <a:rPr lang="zh-TW" alt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需求方</a:t>
            </a:r>
            <a:r>
              <a:rPr lang="en-US" sz="1150" dirty="0" err="1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目前為「模擬層級</a:t>
            </a: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」，非直接落地控制。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167177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">
            <a:extLst>
              <a:ext uri="{FF2B5EF4-FFF2-40B4-BE49-F238E27FC236}">
                <a16:creationId xmlns:a16="http://schemas.microsoft.com/office/drawing/2014/main" id="{9FA73176-2CB5-82A0-AFC7-7FEE05A2712A}"/>
              </a:ext>
            </a:extLst>
          </p:cNvPr>
          <p:cNvSpPr/>
          <p:nvPr/>
        </p:nvSpPr>
        <p:spPr>
          <a:xfrm>
            <a:off x="548640" y="1373777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1E2761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0" name="Shape 2">
            <a:extLst>
              <a:ext uri="{FF2B5EF4-FFF2-40B4-BE49-F238E27FC236}">
                <a16:creationId xmlns:a16="http://schemas.microsoft.com/office/drawing/2014/main" id="{A0E4E1BA-9094-7AB8-3BF7-265783D9D69C}"/>
              </a:ext>
            </a:extLst>
          </p:cNvPr>
          <p:cNvSpPr/>
          <p:nvPr/>
        </p:nvSpPr>
        <p:spPr>
          <a:xfrm>
            <a:off x="6019801" y="1359843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1E2761"/>
          </a:solidFill>
          <a:ln w="12700">
            <a:solidFill>
              <a:srgbClr val="D8E1F5"/>
            </a:solidFill>
            <a:prstDash val="solid"/>
          </a:ln>
          <a:effectLst>
            <a:outerShdw blurRad="88900" dist="38100" dir="5400000" algn="bl" rotWithShape="0">
              <a:srgbClr val="9AA4C8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B9DE169-9708-A60F-51BB-C3C9400B5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>
                <a:latin typeface="DeltaSans" panose="020B0502030000000004" pitchFamily="34" charset="0"/>
              </a:rPr>
              <a:t>時程</a:t>
            </a:r>
            <a:r>
              <a:rPr lang="zh-TW" altLang="en-US" dirty="0">
                <a:latin typeface="DeltaSans" panose="020B0502030000000004" pitchFamily="34" charset="0"/>
              </a:rPr>
              <a:t>、</a:t>
            </a:r>
            <a:r>
              <a:rPr lang="en-US" altLang="zh-TW" dirty="0" err="1">
                <a:latin typeface="DeltaSans" panose="020B0502030000000004" pitchFamily="34" charset="0"/>
              </a:rPr>
              <a:t>協作</a:t>
            </a:r>
            <a:r>
              <a:rPr lang="zh-TW" altLang="en-US" dirty="0">
                <a:latin typeface="DeltaSans" panose="020B0502030000000004" pitchFamily="34" charset="0"/>
              </a:rPr>
              <a:t>與結論</a:t>
            </a:r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2E47D7CE-6550-0E75-B3F9-CA42C0E1477B}"/>
              </a:ext>
            </a:extLst>
          </p:cNvPr>
          <p:cNvSpPr/>
          <p:nvPr/>
        </p:nvSpPr>
        <p:spPr>
          <a:xfrm>
            <a:off x="77724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時程與協作</a:t>
            </a:r>
            <a:endParaRPr lang="en-US" sz="1300" dirty="0"/>
          </a:p>
        </p:txBody>
      </p:sp>
      <p:sp>
        <p:nvSpPr>
          <p:cNvPr id="29" name="Shape 31">
            <a:extLst>
              <a:ext uri="{FF2B5EF4-FFF2-40B4-BE49-F238E27FC236}">
                <a16:creationId xmlns:a16="http://schemas.microsoft.com/office/drawing/2014/main" id="{A08FD4A2-9E78-F3E4-CBA9-FC6B01A1B2B3}"/>
              </a:ext>
            </a:extLst>
          </p:cNvPr>
          <p:cNvSpPr/>
          <p:nvPr/>
        </p:nvSpPr>
        <p:spPr>
          <a:xfrm>
            <a:off x="777240" y="242316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32">
            <a:extLst>
              <a:ext uri="{FF2B5EF4-FFF2-40B4-BE49-F238E27FC236}">
                <a16:creationId xmlns:a16="http://schemas.microsoft.com/office/drawing/2014/main" id="{8114375C-C4D3-6545-B9BA-418A98230020}"/>
              </a:ext>
            </a:extLst>
          </p:cNvPr>
          <p:cNvSpPr/>
          <p:nvPr/>
        </p:nvSpPr>
        <p:spPr>
          <a:xfrm>
            <a:off x="77724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61825381-34B4-8376-C7AA-C6E85A792CC1}"/>
              </a:ext>
            </a:extLst>
          </p:cNvPr>
          <p:cNvSpPr/>
          <p:nvPr/>
        </p:nvSpPr>
        <p:spPr>
          <a:xfrm>
            <a:off x="1325880" y="238658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演算法凍結</a:t>
            </a:r>
            <a:endParaRPr lang="en-US" sz="1450" dirty="0"/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179262B1-A666-31E6-ABF3-B58EDD0E3D00}"/>
              </a:ext>
            </a:extLst>
          </p:cNvPr>
          <p:cNvSpPr/>
          <p:nvPr/>
        </p:nvSpPr>
        <p:spPr>
          <a:xfrm>
            <a:off x="1325880" y="2697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核心貪婪邏輯完成、固定介面</a:t>
            </a:r>
            <a:endParaRPr lang="en-US" sz="1150" dirty="0"/>
          </a:p>
        </p:txBody>
      </p:sp>
      <p:sp>
        <p:nvSpPr>
          <p:cNvPr id="33" name="Shape 35">
            <a:extLst>
              <a:ext uri="{FF2B5EF4-FFF2-40B4-BE49-F238E27FC236}">
                <a16:creationId xmlns:a16="http://schemas.microsoft.com/office/drawing/2014/main" id="{FCC0B50A-0500-CAC0-841B-33680AAC13DC}"/>
              </a:ext>
            </a:extLst>
          </p:cNvPr>
          <p:cNvSpPr/>
          <p:nvPr/>
        </p:nvSpPr>
        <p:spPr>
          <a:xfrm>
            <a:off x="777240" y="308152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604EA7C7-9AB3-64C1-45E1-03B313E562E5}"/>
              </a:ext>
            </a:extLst>
          </p:cNvPr>
          <p:cNvSpPr/>
          <p:nvPr/>
        </p:nvSpPr>
        <p:spPr>
          <a:xfrm>
            <a:off x="777240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35" name="Text 37">
            <a:extLst>
              <a:ext uri="{FF2B5EF4-FFF2-40B4-BE49-F238E27FC236}">
                <a16:creationId xmlns:a16="http://schemas.microsoft.com/office/drawing/2014/main" id="{C4914821-8C02-54A3-0B56-DFC3F24798BB}"/>
              </a:ext>
            </a:extLst>
          </p:cNvPr>
          <p:cNvSpPr/>
          <p:nvPr/>
        </p:nvSpPr>
        <p:spPr>
          <a:xfrm>
            <a:off x="1325880" y="30449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SMR 可變量</a:t>
            </a:r>
            <a:endParaRPr lang="en-US" sz="1450" dirty="0"/>
          </a:p>
        </p:txBody>
      </p:sp>
      <p:sp>
        <p:nvSpPr>
          <p:cNvPr id="36" name="Text 38">
            <a:extLst>
              <a:ext uri="{FF2B5EF4-FFF2-40B4-BE49-F238E27FC236}">
                <a16:creationId xmlns:a16="http://schemas.microsoft.com/office/drawing/2014/main" id="{6D1D6C88-4A1A-4702-EEDB-9F474EA388EB}"/>
              </a:ext>
            </a:extLst>
          </p:cNvPr>
          <p:cNvSpPr/>
          <p:nvPr/>
        </p:nvSpPr>
        <p:spPr>
          <a:xfrm>
            <a:off x="1325880" y="33558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模組數量 / 容量可設定</a:t>
            </a:r>
            <a:endParaRPr lang="en-US" sz="1150" dirty="0"/>
          </a:p>
        </p:txBody>
      </p:sp>
      <p:sp>
        <p:nvSpPr>
          <p:cNvPr id="37" name="Shape 39">
            <a:extLst>
              <a:ext uri="{FF2B5EF4-FFF2-40B4-BE49-F238E27FC236}">
                <a16:creationId xmlns:a16="http://schemas.microsoft.com/office/drawing/2014/main" id="{BFF1C395-4450-D5EC-07C9-9B557AD2FF8A}"/>
              </a:ext>
            </a:extLst>
          </p:cNvPr>
          <p:cNvSpPr/>
          <p:nvPr/>
        </p:nvSpPr>
        <p:spPr>
          <a:xfrm>
            <a:off x="777240" y="373989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40">
            <a:extLst>
              <a:ext uri="{FF2B5EF4-FFF2-40B4-BE49-F238E27FC236}">
                <a16:creationId xmlns:a16="http://schemas.microsoft.com/office/drawing/2014/main" id="{31D9615E-DF98-1478-CA49-DA5E8FD02115}"/>
              </a:ext>
            </a:extLst>
          </p:cNvPr>
          <p:cNvSpPr/>
          <p:nvPr/>
        </p:nvSpPr>
        <p:spPr>
          <a:xfrm>
            <a:off x="777240" y="3739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39" name="Text 41">
            <a:extLst>
              <a:ext uri="{FF2B5EF4-FFF2-40B4-BE49-F238E27FC236}">
                <a16:creationId xmlns:a16="http://schemas.microsoft.com/office/drawing/2014/main" id="{30C527DE-392C-E7F9-9879-3E6D12E7B615}"/>
              </a:ext>
            </a:extLst>
          </p:cNvPr>
          <p:cNvSpPr/>
          <p:nvPr/>
        </p:nvSpPr>
        <p:spPr>
          <a:xfrm>
            <a:off x="1325880" y="3703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實機對接</a:t>
            </a:r>
            <a:endParaRPr lang="en-US" sz="1450" dirty="0"/>
          </a:p>
        </p:txBody>
      </p:sp>
      <p:sp>
        <p:nvSpPr>
          <p:cNvPr id="40" name="Text 42">
            <a:extLst>
              <a:ext uri="{FF2B5EF4-FFF2-40B4-BE49-F238E27FC236}">
                <a16:creationId xmlns:a16="http://schemas.microsoft.com/office/drawing/2014/main" id="{A7A5A74C-39CE-5147-08A7-C61D53A057F6}"/>
              </a:ext>
            </a:extLst>
          </p:cNvPr>
          <p:cNvSpPr/>
          <p:nvPr/>
        </p:nvSpPr>
        <p:spPr>
          <a:xfrm>
            <a:off x="1325880" y="401421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赴現場整合驗證（時程見風險頁）</a:t>
            </a:r>
            <a:endParaRPr lang="en-US" sz="1150" dirty="0"/>
          </a:p>
        </p:txBody>
      </p:sp>
      <p:sp>
        <p:nvSpPr>
          <p:cNvPr id="41" name="Shape 43">
            <a:extLst>
              <a:ext uri="{FF2B5EF4-FFF2-40B4-BE49-F238E27FC236}">
                <a16:creationId xmlns:a16="http://schemas.microsoft.com/office/drawing/2014/main" id="{13E87A36-8F55-26F7-AB13-60CBF89A7854}"/>
              </a:ext>
            </a:extLst>
          </p:cNvPr>
          <p:cNvSpPr/>
          <p:nvPr/>
        </p:nvSpPr>
        <p:spPr>
          <a:xfrm>
            <a:off x="777240" y="4709160"/>
            <a:ext cx="4754880" cy="1005840"/>
          </a:xfrm>
          <a:prstGeom prst="roundRect">
            <a:avLst>
              <a:gd name="adj" fmla="val 5517"/>
            </a:avLst>
          </a:prstGeom>
          <a:solidFill>
            <a:schemeClr val="tx2">
              <a:lumMod val="75000"/>
            </a:schemeClr>
          </a:solidFill>
          <a:ln w="12700">
            <a:solidFill>
              <a:srgbClr val="33407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4">
            <a:extLst>
              <a:ext uri="{FF2B5EF4-FFF2-40B4-BE49-F238E27FC236}">
                <a16:creationId xmlns:a16="http://schemas.microsoft.com/office/drawing/2014/main" id="{5B92A565-491E-14C7-C468-60EE2CD1E38E}"/>
              </a:ext>
            </a:extLst>
          </p:cNvPr>
          <p:cNvSpPr/>
          <p:nvPr/>
        </p:nvSpPr>
        <p:spPr>
          <a:xfrm>
            <a:off x="1051560" y="470916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協作　</a:t>
            </a:r>
            <a:r>
              <a:rPr lang="en-US" sz="1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一日參訪口頭知會；長期駐點需正式通知信。
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年底前　</a:t>
            </a:r>
            <a:r>
              <a:rPr lang="en-US" sz="1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完成核心開發與模擬驗證。</a:t>
            </a:r>
            <a:endParaRPr lang="en-US" sz="1250" dirty="0"/>
          </a:p>
        </p:txBody>
      </p:sp>
      <p:sp>
        <p:nvSpPr>
          <p:cNvPr id="43" name="Text 45">
            <a:extLst>
              <a:ext uri="{FF2B5EF4-FFF2-40B4-BE49-F238E27FC236}">
                <a16:creationId xmlns:a16="http://schemas.microsoft.com/office/drawing/2014/main" id="{BDAD0169-CA22-C3EB-7E71-B13AC0CCA8D2}"/>
              </a:ext>
            </a:extLst>
          </p:cNvPr>
          <p:cNvSpPr/>
          <p:nvPr/>
        </p:nvSpPr>
        <p:spPr>
          <a:xfrm>
            <a:off x="6172200" y="2011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結論與後續</a:t>
            </a:r>
            <a:endParaRPr lang="en-US" sz="1300" dirty="0"/>
          </a:p>
        </p:txBody>
      </p:sp>
      <p:sp>
        <p:nvSpPr>
          <p:cNvPr id="44" name="Shape 46">
            <a:extLst>
              <a:ext uri="{FF2B5EF4-FFF2-40B4-BE49-F238E27FC236}">
                <a16:creationId xmlns:a16="http://schemas.microsoft.com/office/drawing/2014/main" id="{55937AC0-35D3-2115-DF46-8FC03AA46846}"/>
              </a:ext>
            </a:extLst>
          </p:cNvPr>
          <p:cNvSpPr/>
          <p:nvPr/>
        </p:nvSpPr>
        <p:spPr>
          <a:xfrm>
            <a:off x="6172200" y="242316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7">
            <a:extLst>
              <a:ext uri="{FF2B5EF4-FFF2-40B4-BE49-F238E27FC236}">
                <a16:creationId xmlns:a16="http://schemas.microsoft.com/office/drawing/2014/main" id="{36E32D7A-26CE-32C5-112D-13AD20E4CAC5}"/>
              </a:ext>
            </a:extLst>
          </p:cNvPr>
          <p:cNvSpPr/>
          <p:nvPr/>
        </p:nvSpPr>
        <p:spPr>
          <a:xfrm>
            <a:off x="617220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48">
            <a:extLst>
              <a:ext uri="{FF2B5EF4-FFF2-40B4-BE49-F238E27FC236}">
                <a16:creationId xmlns:a16="http://schemas.microsoft.com/office/drawing/2014/main" id="{868048D4-D501-6C73-D71D-39F2615077A5}"/>
              </a:ext>
            </a:extLst>
          </p:cNvPr>
          <p:cNvSpPr/>
          <p:nvPr/>
        </p:nvSpPr>
        <p:spPr>
          <a:xfrm>
            <a:off x="6720840" y="238658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需求已對齊</a:t>
            </a:r>
            <a:endParaRPr lang="en-US" sz="1450" dirty="0"/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7BC123AF-3D61-7618-9B38-3AC4667859FC}"/>
              </a:ext>
            </a:extLst>
          </p:cNvPr>
          <p:cNvSpPr/>
          <p:nvPr/>
        </p:nvSpPr>
        <p:spPr>
          <a:xfrm>
            <a:off x="6720840" y="26974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</a:t>
            </a:r>
            <a:r>
              <a:rPr lang="en-US" sz="1150" dirty="0" err="1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規格凍結，風險可控</a:t>
            </a: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50" dirty="0"/>
          </a:p>
        </p:txBody>
      </p:sp>
      <p:sp>
        <p:nvSpPr>
          <p:cNvPr id="48" name="Shape 50">
            <a:extLst>
              <a:ext uri="{FF2B5EF4-FFF2-40B4-BE49-F238E27FC236}">
                <a16:creationId xmlns:a16="http://schemas.microsoft.com/office/drawing/2014/main" id="{2315921E-7A51-8B36-9799-8541C6EAA8DD}"/>
              </a:ext>
            </a:extLst>
          </p:cNvPr>
          <p:cNvSpPr/>
          <p:nvPr/>
        </p:nvSpPr>
        <p:spPr>
          <a:xfrm>
            <a:off x="6172200" y="308152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Text 51">
            <a:extLst>
              <a:ext uri="{FF2B5EF4-FFF2-40B4-BE49-F238E27FC236}">
                <a16:creationId xmlns:a16="http://schemas.microsoft.com/office/drawing/2014/main" id="{9BF09603-C7B8-D0B7-F894-CAA75068876A}"/>
              </a:ext>
            </a:extLst>
          </p:cNvPr>
          <p:cNvSpPr/>
          <p:nvPr/>
        </p:nvSpPr>
        <p:spPr>
          <a:xfrm>
            <a:off x="6172200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50" name="Text 52">
            <a:extLst>
              <a:ext uri="{FF2B5EF4-FFF2-40B4-BE49-F238E27FC236}">
                <a16:creationId xmlns:a16="http://schemas.microsoft.com/office/drawing/2014/main" id="{5B770E92-B8A4-858A-292F-29398C80386D}"/>
              </a:ext>
            </a:extLst>
          </p:cNvPr>
          <p:cNvSpPr/>
          <p:nvPr/>
        </p:nvSpPr>
        <p:spPr>
          <a:xfrm>
            <a:off x="6720840" y="30449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資產化交付</a:t>
            </a:r>
            <a:endParaRPr lang="en-US" sz="1450" dirty="0"/>
          </a:p>
        </p:txBody>
      </p:sp>
      <p:sp>
        <p:nvSpPr>
          <p:cNvPr id="51" name="Text 53">
            <a:extLst>
              <a:ext uri="{FF2B5EF4-FFF2-40B4-BE49-F238E27FC236}">
                <a16:creationId xmlns:a16="http://schemas.microsoft.com/office/drawing/2014/main" id="{44264B18-C9C6-46CF-A89F-010E11AAD1F4}"/>
              </a:ext>
            </a:extLst>
          </p:cNvPr>
          <p:cNvSpPr/>
          <p:nvPr/>
        </p:nvSpPr>
        <p:spPr>
          <a:xfrm>
            <a:off x="6720840" y="33558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封裝為可長期複用的核心資產。</a:t>
            </a:r>
            <a:endParaRPr lang="en-US" sz="1150" dirty="0"/>
          </a:p>
        </p:txBody>
      </p:sp>
      <p:sp>
        <p:nvSpPr>
          <p:cNvPr id="52" name="Shape 54">
            <a:extLst>
              <a:ext uri="{FF2B5EF4-FFF2-40B4-BE49-F238E27FC236}">
                <a16:creationId xmlns:a16="http://schemas.microsoft.com/office/drawing/2014/main" id="{83CED82F-BED3-545F-F6B3-0B48B7D37BB6}"/>
              </a:ext>
            </a:extLst>
          </p:cNvPr>
          <p:cNvSpPr/>
          <p:nvPr/>
        </p:nvSpPr>
        <p:spPr>
          <a:xfrm>
            <a:off x="6172200" y="373989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5">
            <a:extLst>
              <a:ext uri="{FF2B5EF4-FFF2-40B4-BE49-F238E27FC236}">
                <a16:creationId xmlns:a16="http://schemas.microsoft.com/office/drawing/2014/main" id="{F1C95D9D-2E95-F334-2B53-8738E5DACC00}"/>
              </a:ext>
            </a:extLst>
          </p:cNvPr>
          <p:cNvSpPr/>
          <p:nvPr/>
        </p:nvSpPr>
        <p:spPr>
          <a:xfrm>
            <a:off x="6172200" y="3739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54" name="Text 56">
            <a:extLst>
              <a:ext uri="{FF2B5EF4-FFF2-40B4-BE49-F238E27FC236}">
                <a16:creationId xmlns:a16="http://schemas.microsoft.com/office/drawing/2014/main" id="{E9723F7B-77C4-2CFA-05C2-6F237D46F4BC}"/>
              </a:ext>
            </a:extLst>
          </p:cNvPr>
          <p:cNvSpPr/>
          <p:nvPr/>
        </p:nvSpPr>
        <p:spPr>
          <a:xfrm>
            <a:off x="6720840" y="3703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定位透明</a:t>
            </a:r>
            <a:endParaRPr lang="en-US" sz="1450" dirty="0"/>
          </a:p>
        </p:txBody>
      </p:sp>
      <p:sp>
        <p:nvSpPr>
          <p:cNvPr id="55" name="Text 57">
            <a:extLst>
              <a:ext uri="{FF2B5EF4-FFF2-40B4-BE49-F238E27FC236}">
                <a16:creationId xmlns:a16="http://schemas.microsoft.com/office/drawing/2014/main" id="{65D0379A-8647-DD60-2978-EC6896BC3498}"/>
              </a:ext>
            </a:extLst>
          </p:cNvPr>
          <p:cNvSpPr/>
          <p:nvPr/>
        </p:nvSpPr>
        <p:spPr>
          <a:xfrm>
            <a:off x="6720840" y="401421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現為模擬層級，實機整合待介面討論。</a:t>
            </a:r>
            <a:endParaRPr lang="en-US" sz="1150" dirty="0"/>
          </a:p>
        </p:txBody>
      </p:sp>
      <p:sp>
        <p:nvSpPr>
          <p:cNvPr id="56" name="Shape 58">
            <a:extLst>
              <a:ext uri="{FF2B5EF4-FFF2-40B4-BE49-F238E27FC236}">
                <a16:creationId xmlns:a16="http://schemas.microsoft.com/office/drawing/2014/main" id="{DC9A39D6-A223-4B03-8043-51E6F5F9D186}"/>
              </a:ext>
            </a:extLst>
          </p:cNvPr>
          <p:cNvSpPr/>
          <p:nvPr/>
        </p:nvSpPr>
        <p:spPr>
          <a:xfrm>
            <a:off x="6172200" y="4572000"/>
            <a:ext cx="548640" cy="45720"/>
          </a:xfrm>
          <a:prstGeom prst="rect">
            <a:avLst/>
          </a:prstGeom>
          <a:solidFill>
            <a:srgbClr val="F2C5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9">
            <a:extLst>
              <a:ext uri="{FF2B5EF4-FFF2-40B4-BE49-F238E27FC236}">
                <a16:creationId xmlns:a16="http://schemas.microsoft.com/office/drawing/2014/main" id="{C4296C25-5FD5-463F-72E3-8C6B89B8A654}"/>
              </a:ext>
            </a:extLst>
          </p:cNvPr>
          <p:cNvSpPr/>
          <p:nvPr/>
        </p:nvSpPr>
        <p:spPr>
          <a:xfrm>
            <a:off x="6172200" y="46908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後續所需支持</a:t>
            </a:r>
            <a:endParaRPr lang="en-US" sz="1200" dirty="0"/>
          </a:p>
        </p:txBody>
      </p:sp>
      <p:sp>
        <p:nvSpPr>
          <p:cNvPr id="58" name="Text 60">
            <a:extLst>
              <a:ext uri="{FF2B5EF4-FFF2-40B4-BE49-F238E27FC236}">
                <a16:creationId xmlns:a16="http://schemas.microsoft.com/office/drawing/2014/main" id="{DBE915D0-392A-9228-A693-FD66F66F5660}"/>
              </a:ext>
            </a:extLst>
          </p:cNvPr>
          <p:cNvSpPr/>
          <p:nvPr/>
        </p:nvSpPr>
        <p:spPr>
          <a:xfrm>
            <a:off x="6172200" y="502920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實機整合階段赴現場協作</a:t>
            </a: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— 屆時差旅與正式協作通知，請予支持。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748661"/>
      </p:ext>
    </p:extLst>
  </p:cSld>
  <p:clrMapOvr>
    <a:masterClrMapping/>
  </p:clrMapOvr>
</p:sld>
</file>

<file path=ppt/theme/theme1.xml><?xml version="1.0" encoding="utf-8"?>
<a:theme xmlns:a="http://schemas.openxmlformats.org/drawingml/2006/main" name="Delta_PPTtemplate_16x9">
  <a:themeElements>
    <a:clrScheme name="自訂 2">
      <a:dk1>
        <a:sysClr val="windowText" lastClr="000000"/>
      </a:dk1>
      <a:lt1>
        <a:sysClr val="window" lastClr="FFFFFF"/>
      </a:lt1>
      <a:dk2>
        <a:srgbClr val="0087DC"/>
      </a:dk2>
      <a:lt2>
        <a:srgbClr val="FFFFFF"/>
      </a:lt2>
      <a:accent1>
        <a:srgbClr val="0087DC"/>
      </a:accent1>
      <a:accent2>
        <a:srgbClr val="64D7D7"/>
      </a:accent2>
      <a:accent3>
        <a:srgbClr val="B9EB5F"/>
      </a:accent3>
      <a:accent4>
        <a:srgbClr val="1E50C8"/>
      </a:accent4>
      <a:accent5>
        <a:srgbClr val="96E6BE"/>
      </a:accent5>
      <a:accent6>
        <a:srgbClr val="00BE50"/>
      </a:accent6>
      <a:hlink>
        <a:srgbClr val="0563C1"/>
      </a:hlink>
      <a:folHlink>
        <a:srgbClr val="BFBFBF"/>
      </a:folHlink>
    </a:clrScheme>
    <a:fontScheme name="自訂 3">
      <a:majorFont>
        <a:latin typeface="Arial"/>
        <a:ea typeface="Microsoft JhengHei"/>
        <a:cs typeface=""/>
      </a:majorFont>
      <a:minorFont>
        <a:latin typeface="Arial"/>
        <a:ea typeface="微軟正黑體"/>
        <a:cs typeface=""/>
      </a:minorFont>
    </a:fontScheme>
    <a:fmtScheme name="光暈邊緣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_PPTtemplate_16x9_EN" id="{AB7E8207-7EFD-42D6-915B-94A9E5ABAC21}" vid="{115B2ECF-35DF-4A82-A0C0-9889D580E896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2D5C310744894F83DF277C1CD253BD" ma:contentTypeVersion="2" ma:contentTypeDescription="Create a new document." ma:contentTypeScope="" ma:versionID="d79f480666873955d99122ef38b52de6">
  <xsd:schema xmlns:xsd="http://www.w3.org/2001/XMLSchema" xmlns:xs="http://www.w3.org/2001/XMLSchema" xmlns:p="http://schemas.microsoft.com/office/2006/metadata/properties" xmlns:ns1="http://schemas.microsoft.com/sharepoint/v3" xmlns:ns2="http://schemas.microsoft.com/sharepoint/v4" targetNamespace="http://schemas.microsoft.com/office/2006/metadata/properties" ma:root="true" ma:fieldsID="05456097f330d390441f7db4611e960c" ns1:_="" ns2:_="">
    <xsd:import namespace="http://schemas.microsoft.com/sharepoint/v3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1:LargeFileSize" minOccurs="0"/>
                <xsd:element ref="ns2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LargeFileSize" ma:index="8" nillable="true" ma:displayName="Linked File Size" ma:hidden="true" ma:internalName="LargeFileSiz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LargeFileSiz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F6F579-943F-43F1-8AB6-16D6436684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CE112A-FAEC-47BF-8EC4-A7322E256DFD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sharepoint/v4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6A2FFA44-0E4A-42EC-9014-7F24E7EC0A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2178</Words>
  <Application>Microsoft Office PowerPoint</Application>
  <PresentationFormat>寬螢幕</PresentationFormat>
  <Paragraphs>222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Microsoft JhengHei</vt:lpstr>
      <vt:lpstr>Arial</vt:lpstr>
      <vt:lpstr>Calibri</vt:lpstr>
      <vt:lpstr>Consolas</vt:lpstr>
      <vt:lpstr>DeltaSans</vt:lpstr>
      <vt:lpstr>Delta_PPTtemplate_16x9</vt:lpstr>
      <vt:lpstr>2026下半年路線圖</vt:lpstr>
      <vt:lpstr>目前實作已具備來車建議充電樁核心模組</vt:lpstr>
      <vt:lpstr>Relay 切換最小化 需求限制下的定位</vt:lpstr>
      <vt:lpstr>貪婪演算法設計　借電決策模型</vt:lpstr>
      <vt:lpstr>SMR Group 可變量設計</vt:lpstr>
      <vt:lpstr>關鍵架構決策　模組化封裝交付</vt:lpstr>
      <vt:lpstr>風險提示　需求單位 MCU 實機整合時程</vt:lpstr>
      <vt:lpstr>時程、協作與結論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JOHNNY.SHIH 施孟璁</dc:creator>
  <cp:lastModifiedBy>SONNY.LEE 李松年</cp:lastModifiedBy>
  <cp:revision>2649</cp:revision>
  <cp:lastPrinted>2023-09-28T02:57:40Z</cp:lastPrinted>
  <dcterms:created xsi:type="dcterms:W3CDTF">1601-01-01T00:00:00Z</dcterms:created>
  <dcterms:modified xsi:type="dcterms:W3CDTF">2026-08-21T00:13:57Z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ContentTypeId">
    <vt:lpwstr>0x010100F62D5C310744894F83DF277C1CD253BD</vt:lpwstr>
  </property>
</Properties>
</file>