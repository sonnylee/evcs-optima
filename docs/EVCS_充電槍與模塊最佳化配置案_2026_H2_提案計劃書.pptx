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4"/>
  </p:sldMasterIdLst>
  <p:notesMasterIdLst>
    <p:notesMasterId r:id="rId15"/>
  </p:notesMasterIdLst>
  <p:sldIdLst>
    <p:sldId id="270" r:id="rId5"/>
    <p:sldId id="2147482914" r:id="rId6"/>
    <p:sldId id="2147482917" r:id="rId7"/>
    <p:sldId id="2147482918" r:id="rId8"/>
    <p:sldId id="2147482919" r:id="rId9"/>
    <p:sldId id="1069" r:id="rId10"/>
    <p:sldId id="2147482913" r:id="rId11"/>
    <p:sldId id="2147482920" r:id="rId12"/>
    <p:sldId id="349" r:id="rId13"/>
    <p:sldId id="351" r:id="rId14"/>
  </p:sldIdLst>
  <p:sldSz cx="12192000" cy="6858000"/>
  <p:notesSz cx="6858000" cy="9144000"/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電池剩餘電量評估演算法-後續工作" id="{9AF45D97-1A3B-433F-9DE2-9D0FC4D1BA5D}">
          <p14:sldIdLst>
            <p14:sldId id="270"/>
            <p14:sldId id="2147482914"/>
            <p14:sldId id="2147482917"/>
            <p14:sldId id="2147482918"/>
            <p14:sldId id="2147482919"/>
            <p14:sldId id="1069"/>
            <p14:sldId id="2147482913"/>
            <p14:sldId id="2147482920"/>
            <p14:sldId id="349"/>
            <p14:sldId id="3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4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57" userDrawn="1">
          <p15:clr>
            <a:srgbClr val="A4A3A4"/>
          </p15:clr>
        </p15:guide>
        <p15:guide id="4" pos="7423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GHSIN.CHANG 張正欣" initials="C張" lastIdx="1" clrIdx="0">
    <p:extLst>
      <p:ext uri="{19B8F6BF-5375-455C-9EA6-DF929625EA0E}">
        <p15:presenceInfo xmlns:p15="http://schemas.microsoft.com/office/powerpoint/2012/main" userId="S-1-5-21-706670597-753717926-1206375605-4429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DF9"/>
    <a:srgbClr val="FFDC78"/>
    <a:srgbClr val="C5E9FF"/>
    <a:srgbClr val="1E50C8"/>
    <a:srgbClr val="64D7D7"/>
    <a:srgbClr val="C88C00"/>
    <a:srgbClr val="0087DC"/>
    <a:srgbClr val="00BE50"/>
    <a:srgbClr val="FFFFFF"/>
    <a:srgbClr val="FF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中等深淺樣式 1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30" autoAdjust="0"/>
    <p:restoredTop sz="90329" autoAdjust="0"/>
  </p:normalViewPr>
  <p:slideViewPr>
    <p:cSldViewPr showGuides="1">
      <p:cViewPr>
        <p:scale>
          <a:sx n="69" d="100"/>
          <a:sy n="69" d="100"/>
        </p:scale>
        <p:origin x="800" y="460"/>
      </p:cViewPr>
      <p:guideLst>
        <p:guide orient="horz" pos="2341"/>
        <p:guide pos="3840"/>
        <p:guide pos="257"/>
        <p:guide pos="7423"/>
        <p:guide orient="horz" pos="709"/>
        <p:guide orient="horz" pos="397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40E567-ED71-4247-9753-03009D4136B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AF721264-C258-4264-8E1A-6AC503B1531E}">
      <dgm:prSet phldrT="[文字]" custT="1"/>
      <dgm:spPr/>
      <dgm:t>
        <a:bodyPr anchor="ctr"/>
        <a:lstStyle/>
        <a:p>
          <a:r>
            <a:rPr lang="zh-TW" altLang="en-US" sz="1600" b="1" dirty="0">
              <a:latin typeface="+mn-lt"/>
              <a:ea typeface="微軟正黑體" panose="020B0604030504040204" pitchFamily="34" charset="-120"/>
            </a:rPr>
            <a:t>三層分離計設</a:t>
          </a:r>
        </a:p>
      </dgm:t>
    </dgm:pt>
    <dgm:pt modelId="{9AECEB3F-55B8-42FC-86C7-AFF054E7BBE7}" type="parTrans" cxnId="{76AA9668-EDAE-4DB9-A233-A0159A6FE78E}">
      <dgm:prSet/>
      <dgm:spPr/>
      <dgm:t>
        <a:bodyPr/>
        <a:lstStyle/>
        <a:p>
          <a:endParaRPr lang="zh-TW" altLang="en-US" sz="1600" b="1">
            <a:latin typeface="+mn-lt"/>
            <a:ea typeface="微軟正黑體" panose="020B0604030504040204" pitchFamily="34" charset="-120"/>
          </a:endParaRPr>
        </a:p>
      </dgm:t>
    </dgm:pt>
    <dgm:pt modelId="{80C0813F-A9DD-4051-A1FC-FDFC2637FA4D}" type="sibTrans" cxnId="{76AA9668-EDAE-4DB9-A233-A0159A6FE78E}">
      <dgm:prSet/>
      <dgm:spPr/>
      <dgm:t>
        <a:bodyPr/>
        <a:lstStyle/>
        <a:p>
          <a:endParaRPr lang="zh-TW" altLang="en-US" sz="1600" b="1">
            <a:latin typeface="+mn-lt"/>
            <a:ea typeface="微軟正黑體" panose="020B0604030504040204" pitchFamily="34" charset="-120"/>
          </a:endParaRPr>
        </a:p>
      </dgm:t>
    </dgm:pt>
    <dgm:pt modelId="{89E6477B-C911-438F-A884-BF1F659320D4}">
      <dgm:prSet phldrT="[文字]" custT="1"/>
      <dgm:spPr/>
      <dgm:t>
        <a:bodyPr anchor="ctr"/>
        <a:lstStyle/>
        <a:p>
          <a:r>
            <a:rPr lang="en-US" altLang="zh-TW" sz="1600" b="1" dirty="0">
              <a:latin typeface="+mn-lt"/>
              <a:ea typeface="微軟正黑體" panose="020B0604030504040204" pitchFamily="34" charset="-120"/>
            </a:rPr>
            <a:t>Simulation Layer</a:t>
          </a:r>
        </a:p>
        <a:p>
          <a:r>
            <a:rPr lang="en-US" altLang="zh-TW" sz="1600" b="1" dirty="0">
              <a:latin typeface="+mn-lt"/>
              <a:ea typeface="微軟正黑體" panose="020B0604030504040204" pitchFamily="34" charset="-120"/>
            </a:rPr>
            <a:t>(</a:t>
          </a:r>
          <a:r>
            <a:rPr lang="zh-TW" altLang="en-US" sz="1600" b="1" i="0" dirty="0">
              <a:latin typeface="+mn-lt"/>
              <a:ea typeface="微軟正黑體" panose="020B0604030504040204" pitchFamily="34" charset="-120"/>
            </a:rPr>
            <a:t>模擬驗證層</a:t>
          </a:r>
          <a:r>
            <a:rPr lang="en-US" altLang="zh-TW" sz="1600" b="1" dirty="0">
              <a:latin typeface="+mn-lt"/>
              <a:ea typeface="微軟正黑體" panose="020B0604030504040204" pitchFamily="34" charset="-120"/>
            </a:rPr>
            <a:t>)</a:t>
          </a:r>
          <a:endParaRPr lang="zh-TW" altLang="en-US" sz="1600" b="1" dirty="0">
            <a:latin typeface="+mn-lt"/>
            <a:ea typeface="微軟正黑體" panose="020B0604030504040204" pitchFamily="34" charset="-120"/>
          </a:endParaRPr>
        </a:p>
      </dgm:t>
    </dgm:pt>
    <dgm:pt modelId="{477DDF63-5500-41A0-939C-E4322F727A81}" type="parTrans" cxnId="{B074DE7A-284D-47ED-9749-E3C04EE6FC94}">
      <dgm:prSet/>
      <dgm:spPr/>
      <dgm:t>
        <a:bodyPr/>
        <a:lstStyle/>
        <a:p>
          <a:endParaRPr lang="zh-TW" altLang="en-US" sz="1600" b="1">
            <a:latin typeface="+mn-lt"/>
            <a:ea typeface="微軟正黑體" panose="020B0604030504040204" pitchFamily="34" charset="-120"/>
          </a:endParaRPr>
        </a:p>
      </dgm:t>
    </dgm:pt>
    <dgm:pt modelId="{97FE0184-27AA-4D73-A19D-D27C6ECAB925}" type="sibTrans" cxnId="{B074DE7A-284D-47ED-9749-E3C04EE6FC94}">
      <dgm:prSet/>
      <dgm:spPr/>
      <dgm:t>
        <a:bodyPr/>
        <a:lstStyle/>
        <a:p>
          <a:endParaRPr lang="zh-TW" altLang="en-US" sz="1600" b="1">
            <a:latin typeface="+mn-lt"/>
            <a:ea typeface="微軟正黑體" panose="020B0604030504040204" pitchFamily="34" charset="-120"/>
          </a:endParaRPr>
        </a:p>
      </dgm:t>
    </dgm:pt>
    <dgm:pt modelId="{90435B64-F53D-40C4-B08A-CD956340F41B}">
      <dgm:prSet phldrT="[文字]" custT="1"/>
      <dgm:spPr/>
      <dgm:t>
        <a:bodyPr anchor="ctr"/>
        <a:lstStyle/>
        <a:p>
          <a:r>
            <a:rPr lang="en-US" altLang="zh-TW" sz="1600" b="1" dirty="0">
              <a:latin typeface="+mn-lt"/>
              <a:ea typeface="微軟正黑體" panose="020B0604030504040204" pitchFamily="34" charset="-120"/>
            </a:rPr>
            <a:t>Controller Layer</a:t>
          </a:r>
        </a:p>
        <a:p>
          <a:r>
            <a:rPr lang="en-US" altLang="zh-TW" sz="1600" b="1" i="0" dirty="0">
              <a:latin typeface="+mn-lt"/>
              <a:ea typeface="微軟正黑體" panose="020B0604030504040204" pitchFamily="34" charset="-120"/>
            </a:rPr>
            <a:t>(</a:t>
          </a:r>
          <a:r>
            <a:rPr lang="zh-TW" altLang="en-US" sz="1600" b="1" i="0" dirty="0">
              <a:latin typeface="+mn-lt"/>
              <a:ea typeface="微軟正黑體" panose="020B0604030504040204" pitchFamily="34" charset="-120"/>
            </a:rPr>
            <a:t>控制業務層</a:t>
          </a:r>
          <a:r>
            <a:rPr lang="en-US" altLang="zh-TW" sz="1600" b="1" i="0" dirty="0">
              <a:latin typeface="+mn-lt"/>
              <a:ea typeface="微軟正黑體" panose="020B0604030504040204" pitchFamily="34" charset="-120"/>
            </a:rPr>
            <a:t>)</a:t>
          </a:r>
          <a:endParaRPr lang="zh-TW" altLang="en-US" sz="1600" b="1" dirty="0">
            <a:latin typeface="+mn-lt"/>
            <a:ea typeface="微軟正黑體" panose="020B0604030504040204" pitchFamily="34" charset="-120"/>
          </a:endParaRPr>
        </a:p>
      </dgm:t>
    </dgm:pt>
    <dgm:pt modelId="{476236DC-1227-4548-8FF3-E292CB887AC7}" type="parTrans" cxnId="{266F7069-A64C-4FCF-AD30-7CEAF721F84C}">
      <dgm:prSet/>
      <dgm:spPr/>
      <dgm:t>
        <a:bodyPr/>
        <a:lstStyle/>
        <a:p>
          <a:endParaRPr lang="zh-TW" altLang="en-US" sz="1600" b="1">
            <a:latin typeface="+mn-lt"/>
            <a:ea typeface="微軟正黑體" panose="020B0604030504040204" pitchFamily="34" charset="-120"/>
          </a:endParaRPr>
        </a:p>
      </dgm:t>
    </dgm:pt>
    <dgm:pt modelId="{E60A9E5D-8FA0-4CE3-A7BF-EC265D4409FC}" type="sibTrans" cxnId="{266F7069-A64C-4FCF-AD30-7CEAF721F84C}">
      <dgm:prSet/>
      <dgm:spPr/>
      <dgm:t>
        <a:bodyPr/>
        <a:lstStyle/>
        <a:p>
          <a:endParaRPr lang="zh-TW" altLang="en-US" sz="1600" b="1">
            <a:latin typeface="+mn-lt"/>
            <a:ea typeface="微軟正黑體" panose="020B0604030504040204" pitchFamily="34" charset="-120"/>
          </a:endParaRPr>
        </a:p>
      </dgm:t>
    </dgm:pt>
    <dgm:pt modelId="{666DB2EE-262E-418E-B9D6-0DC182C74224}">
      <dgm:prSet phldrT="[文字]" custT="1"/>
      <dgm:spPr/>
      <dgm:t>
        <a:bodyPr anchor="ctr"/>
        <a:lstStyle/>
        <a:p>
          <a:r>
            <a:rPr lang="en-US" altLang="zh-TW" sz="1600" b="1" dirty="0">
              <a:latin typeface="+mn-lt"/>
              <a:ea typeface="微軟正黑體" panose="020B0604030504040204" pitchFamily="34" charset="-120"/>
            </a:rPr>
            <a:t>Hardware Layer</a:t>
          </a:r>
        </a:p>
        <a:p>
          <a:r>
            <a:rPr lang="en-US" altLang="zh-TW" sz="1600" b="1" i="0" dirty="0">
              <a:latin typeface="+mn-lt"/>
              <a:ea typeface="微軟正黑體" panose="020B0604030504040204" pitchFamily="34" charset="-120"/>
            </a:rPr>
            <a:t>(</a:t>
          </a:r>
          <a:r>
            <a:rPr lang="zh-TW" altLang="en-US" sz="1600" b="1" i="0" dirty="0">
              <a:latin typeface="+mn-lt"/>
              <a:ea typeface="微軟正黑體" panose="020B0604030504040204" pitchFamily="34" charset="-120"/>
            </a:rPr>
            <a:t>硬體抽象層</a:t>
          </a:r>
          <a:r>
            <a:rPr lang="en-US" altLang="zh-TW" sz="1600" b="1" i="0" dirty="0">
              <a:latin typeface="+mn-lt"/>
              <a:ea typeface="微軟正黑體" panose="020B0604030504040204" pitchFamily="34" charset="-120"/>
            </a:rPr>
            <a:t>)</a:t>
          </a:r>
          <a:endParaRPr lang="zh-TW" altLang="en-US" sz="1600" b="1" dirty="0">
            <a:latin typeface="+mn-lt"/>
            <a:ea typeface="微軟正黑體" panose="020B0604030504040204" pitchFamily="34" charset="-120"/>
          </a:endParaRPr>
        </a:p>
      </dgm:t>
    </dgm:pt>
    <dgm:pt modelId="{0CAAEC63-DF96-4156-83D7-84EDEA3F8380}" type="parTrans" cxnId="{49783EBA-825E-44BA-9BD1-735B9175294D}">
      <dgm:prSet/>
      <dgm:spPr/>
      <dgm:t>
        <a:bodyPr/>
        <a:lstStyle/>
        <a:p>
          <a:endParaRPr lang="zh-TW" altLang="en-US" sz="1600" b="1">
            <a:latin typeface="+mn-lt"/>
            <a:ea typeface="微軟正黑體" panose="020B0604030504040204" pitchFamily="34" charset="-120"/>
          </a:endParaRPr>
        </a:p>
      </dgm:t>
    </dgm:pt>
    <dgm:pt modelId="{1FA6BB71-C69E-4604-A290-B2CDEEFBEAA0}" type="sibTrans" cxnId="{49783EBA-825E-44BA-9BD1-735B9175294D}">
      <dgm:prSet/>
      <dgm:spPr/>
      <dgm:t>
        <a:bodyPr/>
        <a:lstStyle/>
        <a:p>
          <a:endParaRPr lang="zh-TW" altLang="en-US" sz="1600" b="1">
            <a:latin typeface="+mn-lt"/>
            <a:ea typeface="微軟正黑體" panose="020B0604030504040204" pitchFamily="34" charset="-120"/>
          </a:endParaRPr>
        </a:p>
      </dgm:t>
    </dgm:pt>
    <dgm:pt modelId="{62A19024-5D3C-452B-A1EA-C1123DD5DC6E}">
      <dgm:prSet phldrT="[文字]" custT="1"/>
      <dgm:spPr/>
      <dgm:t>
        <a:bodyPr/>
        <a:lstStyle/>
        <a:p>
          <a:pPr>
            <a:buNone/>
          </a:pPr>
          <a:r>
            <a:rPr lang="zh-TW" altLang="en-US" sz="1600" b="0" i="0" dirty="0">
              <a:latin typeface="+mn-lt"/>
              <a:ea typeface="微軟正黑體" panose="020B0604030504040204" pitchFamily="34" charset="-120"/>
            </a:rPr>
            <a:t>事件驅動引擎</a:t>
          </a:r>
          <a:endParaRPr lang="zh-TW" altLang="en-US" sz="1600" b="1" dirty="0">
            <a:latin typeface="+mn-lt"/>
            <a:ea typeface="微軟正黑體" panose="020B0604030504040204" pitchFamily="34" charset="-120"/>
          </a:endParaRPr>
        </a:p>
      </dgm:t>
    </dgm:pt>
    <dgm:pt modelId="{49BB7703-F0BF-429E-B6AD-33592C4FAF06}" type="parTrans" cxnId="{345E9628-660F-45A1-8EFC-7CABAE837EA3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29A1FE38-8995-4BE7-A257-6FA82F1D4986}" type="sibTrans" cxnId="{345E9628-660F-45A1-8EFC-7CABAE837EA3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F0325B99-9F1C-4200-AEDC-037B2A6F6A60}">
      <dgm:prSet phldrT="[文字]" custT="1"/>
      <dgm:spPr/>
      <dgm:t>
        <a:bodyPr/>
        <a:lstStyle/>
        <a:p>
          <a:pPr>
            <a:buNone/>
          </a:pPr>
          <a:r>
            <a:rPr lang="zh-TW" altLang="en-US" sz="1600" b="0" i="0" dirty="0">
              <a:latin typeface="+mn-lt"/>
              <a:ea typeface="微軟正黑體" panose="020B0604030504040204" pitchFamily="34" charset="-120"/>
            </a:rPr>
            <a:t>訊息處理</a:t>
          </a:r>
          <a:endParaRPr lang="zh-TW" altLang="en-US" sz="1600" b="1" dirty="0">
            <a:latin typeface="+mn-lt"/>
            <a:ea typeface="微軟正黑體" panose="020B0604030504040204" pitchFamily="34" charset="-120"/>
          </a:endParaRPr>
        </a:p>
      </dgm:t>
    </dgm:pt>
    <dgm:pt modelId="{03B0C71D-788C-43D4-A06C-86026B98BEE6}" type="parTrans" cxnId="{20C7A24C-18B0-4465-B5C7-5B3FB27BF06B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F190ADF4-E681-4F3D-BC4E-FD38A8DE1618}" type="sibTrans" cxnId="{20C7A24C-18B0-4465-B5C7-5B3FB27BF06B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3B9E539C-7D65-4DCB-9AB5-C239B2173344}">
      <dgm:prSet phldrT="[文字]" custT="1"/>
      <dgm:spPr/>
      <dgm:t>
        <a:bodyPr/>
        <a:lstStyle/>
        <a:p>
          <a:pPr>
            <a:buNone/>
          </a:pPr>
          <a:r>
            <a:rPr lang="zh-TW" altLang="en-US" sz="1600" b="0" i="0" dirty="0">
              <a:latin typeface="+mn-lt"/>
              <a:ea typeface="微軟正黑體" panose="020B0604030504040204" pitchFamily="34" charset="-120"/>
            </a:rPr>
            <a:t>狀態顯示 </a:t>
          </a:r>
          <a:endParaRPr lang="zh-TW" altLang="en-US" sz="1600" b="1" dirty="0">
            <a:latin typeface="+mn-lt"/>
            <a:ea typeface="微軟正黑體" panose="020B0604030504040204" pitchFamily="34" charset="-120"/>
          </a:endParaRPr>
        </a:p>
      </dgm:t>
    </dgm:pt>
    <dgm:pt modelId="{5F823A40-4050-4628-96E1-672F5BCDB92C}" type="parTrans" cxnId="{1F5E007C-2A0E-4C04-ABA6-07F745BE1A0A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05B5E6E8-6A76-4F7B-A87E-443F218E646E}" type="sibTrans" cxnId="{1F5E007C-2A0E-4C04-ABA6-07F745BE1A0A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D5CDD038-02B2-4419-9F0F-D193F6EA49EC}">
      <dgm:prSet phldrT="[文字]" custT="1"/>
      <dgm:spPr/>
      <dgm:t>
        <a:bodyPr/>
        <a:lstStyle/>
        <a:p>
          <a:pPr>
            <a:buNone/>
          </a:pPr>
          <a:r>
            <a:rPr lang="zh-TW" altLang="en-US" sz="1600" b="0" i="0" dirty="0">
              <a:latin typeface="+mn-lt"/>
              <a:ea typeface="微軟正黑體" panose="020B0604030504040204" pitchFamily="34" charset="-120"/>
            </a:rPr>
            <a:t>業務邏輯</a:t>
          </a:r>
          <a:endParaRPr lang="zh-TW" altLang="en-US" sz="1600" b="1" dirty="0">
            <a:latin typeface="+mn-lt"/>
            <a:ea typeface="微軟正黑體" panose="020B0604030504040204" pitchFamily="34" charset="-120"/>
          </a:endParaRPr>
        </a:p>
      </dgm:t>
    </dgm:pt>
    <dgm:pt modelId="{A85D4C0E-BA42-4B3E-B0E1-2853F7976893}" type="parTrans" cxnId="{77DDA6BA-B0C9-4166-91BE-33C949ACC76D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370E0CC4-EC42-4C07-BCB8-D2E6D651B9FD}" type="sibTrans" cxnId="{77DDA6BA-B0C9-4166-91BE-33C949ACC76D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AF829D5B-1881-463B-B7B4-6A4B42E0816E}">
      <dgm:prSet phldrT="[文字]" custT="1"/>
      <dgm:spPr/>
      <dgm:t>
        <a:bodyPr/>
        <a:lstStyle/>
        <a:p>
          <a:pPr>
            <a:buNone/>
          </a:pPr>
          <a:r>
            <a:rPr lang="zh-TW" altLang="en-US" sz="1600" b="0" i="0" dirty="0">
              <a:latin typeface="+mn-lt"/>
              <a:ea typeface="微軟正黑體" panose="020B0604030504040204" pitchFamily="34" charset="-120"/>
            </a:rPr>
            <a:t>功率分配策略</a:t>
          </a:r>
          <a:endParaRPr lang="zh-TW" altLang="en-US" sz="1600" b="1" dirty="0">
            <a:latin typeface="+mn-lt"/>
            <a:ea typeface="微軟正黑體" panose="020B0604030504040204" pitchFamily="34" charset="-120"/>
          </a:endParaRPr>
        </a:p>
      </dgm:t>
    </dgm:pt>
    <dgm:pt modelId="{37FBDD65-7336-4733-AD8B-3D335A96A57E}" type="parTrans" cxnId="{BB4CBC0B-2999-4616-99A2-565924B12895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289D5FD4-1194-4C44-A20A-BD615D19676A}" type="sibTrans" cxnId="{BB4CBC0B-2999-4616-99A2-565924B12895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8B650A6E-1E6F-43BC-9694-E3377CFA7415}">
      <dgm:prSet phldrT="[文字]" custT="1"/>
      <dgm:spPr/>
      <dgm:t>
        <a:bodyPr/>
        <a:lstStyle/>
        <a:p>
          <a:pPr>
            <a:buNone/>
          </a:pPr>
          <a:r>
            <a:rPr lang="zh-TW" altLang="en-US" sz="1600" b="0" i="0" dirty="0">
              <a:latin typeface="+mn-lt"/>
              <a:ea typeface="微軟正黑體" panose="020B0604030504040204" pitchFamily="34" charset="-120"/>
            </a:rPr>
            <a:t>硬體抽象</a:t>
          </a:r>
          <a:endParaRPr lang="zh-TW" altLang="en-US" sz="1600" b="1" dirty="0">
            <a:latin typeface="+mn-lt"/>
            <a:ea typeface="微軟正黑體" panose="020B0604030504040204" pitchFamily="34" charset="-120"/>
          </a:endParaRPr>
        </a:p>
      </dgm:t>
    </dgm:pt>
    <dgm:pt modelId="{EDFC824A-0B74-4E9A-A1F8-9D1DBF2C4F7A}" type="parTrans" cxnId="{56AFAFB0-963F-4876-A316-7B925E607A82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A3CD5BCD-6927-4F76-80C3-5507350844C6}" type="sibTrans" cxnId="{56AFAFB0-963F-4876-A316-7B925E607A82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E3CF6E24-3016-49B9-B2C7-1536DF41F3AB}">
      <dgm:prSet phldrT="[文字]" custT="1"/>
      <dgm:spPr/>
      <dgm:t>
        <a:bodyPr/>
        <a:lstStyle/>
        <a:p>
          <a:pPr>
            <a:buNone/>
          </a:pPr>
          <a:r>
            <a:rPr lang="zh-TW" altLang="en-US" sz="1600" b="0" i="0" dirty="0">
              <a:latin typeface="+mn-lt"/>
              <a:ea typeface="微軟正黑體" panose="020B0604030504040204" pitchFamily="34" charset="-120"/>
            </a:rPr>
            <a:t>模組群組管理 </a:t>
          </a:r>
          <a:endParaRPr lang="zh-TW" altLang="en-US" sz="1600" b="1" dirty="0">
            <a:latin typeface="+mn-lt"/>
            <a:ea typeface="微軟正黑體" panose="020B0604030504040204" pitchFamily="34" charset="-120"/>
          </a:endParaRPr>
        </a:p>
      </dgm:t>
    </dgm:pt>
    <dgm:pt modelId="{51C25531-F8C5-4FC3-B50F-47AC996946A4}" type="parTrans" cxnId="{C2F23167-6956-4B7A-A46D-3EF49F582C8C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BAAD63E1-145A-4086-8C16-A1303274C7C5}" type="sibTrans" cxnId="{C2F23167-6956-4B7A-A46D-3EF49F582C8C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CEE93C08-21E3-489F-980E-44ACAF4A8A50}">
      <dgm:prSet phldrT="[文字]" custT="1"/>
      <dgm:spPr/>
      <dgm:t>
        <a:bodyPr/>
        <a:lstStyle/>
        <a:p>
          <a:pPr>
            <a:buNone/>
          </a:pPr>
          <a:r>
            <a:rPr lang="en-US" altLang="zh-TW" sz="1600" b="0" dirty="0">
              <a:latin typeface="+mn-lt"/>
              <a:ea typeface="微軟正黑體" panose="020B0604030504040204" pitchFamily="34" charset="-120"/>
            </a:rPr>
            <a:t>EV</a:t>
          </a:r>
          <a:r>
            <a:rPr lang="zh-TW" altLang="en-US" sz="1600" b="0" dirty="0">
              <a:latin typeface="+mn-lt"/>
              <a:ea typeface="微軟正黑體" panose="020B0604030504040204" pitchFamily="34" charset="-120"/>
            </a:rPr>
            <a:t>充電</a:t>
          </a:r>
          <a:r>
            <a:rPr lang="zh-TW" altLang="en-US" sz="1600" b="0" i="0" dirty="0">
              <a:latin typeface="+mn-lt"/>
              <a:ea typeface="微軟正黑體" panose="020B0604030504040204" pitchFamily="34" charset="-120"/>
            </a:rPr>
            <a:t>曲線</a:t>
          </a:r>
          <a:endParaRPr lang="zh-TW" altLang="en-US" sz="1600" b="0" dirty="0">
            <a:latin typeface="+mn-lt"/>
            <a:ea typeface="微軟正黑體" panose="020B0604030504040204" pitchFamily="34" charset="-120"/>
          </a:endParaRPr>
        </a:p>
      </dgm:t>
    </dgm:pt>
    <dgm:pt modelId="{9D955EF1-8E93-4648-861F-1C4ACE3CE633}" type="parTrans" cxnId="{5900491A-A027-4A35-96CF-05E617E6FE0F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0E6CF2FE-C916-4EC5-865C-2A50A50F00FF}" type="sibTrans" cxnId="{5900491A-A027-4A35-96CF-05E617E6FE0F}">
      <dgm:prSet/>
      <dgm:spPr/>
      <dgm:t>
        <a:bodyPr/>
        <a:lstStyle/>
        <a:p>
          <a:endParaRPr lang="zh-TW" altLang="en-US" sz="1600">
            <a:latin typeface="+mn-lt"/>
            <a:ea typeface="微軟正黑體" panose="020B0604030504040204" pitchFamily="34" charset="-120"/>
          </a:endParaRPr>
        </a:p>
      </dgm:t>
    </dgm:pt>
    <dgm:pt modelId="{A40ECB3A-ED82-4340-87A0-04DF595F8849}" type="pres">
      <dgm:prSet presAssocID="{7440E567-ED71-4247-9753-03009D4136B7}" presName="vert0" presStyleCnt="0">
        <dgm:presLayoutVars>
          <dgm:dir/>
          <dgm:animOne val="branch"/>
          <dgm:animLvl val="lvl"/>
        </dgm:presLayoutVars>
      </dgm:prSet>
      <dgm:spPr/>
    </dgm:pt>
    <dgm:pt modelId="{9B1B0561-AB0B-46B0-B5EB-EF0A4AB4AEC5}" type="pres">
      <dgm:prSet presAssocID="{AF721264-C258-4264-8E1A-6AC503B1531E}" presName="thickLine" presStyleLbl="alignNode1" presStyleIdx="0" presStyleCnt="1"/>
      <dgm:spPr/>
    </dgm:pt>
    <dgm:pt modelId="{547F2161-C2AC-4E3E-A5AD-DF9DC83AE51D}" type="pres">
      <dgm:prSet presAssocID="{AF721264-C258-4264-8E1A-6AC503B1531E}" presName="horz1" presStyleCnt="0"/>
      <dgm:spPr/>
    </dgm:pt>
    <dgm:pt modelId="{B301019C-698F-470B-B4AB-A9605EDABC1A}" type="pres">
      <dgm:prSet presAssocID="{AF721264-C258-4264-8E1A-6AC503B1531E}" presName="tx1" presStyleLbl="revTx" presStyleIdx="0" presStyleCnt="12"/>
      <dgm:spPr/>
    </dgm:pt>
    <dgm:pt modelId="{F7731BE9-0EA9-4691-8527-34E796DDB2D4}" type="pres">
      <dgm:prSet presAssocID="{AF721264-C258-4264-8E1A-6AC503B1531E}" presName="vert1" presStyleCnt="0"/>
      <dgm:spPr/>
    </dgm:pt>
    <dgm:pt modelId="{CFD2DF7E-9631-4F07-A547-3F71BC684B99}" type="pres">
      <dgm:prSet presAssocID="{89E6477B-C911-438F-A884-BF1F659320D4}" presName="vertSpace2a" presStyleCnt="0"/>
      <dgm:spPr/>
    </dgm:pt>
    <dgm:pt modelId="{936436FF-7654-4263-B770-411E362A2574}" type="pres">
      <dgm:prSet presAssocID="{89E6477B-C911-438F-A884-BF1F659320D4}" presName="horz2" presStyleCnt="0"/>
      <dgm:spPr/>
    </dgm:pt>
    <dgm:pt modelId="{B9CC12FD-DE66-475C-A225-248EEA6BAD31}" type="pres">
      <dgm:prSet presAssocID="{89E6477B-C911-438F-A884-BF1F659320D4}" presName="horzSpace2" presStyleCnt="0"/>
      <dgm:spPr/>
    </dgm:pt>
    <dgm:pt modelId="{7D541717-EE39-4D5F-BA38-705D3A7721FA}" type="pres">
      <dgm:prSet presAssocID="{89E6477B-C911-438F-A884-BF1F659320D4}" presName="tx2" presStyleLbl="revTx" presStyleIdx="1" presStyleCnt="12"/>
      <dgm:spPr/>
    </dgm:pt>
    <dgm:pt modelId="{D0E2BAD6-D442-446E-B484-43CDA2B34809}" type="pres">
      <dgm:prSet presAssocID="{89E6477B-C911-438F-A884-BF1F659320D4}" presName="vert2" presStyleCnt="0"/>
      <dgm:spPr/>
    </dgm:pt>
    <dgm:pt modelId="{B678C79B-513E-49E2-A7E8-E97CBA2DF3DD}" type="pres">
      <dgm:prSet presAssocID="{62A19024-5D3C-452B-A1EA-C1123DD5DC6E}" presName="horz3" presStyleCnt="0"/>
      <dgm:spPr/>
    </dgm:pt>
    <dgm:pt modelId="{7635D3E9-FB79-4F19-92DE-D6BBFAC40C52}" type="pres">
      <dgm:prSet presAssocID="{62A19024-5D3C-452B-A1EA-C1123DD5DC6E}" presName="horzSpace3" presStyleCnt="0"/>
      <dgm:spPr/>
    </dgm:pt>
    <dgm:pt modelId="{85E6E540-AA13-4B6F-A95E-B764FFB99BAB}" type="pres">
      <dgm:prSet presAssocID="{62A19024-5D3C-452B-A1EA-C1123DD5DC6E}" presName="tx3" presStyleLbl="revTx" presStyleIdx="2" presStyleCnt="12"/>
      <dgm:spPr/>
    </dgm:pt>
    <dgm:pt modelId="{94A14516-634E-4413-9F06-F676D2213DB7}" type="pres">
      <dgm:prSet presAssocID="{62A19024-5D3C-452B-A1EA-C1123DD5DC6E}" presName="vert3" presStyleCnt="0"/>
      <dgm:spPr/>
    </dgm:pt>
    <dgm:pt modelId="{17533831-B862-4943-86A7-FE72A6479ED4}" type="pres">
      <dgm:prSet presAssocID="{29A1FE38-8995-4BE7-A257-6FA82F1D4986}" presName="thinLine3" presStyleLbl="callout" presStyleIdx="0" presStyleCnt="8"/>
      <dgm:spPr/>
    </dgm:pt>
    <dgm:pt modelId="{0391C4C3-AFEF-4118-9BDF-4C04E80CF543}" type="pres">
      <dgm:prSet presAssocID="{F0325B99-9F1C-4200-AEDC-037B2A6F6A60}" presName="horz3" presStyleCnt="0"/>
      <dgm:spPr/>
    </dgm:pt>
    <dgm:pt modelId="{FD02F8D0-EF9A-4C88-A955-C2DD0AFC05BB}" type="pres">
      <dgm:prSet presAssocID="{F0325B99-9F1C-4200-AEDC-037B2A6F6A60}" presName="horzSpace3" presStyleCnt="0"/>
      <dgm:spPr/>
    </dgm:pt>
    <dgm:pt modelId="{6E1EBA75-1D3F-4E79-97DA-3F95C6456DC7}" type="pres">
      <dgm:prSet presAssocID="{F0325B99-9F1C-4200-AEDC-037B2A6F6A60}" presName="tx3" presStyleLbl="revTx" presStyleIdx="3" presStyleCnt="12"/>
      <dgm:spPr/>
    </dgm:pt>
    <dgm:pt modelId="{82B85918-147F-47C4-8C9F-A3C08EB3FEA6}" type="pres">
      <dgm:prSet presAssocID="{F0325B99-9F1C-4200-AEDC-037B2A6F6A60}" presName="vert3" presStyleCnt="0"/>
      <dgm:spPr/>
    </dgm:pt>
    <dgm:pt modelId="{9827C610-1AD3-4098-B413-F318DD4CCCDB}" type="pres">
      <dgm:prSet presAssocID="{F190ADF4-E681-4F3D-BC4E-FD38A8DE1618}" presName="thinLine3" presStyleLbl="callout" presStyleIdx="1" presStyleCnt="8"/>
      <dgm:spPr/>
    </dgm:pt>
    <dgm:pt modelId="{7556B3C3-B2E4-43E7-B1F7-AC869E106969}" type="pres">
      <dgm:prSet presAssocID="{3B9E539C-7D65-4DCB-9AB5-C239B2173344}" presName="horz3" presStyleCnt="0"/>
      <dgm:spPr/>
    </dgm:pt>
    <dgm:pt modelId="{10265E9C-A155-47D8-B8E1-5FEA99E5DAC2}" type="pres">
      <dgm:prSet presAssocID="{3B9E539C-7D65-4DCB-9AB5-C239B2173344}" presName="horzSpace3" presStyleCnt="0"/>
      <dgm:spPr/>
    </dgm:pt>
    <dgm:pt modelId="{BF6ACDB8-46C8-4C55-9C2D-629B0971AD4E}" type="pres">
      <dgm:prSet presAssocID="{3B9E539C-7D65-4DCB-9AB5-C239B2173344}" presName="tx3" presStyleLbl="revTx" presStyleIdx="4" presStyleCnt="12"/>
      <dgm:spPr/>
    </dgm:pt>
    <dgm:pt modelId="{60353593-5F54-47B3-939E-E37F1D232D33}" type="pres">
      <dgm:prSet presAssocID="{3B9E539C-7D65-4DCB-9AB5-C239B2173344}" presName="vert3" presStyleCnt="0"/>
      <dgm:spPr/>
    </dgm:pt>
    <dgm:pt modelId="{B72FCDDE-A786-417E-9F8E-2E462E05DD56}" type="pres">
      <dgm:prSet presAssocID="{89E6477B-C911-438F-A884-BF1F659320D4}" presName="thinLine2b" presStyleLbl="callout" presStyleIdx="2" presStyleCnt="8"/>
      <dgm:spPr/>
    </dgm:pt>
    <dgm:pt modelId="{BD6828A8-0FA6-4EC5-92F4-F7FAE33AF11A}" type="pres">
      <dgm:prSet presAssocID="{89E6477B-C911-438F-A884-BF1F659320D4}" presName="vertSpace2b" presStyleCnt="0"/>
      <dgm:spPr/>
    </dgm:pt>
    <dgm:pt modelId="{29BEC5F7-0038-40EB-8F3F-B3C630C31747}" type="pres">
      <dgm:prSet presAssocID="{90435B64-F53D-40C4-B08A-CD956340F41B}" presName="horz2" presStyleCnt="0"/>
      <dgm:spPr/>
    </dgm:pt>
    <dgm:pt modelId="{863709F2-8DFD-4443-BB7C-95B4285345A8}" type="pres">
      <dgm:prSet presAssocID="{90435B64-F53D-40C4-B08A-CD956340F41B}" presName="horzSpace2" presStyleCnt="0"/>
      <dgm:spPr/>
    </dgm:pt>
    <dgm:pt modelId="{5E9BF70F-73E6-43E9-A51E-3557EAA99624}" type="pres">
      <dgm:prSet presAssocID="{90435B64-F53D-40C4-B08A-CD956340F41B}" presName="tx2" presStyleLbl="revTx" presStyleIdx="5" presStyleCnt="12"/>
      <dgm:spPr/>
    </dgm:pt>
    <dgm:pt modelId="{EC01DF7E-EA77-4B94-881B-718209BE8E5F}" type="pres">
      <dgm:prSet presAssocID="{90435B64-F53D-40C4-B08A-CD956340F41B}" presName="vert2" presStyleCnt="0"/>
      <dgm:spPr/>
    </dgm:pt>
    <dgm:pt modelId="{D9E6A367-786E-4CA2-AB70-C787FB9685BA}" type="pres">
      <dgm:prSet presAssocID="{D5CDD038-02B2-4419-9F0F-D193F6EA49EC}" presName="horz3" presStyleCnt="0"/>
      <dgm:spPr/>
    </dgm:pt>
    <dgm:pt modelId="{76911EA3-8E6B-458A-933A-3497DFADF7AD}" type="pres">
      <dgm:prSet presAssocID="{D5CDD038-02B2-4419-9F0F-D193F6EA49EC}" presName="horzSpace3" presStyleCnt="0"/>
      <dgm:spPr/>
    </dgm:pt>
    <dgm:pt modelId="{DEBBC993-D741-4DD3-A720-EE7180559355}" type="pres">
      <dgm:prSet presAssocID="{D5CDD038-02B2-4419-9F0F-D193F6EA49EC}" presName="tx3" presStyleLbl="revTx" presStyleIdx="6" presStyleCnt="12"/>
      <dgm:spPr/>
    </dgm:pt>
    <dgm:pt modelId="{9D49846B-1394-46C8-9714-33C6DF046CC4}" type="pres">
      <dgm:prSet presAssocID="{D5CDD038-02B2-4419-9F0F-D193F6EA49EC}" presName="vert3" presStyleCnt="0"/>
      <dgm:spPr/>
    </dgm:pt>
    <dgm:pt modelId="{0A0C7437-B022-4A29-88E7-53FB156D5323}" type="pres">
      <dgm:prSet presAssocID="{370E0CC4-EC42-4C07-BCB8-D2E6D651B9FD}" presName="thinLine3" presStyleLbl="callout" presStyleIdx="3" presStyleCnt="8"/>
      <dgm:spPr/>
    </dgm:pt>
    <dgm:pt modelId="{04839B9C-53B4-4C2C-BD40-BB40F83B3CC0}" type="pres">
      <dgm:prSet presAssocID="{AF829D5B-1881-463B-B7B4-6A4B42E0816E}" presName="horz3" presStyleCnt="0"/>
      <dgm:spPr/>
    </dgm:pt>
    <dgm:pt modelId="{2F6F185C-FCF5-4F34-820E-52B0BA987DF0}" type="pres">
      <dgm:prSet presAssocID="{AF829D5B-1881-463B-B7B4-6A4B42E0816E}" presName="horzSpace3" presStyleCnt="0"/>
      <dgm:spPr/>
    </dgm:pt>
    <dgm:pt modelId="{9F160299-DCF5-4DDE-BC01-4796CFC94AC7}" type="pres">
      <dgm:prSet presAssocID="{AF829D5B-1881-463B-B7B4-6A4B42E0816E}" presName="tx3" presStyleLbl="revTx" presStyleIdx="7" presStyleCnt="12"/>
      <dgm:spPr/>
    </dgm:pt>
    <dgm:pt modelId="{EF86E73E-D1EF-4741-8921-B381521859A0}" type="pres">
      <dgm:prSet presAssocID="{AF829D5B-1881-463B-B7B4-6A4B42E0816E}" presName="vert3" presStyleCnt="0"/>
      <dgm:spPr/>
    </dgm:pt>
    <dgm:pt modelId="{98583642-FF1F-4D7A-A36C-26ECC1D17A16}" type="pres">
      <dgm:prSet presAssocID="{90435B64-F53D-40C4-B08A-CD956340F41B}" presName="thinLine2b" presStyleLbl="callout" presStyleIdx="4" presStyleCnt="8"/>
      <dgm:spPr/>
    </dgm:pt>
    <dgm:pt modelId="{D7C245CF-BA00-4D4F-8761-582D81B2AA98}" type="pres">
      <dgm:prSet presAssocID="{90435B64-F53D-40C4-B08A-CD956340F41B}" presName="vertSpace2b" presStyleCnt="0"/>
      <dgm:spPr/>
    </dgm:pt>
    <dgm:pt modelId="{701188E2-6436-4EC8-AF0A-6C2A830EFA99}" type="pres">
      <dgm:prSet presAssocID="{666DB2EE-262E-418E-B9D6-0DC182C74224}" presName="horz2" presStyleCnt="0"/>
      <dgm:spPr/>
    </dgm:pt>
    <dgm:pt modelId="{3D5CB9B5-1211-4B5A-A867-39E48D0277E7}" type="pres">
      <dgm:prSet presAssocID="{666DB2EE-262E-418E-B9D6-0DC182C74224}" presName="horzSpace2" presStyleCnt="0"/>
      <dgm:spPr/>
    </dgm:pt>
    <dgm:pt modelId="{C6D1C73E-F002-48A0-85EC-436267628197}" type="pres">
      <dgm:prSet presAssocID="{666DB2EE-262E-418E-B9D6-0DC182C74224}" presName="tx2" presStyleLbl="revTx" presStyleIdx="8" presStyleCnt="12"/>
      <dgm:spPr/>
    </dgm:pt>
    <dgm:pt modelId="{2743D2FB-BF91-4E19-BC5A-CFB386A40718}" type="pres">
      <dgm:prSet presAssocID="{666DB2EE-262E-418E-B9D6-0DC182C74224}" presName="vert2" presStyleCnt="0"/>
      <dgm:spPr/>
    </dgm:pt>
    <dgm:pt modelId="{46321D38-57F2-41C3-89F9-4D75ABDB8576}" type="pres">
      <dgm:prSet presAssocID="{8B650A6E-1E6F-43BC-9694-E3377CFA7415}" presName="horz3" presStyleCnt="0"/>
      <dgm:spPr/>
    </dgm:pt>
    <dgm:pt modelId="{62EE83D0-1F00-4B6D-98D5-BFA102B0F9ED}" type="pres">
      <dgm:prSet presAssocID="{8B650A6E-1E6F-43BC-9694-E3377CFA7415}" presName="horzSpace3" presStyleCnt="0"/>
      <dgm:spPr/>
    </dgm:pt>
    <dgm:pt modelId="{DE1F1851-4731-476D-B197-BF50AEDDA2E8}" type="pres">
      <dgm:prSet presAssocID="{8B650A6E-1E6F-43BC-9694-E3377CFA7415}" presName="tx3" presStyleLbl="revTx" presStyleIdx="9" presStyleCnt="12"/>
      <dgm:spPr/>
    </dgm:pt>
    <dgm:pt modelId="{A5C46A47-C41B-4EC4-951F-3DC6F982FCF3}" type="pres">
      <dgm:prSet presAssocID="{8B650A6E-1E6F-43BC-9694-E3377CFA7415}" presName="vert3" presStyleCnt="0"/>
      <dgm:spPr/>
    </dgm:pt>
    <dgm:pt modelId="{31640893-349B-44BB-A4A6-7B7871644F55}" type="pres">
      <dgm:prSet presAssocID="{A3CD5BCD-6927-4F76-80C3-5507350844C6}" presName="thinLine3" presStyleLbl="callout" presStyleIdx="5" presStyleCnt="8"/>
      <dgm:spPr/>
    </dgm:pt>
    <dgm:pt modelId="{0A13AA26-A8FE-4CF0-990C-8CB825066F95}" type="pres">
      <dgm:prSet presAssocID="{E3CF6E24-3016-49B9-B2C7-1536DF41F3AB}" presName="horz3" presStyleCnt="0"/>
      <dgm:spPr/>
    </dgm:pt>
    <dgm:pt modelId="{93064C53-84BB-4084-8618-EA913F979B8B}" type="pres">
      <dgm:prSet presAssocID="{E3CF6E24-3016-49B9-B2C7-1536DF41F3AB}" presName="horzSpace3" presStyleCnt="0"/>
      <dgm:spPr/>
    </dgm:pt>
    <dgm:pt modelId="{0ABEBF79-8B6A-4FE6-ACD2-728EE84D1FF4}" type="pres">
      <dgm:prSet presAssocID="{E3CF6E24-3016-49B9-B2C7-1536DF41F3AB}" presName="tx3" presStyleLbl="revTx" presStyleIdx="10" presStyleCnt="12"/>
      <dgm:spPr/>
    </dgm:pt>
    <dgm:pt modelId="{E34652A6-9E76-407F-AC38-38C2E8865DB1}" type="pres">
      <dgm:prSet presAssocID="{E3CF6E24-3016-49B9-B2C7-1536DF41F3AB}" presName="vert3" presStyleCnt="0"/>
      <dgm:spPr/>
    </dgm:pt>
    <dgm:pt modelId="{964AD78D-C750-4206-98C4-06109C2A1C8A}" type="pres">
      <dgm:prSet presAssocID="{BAAD63E1-145A-4086-8C16-A1303274C7C5}" presName="thinLine3" presStyleLbl="callout" presStyleIdx="6" presStyleCnt="8"/>
      <dgm:spPr/>
    </dgm:pt>
    <dgm:pt modelId="{FF764F31-783E-445C-BA30-407BF4482488}" type="pres">
      <dgm:prSet presAssocID="{CEE93C08-21E3-489F-980E-44ACAF4A8A50}" presName="horz3" presStyleCnt="0"/>
      <dgm:spPr/>
    </dgm:pt>
    <dgm:pt modelId="{3342763D-7713-4F1F-B870-35804621ABB8}" type="pres">
      <dgm:prSet presAssocID="{CEE93C08-21E3-489F-980E-44ACAF4A8A50}" presName="horzSpace3" presStyleCnt="0"/>
      <dgm:spPr/>
    </dgm:pt>
    <dgm:pt modelId="{2D8290F2-5D64-4E0D-A98B-EB716C1C4B50}" type="pres">
      <dgm:prSet presAssocID="{CEE93C08-21E3-489F-980E-44ACAF4A8A50}" presName="tx3" presStyleLbl="revTx" presStyleIdx="11" presStyleCnt="12"/>
      <dgm:spPr/>
    </dgm:pt>
    <dgm:pt modelId="{A5E7E300-C4E5-4146-A26A-F49A4FF73298}" type="pres">
      <dgm:prSet presAssocID="{CEE93C08-21E3-489F-980E-44ACAF4A8A50}" presName="vert3" presStyleCnt="0"/>
      <dgm:spPr/>
    </dgm:pt>
    <dgm:pt modelId="{E461DBF1-E9C9-4B3B-AAC7-DA9FD4B94E2C}" type="pres">
      <dgm:prSet presAssocID="{666DB2EE-262E-418E-B9D6-0DC182C74224}" presName="thinLine2b" presStyleLbl="callout" presStyleIdx="7" presStyleCnt="8"/>
      <dgm:spPr/>
    </dgm:pt>
    <dgm:pt modelId="{2F37C205-D51E-4958-B91B-1A0EA8B96E0C}" type="pres">
      <dgm:prSet presAssocID="{666DB2EE-262E-418E-B9D6-0DC182C74224}" presName="vertSpace2b" presStyleCnt="0"/>
      <dgm:spPr/>
    </dgm:pt>
  </dgm:ptLst>
  <dgm:cxnLst>
    <dgm:cxn modelId="{838B4100-1EBB-4139-A925-4E0C44D32B00}" type="presOf" srcId="{AF829D5B-1881-463B-B7B4-6A4B42E0816E}" destId="{9F160299-DCF5-4DDE-BC01-4796CFC94AC7}" srcOrd="0" destOrd="0" presId="urn:microsoft.com/office/officeart/2008/layout/LinedList"/>
    <dgm:cxn modelId="{BB4CBC0B-2999-4616-99A2-565924B12895}" srcId="{90435B64-F53D-40C4-B08A-CD956340F41B}" destId="{AF829D5B-1881-463B-B7B4-6A4B42E0816E}" srcOrd="1" destOrd="0" parTransId="{37FBDD65-7336-4733-AD8B-3D335A96A57E}" sibTransId="{289D5FD4-1194-4C44-A20A-BD615D19676A}"/>
    <dgm:cxn modelId="{F7FED90B-996C-42FA-A080-6B2058192DE0}" type="presOf" srcId="{F0325B99-9F1C-4200-AEDC-037B2A6F6A60}" destId="{6E1EBA75-1D3F-4E79-97DA-3F95C6456DC7}" srcOrd="0" destOrd="0" presId="urn:microsoft.com/office/officeart/2008/layout/LinedList"/>
    <dgm:cxn modelId="{3D724710-0976-4EAC-9268-DA4D19F9A942}" type="presOf" srcId="{D5CDD038-02B2-4419-9F0F-D193F6EA49EC}" destId="{DEBBC993-D741-4DD3-A720-EE7180559355}" srcOrd="0" destOrd="0" presId="urn:microsoft.com/office/officeart/2008/layout/LinedList"/>
    <dgm:cxn modelId="{5900491A-A027-4A35-96CF-05E617E6FE0F}" srcId="{666DB2EE-262E-418E-B9D6-0DC182C74224}" destId="{CEE93C08-21E3-489F-980E-44ACAF4A8A50}" srcOrd="2" destOrd="0" parTransId="{9D955EF1-8E93-4648-861F-1C4ACE3CE633}" sibTransId="{0E6CF2FE-C916-4EC5-865C-2A50A50F00FF}"/>
    <dgm:cxn modelId="{345E9628-660F-45A1-8EFC-7CABAE837EA3}" srcId="{89E6477B-C911-438F-A884-BF1F659320D4}" destId="{62A19024-5D3C-452B-A1EA-C1123DD5DC6E}" srcOrd="0" destOrd="0" parTransId="{49BB7703-F0BF-429E-B6AD-33592C4FAF06}" sibTransId="{29A1FE38-8995-4BE7-A257-6FA82F1D4986}"/>
    <dgm:cxn modelId="{3D76DD3A-78B6-46E2-96C4-F7DA7BDA291F}" type="presOf" srcId="{CEE93C08-21E3-489F-980E-44ACAF4A8A50}" destId="{2D8290F2-5D64-4E0D-A98B-EB716C1C4B50}" srcOrd="0" destOrd="0" presId="urn:microsoft.com/office/officeart/2008/layout/LinedList"/>
    <dgm:cxn modelId="{C2F23167-6956-4B7A-A46D-3EF49F582C8C}" srcId="{666DB2EE-262E-418E-B9D6-0DC182C74224}" destId="{E3CF6E24-3016-49B9-B2C7-1536DF41F3AB}" srcOrd="1" destOrd="0" parTransId="{51C25531-F8C5-4FC3-B50F-47AC996946A4}" sibTransId="{BAAD63E1-145A-4086-8C16-A1303274C7C5}"/>
    <dgm:cxn modelId="{76AA9668-EDAE-4DB9-A233-A0159A6FE78E}" srcId="{7440E567-ED71-4247-9753-03009D4136B7}" destId="{AF721264-C258-4264-8E1A-6AC503B1531E}" srcOrd="0" destOrd="0" parTransId="{9AECEB3F-55B8-42FC-86C7-AFF054E7BBE7}" sibTransId="{80C0813F-A9DD-4051-A1FC-FDFC2637FA4D}"/>
    <dgm:cxn modelId="{266F7069-A64C-4FCF-AD30-7CEAF721F84C}" srcId="{AF721264-C258-4264-8E1A-6AC503B1531E}" destId="{90435B64-F53D-40C4-B08A-CD956340F41B}" srcOrd="1" destOrd="0" parTransId="{476236DC-1227-4548-8FF3-E292CB887AC7}" sibTransId="{E60A9E5D-8FA0-4CE3-A7BF-EC265D4409FC}"/>
    <dgm:cxn modelId="{20C7A24C-18B0-4465-B5C7-5B3FB27BF06B}" srcId="{89E6477B-C911-438F-A884-BF1F659320D4}" destId="{F0325B99-9F1C-4200-AEDC-037B2A6F6A60}" srcOrd="1" destOrd="0" parTransId="{03B0C71D-788C-43D4-A06C-86026B98BEE6}" sibTransId="{F190ADF4-E681-4F3D-BC4E-FD38A8DE1618}"/>
    <dgm:cxn modelId="{A3F54878-A81C-484C-85EB-E9BF38C9CA75}" type="presOf" srcId="{AF721264-C258-4264-8E1A-6AC503B1531E}" destId="{B301019C-698F-470B-B4AB-A9605EDABC1A}" srcOrd="0" destOrd="0" presId="urn:microsoft.com/office/officeart/2008/layout/LinedList"/>
    <dgm:cxn modelId="{B074DE7A-284D-47ED-9749-E3C04EE6FC94}" srcId="{AF721264-C258-4264-8E1A-6AC503B1531E}" destId="{89E6477B-C911-438F-A884-BF1F659320D4}" srcOrd="0" destOrd="0" parTransId="{477DDF63-5500-41A0-939C-E4322F727A81}" sibTransId="{97FE0184-27AA-4D73-A19D-D27C6ECAB925}"/>
    <dgm:cxn modelId="{1F5E007C-2A0E-4C04-ABA6-07F745BE1A0A}" srcId="{89E6477B-C911-438F-A884-BF1F659320D4}" destId="{3B9E539C-7D65-4DCB-9AB5-C239B2173344}" srcOrd="2" destOrd="0" parTransId="{5F823A40-4050-4628-96E1-672F5BCDB92C}" sibTransId="{05B5E6E8-6A76-4F7B-A87E-443F218E646E}"/>
    <dgm:cxn modelId="{D8D09190-0BC8-426F-9151-EA2F77A4B7F4}" type="presOf" srcId="{62A19024-5D3C-452B-A1EA-C1123DD5DC6E}" destId="{85E6E540-AA13-4B6F-A95E-B764FFB99BAB}" srcOrd="0" destOrd="0" presId="urn:microsoft.com/office/officeart/2008/layout/LinedList"/>
    <dgm:cxn modelId="{D5C9AA96-CCA2-483F-B59D-9F103A021E7C}" type="presOf" srcId="{7440E567-ED71-4247-9753-03009D4136B7}" destId="{A40ECB3A-ED82-4340-87A0-04DF595F8849}" srcOrd="0" destOrd="0" presId="urn:microsoft.com/office/officeart/2008/layout/LinedList"/>
    <dgm:cxn modelId="{B452CF99-0C30-4530-9340-80CC17405DA4}" type="presOf" srcId="{8B650A6E-1E6F-43BC-9694-E3377CFA7415}" destId="{DE1F1851-4731-476D-B197-BF50AEDDA2E8}" srcOrd="0" destOrd="0" presId="urn:microsoft.com/office/officeart/2008/layout/LinedList"/>
    <dgm:cxn modelId="{56AFAFB0-963F-4876-A316-7B925E607A82}" srcId="{666DB2EE-262E-418E-B9D6-0DC182C74224}" destId="{8B650A6E-1E6F-43BC-9694-E3377CFA7415}" srcOrd="0" destOrd="0" parTransId="{EDFC824A-0B74-4E9A-A1F8-9D1DBF2C4F7A}" sibTransId="{A3CD5BCD-6927-4F76-80C3-5507350844C6}"/>
    <dgm:cxn modelId="{49783EBA-825E-44BA-9BD1-735B9175294D}" srcId="{AF721264-C258-4264-8E1A-6AC503B1531E}" destId="{666DB2EE-262E-418E-B9D6-0DC182C74224}" srcOrd="2" destOrd="0" parTransId="{0CAAEC63-DF96-4156-83D7-84EDEA3F8380}" sibTransId="{1FA6BB71-C69E-4604-A290-B2CDEEFBEAA0}"/>
    <dgm:cxn modelId="{77DDA6BA-B0C9-4166-91BE-33C949ACC76D}" srcId="{90435B64-F53D-40C4-B08A-CD956340F41B}" destId="{D5CDD038-02B2-4419-9F0F-D193F6EA49EC}" srcOrd="0" destOrd="0" parTransId="{A85D4C0E-BA42-4B3E-B0E1-2853F7976893}" sibTransId="{370E0CC4-EC42-4C07-BCB8-D2E6D651B9FD}"/>
    <dgm:cxn modelId="{1C986FC5-701D-4463-AE4D-B1E9B4B24B05}" type="presOf" srcId="{89E6477B-C911-438F-A884-BF1F659320D4}" destId="{7D541717-EE39-4D5F-BA38-705D3A7721FA}" srcOrd="0" destOrd="0" presId="urn:microsoft.com/office/officeart/2008/layout/LinedList"/>
    <dgm:cxn modelId="{7777E8D6-FC77-4018-BF02-16551CE300A5}" type="presOf" srcId="{666DB2EE-262E-418E-B9D6-0DC182C74224}" destId="{C6D1C73E-F002-48A0-85EC-436267628197}" srcOrd="0" destOrd="0" presId="urn:microsoft.com/office/officeart/2008/layout/LinedList"/>
    <dgm:cxn modelId="{126940D7-68BC-41DF-B67B-CAFC256E2A6B}" type="presOf" srcId="{90435B64-F53D-40C4-B08A-CD956340F41B}" destId="{5E9BF70F-73E6-43E9-A51E-3557EAA99624}" srcOrd="0" destOrd="0" presId="urn:microsoft.com/office/officeart/2008/layout/LinedList"/>
    <dgm:cxn modelId="{0715A8D9-4141-45DC-BDE0-E5A6A44DB669}" type="presOf" srcId="{3B9E539C-7D65-4DCB-9AB5-C239B2173344}" destId="{BF6ACDB8-46C8-4C55-9C2D-629B0971AD4E}" srcOrd="0" destOrd="0" presId="urn:microsoft.com/office/officeart/2008/layout/LinedList"/>
    <dgm:cxn modelId="{CC0C45F4-1BB6-4A98-A10D-9388D168E64A}" type="presOf" srcId="{E3CF6E24-3016-49B9-B2C7-1536DF41F3AB}" destId="{0ABEBF79-8B6A-4FE6-ACD2-728EE84D1FF4}" srcOrd="0" destOrd="0" presId="urn:microsoft.com/office/officeart/2008/layout/LinedList"/>
    <dgm:cxn modelId="{16421F56-4F51-41C8-AE31-7EDEE9974B01}" type="presParOf" srcId="{A40ECB3A-ED82-4340-87A0-04DF595F8849}" destId="{9B1B0561-AB0B-46B0-B5EB-EF0A4AB4AEC5}" srcOrd="0" destOrd="0" presId="urn:microsoft.com/office/officeart/2008/layout/LinedList"/>
    <dgm:cxn modelId="{761AED23-EA46-4750-81CA-00A703666D8D}" type="presParOf" srcId="{A40ECB3A-ED82-4340-87A0-04DF595F8849}" destId="{547F2161-C2AC-4E3E-A5AD-DF9DC83AE51D}" srcOrd="1" destOrd="0" presId="urn:microsoft.com/office/officeart/2008/layout/LinedList"/>
    <dgm:cxn modelId="{43A14C37-CCAB-4E20-8B87-CD5D42E42EF0}" type="presParOf" srcId="{547F2161-C2AC-4E3E-A5AD-DF9DC83AE51D}" destId="{B301019C-698F-470B-B4AB-A9605EDABC1A}" srcOrd="0" destOrd="0" presId="urn:microsoft.com/office/officeart/2008/layout/LinedList"/>
    <dgm:cxn modelId="{5349A5A2-CB5E-4CD8-91F8-182DC9E72E0E}" type="presParOf" srcId="{547F2161-C2AC-4E3E-A5AD-DF9DC83AE51D}" destId="{F7731BE9-0EA9-4691-8527-34E796DDB2D4}" srcOrd="1" destOrd="0" presId="urn:microsoft.com/office/officeart/2008/layout/LinedList"/>
    <dgm:cxn modelId="{F8B22A58-BDC6-46A5-AF38-66184635DCB3}" type="presParOf" srcId="{F7731BE9-0EA9-4691-8527-34E796DDB2D4}" destId="{CFD2DF7E-9631-4F07-A547-3F71BC684B99}" srcOrd="0" destOrd="0" presId="urn:microsoft.com/office/officeart/2008/layout/LinedList"/>
    <dgm:cxn modelId="{88CB3D64-2F12-4EB3-931C-143B0F72546E}" type="presParOf" srcId="{F7731BE9-0EA9-4691-8527-34E796DDB2D4}" destId="{936436FF-7654-4263-B770-411E362A2574}" srcOrd="1" destOrd="0" presId="urn:microsoft.com/office/officeart/2008/layout/LinedList"/>
    <dgm:cxn modelId="{660E3DC2-E02A-4DE9-8F32-0AA1DCC79540}" type="presParOf" srcId="{936436FF-7654-4263-B770-411E362A2574}" destId="{B9CC12FD-DE66-475C-A225-248EEA6BAD31}" srcOrd="0" destOrd="0" presId="urn:microsoft.com/office/officeart/2008/layout/LinedList"/>
    <dgm:cxn modelId="{94C92616-94F9-4D8D-B6F5-628D5DC5CCBE}" type="presParOf" srcId="{936436FF-7654-4263-B770-411E362A2574}" destId="{7D541717-EE39-4D5F-BA38-705D3A7721FA}" srcOrd="1" destOrd="0" presId="urn:microsoft.com/office/officeart/2008/layout/LinedList"/>
    <dgm:cxn modelId="{5FC22FA5-8C85-4159-8B0E-5691D92C37F1}" type="presParOf" srcId="{936436FF-7654-4263-B770-411E362A2574}" destId="{D0E2BAD6-D442-446E-B484-43CDA2B34809}" srcOrd="2" destOrd="0" presId="urn:microsoft.com/office/officeart/2008/layout/LinedList"/>
    <dgm:cxn modelId="{9A062A36-8045-451D-846A-2086974D0C0E}" type="presParOf" srcId="{D0E2BAD6-D442-446E-B484-43CDA2B34809}" destId="{B678C79B-513E-49E2-A7E8-E97CBA2DF3DD}" srcOrd="0" destOrd="0" presId="urn:microsoft.com/office/officeart/2008/layout/LinedList"/>
    <dgm:cxn modelId="{DDCEA664-A305-4456-99E1-7EC3FB01E0C1}" type="presParOf" srcId="{B678C79B-513E-49E2-A7E8-E97CBA2DF3DD}" destId="{7635D3E9-FB79-4F19-92DE-D6BBFAC40C52}" srcOrd="0" destOrd="0" presId="urn:microsoft.com/office/officeart/2008/layout/LinedList"/>
    <dgm:cxn modelId="{9CE5C127-4D66-4A89-986A-54EC772849FF}" type="presParOf" srcId="{B678C79B-513E-49E2-A7E8-E97CBA2DF3DD}" destId="{85E6E540-AA13-4B6F-A95E-B764FFB99BAB}" srcOrd="1" destOrd="0" presId="urn:microsoft.com/office/officeart/2008/layout/LinedList"/>
    <dgm:cxn modelId="{A8FD238E-8E90-4F09-874C-0FBBDA631F11}" type="presParOf" srcId="{B678C79B-513E-49E2-A7E8-E97CBA2DF3DD}" destId="{94A14516-634E-4413-9F06-F676D2213DB7}" srcOrd="2" destOrd="0" presId="urn:microsoft.com/office/officeart/2008/layout/LinedList"/>
    <dgm:cxn modelId="{EE675AD9-A7B8-49D7-86CE-FFB3ABE9B053}" type="presParOf" srcId="{D0E2BAD6-D442-446E-B484-43CDA2B34809}" destId="{17533831-B862-4943-86A7-FE72A6479ED4}" srcOrd="1" destOrd="0" presId="urn:microsoft.com/office/officeart/2008/layout/LinedList"/>
    <dgm:cxn modelId="{95A0B938-B1E8-4BAD-91ED-2BD4853EBB32}" type="presParOf" srcId="{D0E2BAD6-D442-446E-B484-43CDA2B34809}" destId="{0391C4C3-AFEF-4118-9BDF-4C04E80CF543}" srcOrd="2" destOrd="0" presId="urn:microsoft.com/office/officeart/2008/layout/LinedList"/>
    <dgm:cxn modelId="{7DDD3FAF-8D76-4D97-A361-95408C87A82B}" type="presParOf" srcId="{0391C4C3-AFEF-4118-9BDF-4C04E80CF543}" destId="{FD02F8D0-EF9A-4C88-A955-C2DD0AFC05BB}" srcOrd="0" destOrd="0" presId="urn:microsoft.com/office/officeart/2008/layout/LinedList"/>
    <dgm:cxn modelId="{664C37DF-A1B5-4E92-A3A6-41EFFBF9D36C}" type="presParOf" srcId="{0391C4C3-AFEF-4118-9BDF-4C04E80CF543}" destId="{6E1EBA75-1D3F-4E79-97DA-3F95C6456DC7}" srcOrd="1" destOrd="0" presId="urn:microsoft.com/office/officeart/2008/layout/LinedList"/>
    <dgm:cxn modelId="{FB936035-E7D2-450D-8D26-1D9A6D7CB483}" type="presParOf" srcId="{0391C4C3-AFEF-4118-9BDF-4C04E80CF543}" destId="{82B85918-147F-47C4-8C9F-A3C08EB3FEA6}" srcOrd="2" destOrd="0" presId="urn:microsoft.com/office/officeart/2008/layout/LinedList"/>
    <dgm:cxn modelId="{E679FE96-9453-4C70-B82A-2603E68F1DD8}" type="presParOf" srcId="{D0E2BAD6-D442-446E-B484-43CDA2B34809}" destId="{9827C610-1AD3-4098-B413-F318DD4CCCDB}" srcOrd="3" destOrd="0" presId="urn:microsoft.com/office/officeart/2008/layout/LinedList"/>
    <dgm:cxn modelId="{C70F47F8-150B-4DFF-83A9-E2AE438F3DA5}" type="presParOf" srcId="{D0E2BAD6-D442-446E-B484-43CDA2B34809}" destId="{7556B3C3-B2E4-43E7-B1F7-AC869E106969}" srcOrd="4" destOrd="0" presId="urn:microsoft.com/office/officeart/2008/layout/LinedList"/>
    <dgm:cxn modelId="{5F1E1FA5-97C2-40C6-8F95-B4E2D1514A62}" type="presParOf" srcId="{7556B3C3-B2E4-43E7-B1F7-AC869E106969}" destId="{10265E9C-A155-47D8-B8E1-5FEA99E5DAC2}" srcOrd="0" destOrd="0" presId="urn:microsoft.com/office/officeart/2008/layout/LinedList"/>
    <dgm:cxn modelId="{5EE4CAC9-06EC-4EAD-A6A8-FE0F1759D657}" type="presParOf" srcId="{7556B3C3-B2E4-43E7-B1F7-AC869E106969}" destId="{BF6ACDB8-46C8-4C55-9C2D-629B0971AD4E}" srcOrd="1" destOrd="0" presId="urn:microsoft.com/office/officeart/2008/layout/LinedList"/>
    <dgm:cxn modelId="{386333E0-716E-4E74-850C-52160CD37A30}" type="presParOf" srcId="{7556B3C3-B2E4-43E7-B1F7-AC869E106969}" destId="{60353593-5F54-47B3-939E-E37F1D232D33}" srcOrd="2" destOrd="0" presId="urn:microsoft.com/office/officeart/2008/layout/LinedList"/>
    <dgm:cxn modelId="{5E74944C-0664-43ED-98FC-5D2301398336}" type="presParOf" srcId="{F7731BE9-0EA9-4691-8527-34E796DDB2D4}" destId="{B72FCDDE-A786-417E-9F8E-2E462E05DD56}" srcOrd="2" destOrd="0" presId="urn:microsoft.com/office/officeart/2008/layout/LinedList"/>
    <dgm:cxn modelId="{57BE011F-5EE4-4FC6-B8C1-292A37279238}" type="presParOf" srcId="{F7731BE9-0EA9-4691-8527-34E796DDB2D4}" destId="{BD6828A8-0FA6-4EC5-92F4-F7FAE33AF11A}" srcOrd="3" destOrd="0" presId="urn:microsoft.com/office/officeart/2008/layout/LinedList"/>
    <dgm:cxn modelId="{677C39DC-3C23-40F1-B495-E3994E83E46F}" type="presParOf" srcId="{F7731BE9-0EA9-4691-8527-34E796DDB2D4}" destId="{29BEC5F7-0038-40EB-8F3F-B3C630C31747}" srcOrd="4" destOrd="0" presId="urn:microsoft.com/office/officeart/2008/layout/LinedList"/>
    <dgm:cxn modelId="{198F68F1-A1C2-4698-BA8D-DC28727DDA17}" type="presParOf" srcId="{29BEC5F7-0038-40EB-8F3F-B3C630C31747}" destId="{863709F2-8DFD-4443-BB7C-95B4285345A8}" srcOrd="0" destOrd="0" presId="urn:microsoft.com/office/officeart/2008/layout/LinedList"/>
    <dgm:cxn modelId="{AEF9460A-17AD-4260-AAF6-49FE4769C797}" type="presParOf" srcId="{29BEC5F7-0038-40EB-8F3F-B3C630C31747}" destId="{5E9BF70F-73E6-43E9-A51E-3557EAA99624}" srcOrd="1" destOrd="0" presId="urn:microsoft.com/office/officeart/2008/layout/LinedList"/>
    <dgm:cxn modelId="{321ED937-CBFE-47F4-ABC6-269255C3D516}" type="presParOf" srcId="{29BEC5F7-0038-40EB-8F3F-B3C630C31747}" destId="{EC01DF7E-EA77-4B94-881B-718209BE8E5F}" srcOrd="2" destOrd="0" presId="urn:microsoft.com/office/officeart/2008/layout/LinedList"/>
    <dgm:cxn modelId="{80CAEFED-296D-462E-8F73-97C607CDCE79}" type="presParOf" srcId="{EC01DF7E-EA77-4B94-881B-718209BE8E5F}" destId="{D9E6A367-786E-4CA2-AB70-C787FB9685BA}" srcOrd="0" destOrd="0" presId="urn:microsoft.com/office/officeart/2008/layout/LinedList"/>
    <dgm:cxn modelId="{C2DA3882-0708-4C0A-A9D2-B091E83682CE}" type="presParOf" srcId="{D9E6A367-786E-4CA2-AB70-C787FB9685BA}" destId="{76911EA3-8E6B-458A-933A-3497DFADF7AD}" srcOrd="0" destOrd="0" presId="urn:microsoft.com/office/officeart/2008/layout/LinedList"/>
    <dgm:cxn modelId="{B8006919-26DF-40DD-9273-611CC1B460E8}" type="presParOf" srcId="{D9E6A367-786E-4CA2-AB70-C787FB9685BA}" destId="{DEBBC993-D741-4DD3-A720-EE7180559355}" srcOrd="1" destOrd="0" presId="urn:microsoft.com/office/officeart/2008/layout/LinedList"/>
    <dgm:cxn modelId="{A4002CD2-65D3-443D-BEC0-5EF5D7A2FE12}" type="presParOf" srcId="{D9E6A367-786E-4CA2-AB70-C787FB9685BA}" destId="{9D49846B-1394-46C8-9714-33C6DF046CC4}" srcOrd="2" destOrd="0" presId="urn:microsoft.com/office/officeart/2008/layout/LinedList"/>
    <dgm:cxn modelId="{29C356D9-DBD6-4D2F-A564-61BDC6A1EC5B}" type="presParOf" srcId="{EC01DF7E-EA77-4B94-881B-718209BE8E5F}" destId="{0A0C7437-B022-4A29-88E7-53FB156D5323}" srcOrd="1" destOrd="0" presId="urn:microsoft.com/office/officeart/2008/layout/LinedList"/>
    <dgm:cxn modelId="{585CEA39-A192-4575-B9FA-9C054A864262}" type="presParOf" srcId="{EC01DF7E-EA77-4B94-881B-718209BE8E5F}" destId="{04839B9C-53B4-4C2C-BD40-BB40F83B3CC0}" srcOrd="2" destOrd="0" presId="urn:microsoft.com/office/officeart/2008/layout/LinedList"/>
    <dgm:cxn modelId="{8029C42B-2B70-407E-AAED-700F07B03167}" type="presParOf" srcId="{04839B9C-53B4-4C2C-BD40-BB40F83B3CC0}" destId="{2F6F185C-FCF5-4F34-820E-52B0BA987DF0}" srcOrd="0" destOrd="0" presId="urn:microsoft.com/office/officeart/2008/layout/LinedList"/>
    <dgm:cxn modelId="{34ECB9B9-3E7B-421E-9147-1FB6CDF4D37A}" type="presParOf" srcId="{04839B9C-53B4-4C2C-BD40-BB40F83B3CC0}" destId="{9F160299-DCF5-4DDE-BC01-4796CFC94AC7}" srcOrd="1" destOrd="0" presId="urn:microsoft.com/office/officeart/2008/layout/LinedList"/>
    <dgm:cxn modelId="{21307F2A-0CD5-4CD6-8615-9E6DB47A491D}" type="presParOf" srcId="{04839B9C-53B4-4C2C-BD40-BB40F83B3CC0}" destId="{EF86E73E-D1EF-4741-8921-B381521859A0}" srcOrd="2" destOrd="0" presId="urn:microsoft.com/office/officeart/2008/layout/LinedList"/>
    <dgm:cxn modelId="{68F3A6BE-C8F3-418E-B97C-2E071FDAAF78}" type="presParOf" srcId="{F7731BE9-0EA9-4691-8527-34E796DDB2D4}" destId="{98583642-FF1F-4D7A-A36C-26ECC1D17A16}" srcOrd="5" destOrd="0" presId="urn:microsoft.com/office/officeart/2008/layout/LinedList"/>
    <dgm:cxn modelId="{74061BED-C96C-4953-9FF5-62EECE25F154}" type="presParOf" srcId="{F7731BE9-0EA9-4691-8527-34E796DDB2D4}" destId="{D7C245CF-BA00-4D4F-8761-582D81B2AA98}" srcOrd="6" destOrd="0" presId="urn:microsoft.com/office/officeart/2008/layout/LinedList"/>
    <dgm:cxn modelId="{95310F7A-7E55-4EFF-B96E-AD8367CD271F}" type="presParOf" srcId="{F7731BE9-0EA9-4691-8527-34E796DDB2D4}" destId="{701188E2-6436-4EC8-AF0A-6C2A830EFA99}" srcOrd="7" destOrd="0" presId="urn:microsoft.com/office/officeart/2008/layout/LinedList"/>
    <dgm:cxn modelId="{DC87CB91-6F38-4499-B468-6D7D76B0AF06}" type="presParOf" srcId="{701188E2-6436-4EC8-AF0A-6C2A830EFA99}" destId="{3D5CB9B5-1211-4B5A-A867-39E48D0277E7}" srcOrd="0" destOrd="0" presId="urn:microsoft.com/office/officeart/2008/layout/LinedList"/>
    <dgm:cxn modelId="{60EBB729-0B98-429F-AAF9-74D3F2CE96ED}" type="presParOf" srcId="{701188E2-6436-4EC8-AF0A-6C2A830EFA99}" destId="{C6D1C73E-F002-48A0-85EC-436267628197}" srcOrd="1" destOrd="0" presId="urn:microsoft.com/office/officeart/2008/layout/LinedList"/>
    <dgm:cxn modelId="{BCA401DD-EC29-41E8-87C0-BCC91E0E386A}" type="presParOf" srcId="{701188E2-6436-4EC8-AF0A-6C2A830EFA99}" destId="{2743D2FB-BF91-4E19-BC5A-CFB386A40718}" srcOrd="2" destOrd="0" presId="urn:microsoft.com/office/officeart/2008/layout/LinedList"/>
    <dgm:cxn modelId="{303A4E24-A1F5-413B-822F-87632DDADF66}" type="presParOf" srcId="{2743D2FB-BF91-4E19-BC5A-CFB386A40718}" destId="{46321D38-57F2-41C3-89F9-4D75ABDB8576}" srcOrd="0" destOrd="0" presId="urn:microsoft.com/office/officeart/2008/layout/LinedList"/>
    <dgm:cxn modelId="{7905AE3F-6A4D-49C3-A844-2A2375C9B559}" type="presParOf" srcId="{46321D38-57F2-41C3-89F9-4D75ABDB8576}" destId="{62EE83D0-1F00-4B6D-98D5-BFA102B0F9ED}" srcOrd="0" destOrd="0" presId="urn:microsoft.com/office/officeart/2008/layout/LinedList"/>
    <dgm:cxn modelId="{17FB3F8A-BDA2-4778-BDFC-DC9E89549391}" type="presParOf" srcId="{46321D38-57F2-41C3-89F9-4D75ABDB8576}" destId="{DE1F1851-4731-476D-B197-BF50AEDDA2E8}" srcOrd="1" destOrd="0" presId="urn:microsoft.com/office/officeart/2008/layout/LinedList"/>
    <dgm:cxn modelId="{8D121AE6-3E58-4C75-936D-2C5366284F87}" type="presParOf" srcId="{46321D38-57F2-41C3-89F9-4D75ABDB8576}" destId="{A5C46A47-C41B-4EC4-951F-3DC6F982FCF3}" srcOrd="2" destOrd="0" presId="urn:microsoft.com/office/officeart/2008/layout/LinedList"/>
    <dgm:cxn modelId="{9EAB35A8-FECB-459B-BF1E-4236571F83DD}" type="presParOf" srcId="{2743D2FB-BF91-4E19-BC5A-CFB386A40718}" destId="{31640893-349B-44BB-A4A6-7B7871644F55}" srcOrd="1" destOrd="0" presId="urn:microsoft.com/office/officeart/2008/layout/LinedList"/>
    <dgm:cxn modelId="{6585332B-AFEF-4F1D-967A-3F23F72BF5F0}" type="presParOf" srcId="{2743D2FB-BF91-4E19-BC5A-CFB386A40718}" destId="{0A13AA26-A8FE-4CF0-990C-8CB825066F95}" srcOrd="2" destOrd="0" presId="urn:microsoft.com/office/officeart/2008/layout/LinedList"/>
    <dgm:cxn modelId="{4A23475B-A2DB-4285-BB49-4C90703BD5BD}" type="presParOf" srcId="{0A13AA26-A8FE-4CF0-990C-8CB825066F95}" destId="{93064C53-84BB-4084-8618-EA913F979B8B}" srcOrd="0" destOrd="0" presId="urn:microsoft.com/office/officeart/2008/layout/LinedList"/>
    <dgm:cxn modelId="{04E357D9-215A-47DB-B35A-361EA48D1B24}" type="presParOf" srcId="{0A13AA26-A8FE-4CF0-990C-8CB825066F95}" destId="{0ABEBF79-8B6A-4FE6-ACD2-728EE84D1FF4}" srcOrd="1" destOrd="0" presId="urn:microsoft.com/office/officeart/2008/layout/LinedList"/>
    <dgm:cxn modelId="{01732645-132E-4679-B34F-4A381B36A425}" type="presParOf" srcId="{0A13AA26-A8FE-4CF0-990C-8CB825066F95}" destId="{E34652A6-9E76-407F-AC38-38C2E8865DB1}" srcOrd="2" destOrd="0" presId="urn:microsoft.com/office/officeart/2008/layout/LinedList"/>
    <dgm:cxn modelId="{E81663FF-13D6-400E-89E9-04E8165C641D}" type="presParOf" srcId="{2743D2FB-BF91-4E19-BC5A-CFB386A40718}" destId="{964AD78D-C750-4206-98C4-06109C2A1C8A}" srcOrd="3" destOrd="0" presId="urn:microsoft.com/office/officeart/2008/layout/LinedList"/>
    <dgm:cxn modelId="{F46C4B2A-F4DF-42FD-B53E-BAF0F8813883}" type="presParOf" srcId="{2743D2FB-BF91-4E19-BC5A-CFB386A40718}" destId="{FF764F31-783E-445C-BA30-407BF4482488}" srcOrd="4" destOrd="0" presId="urn:microsoft.com/office/officeart/2008/layout/LinedList"/>
    <dgm:cxn modelId="{ACB233F7-6392-4B10-ABFE-F26214FD9DC5}" type="presParOf" srcId="{FF764F31-783E-445C-BA30-407BF4482488}" destId="{3342763D-7713-4F1F-B870-35804621ABB8}" srcOrd="0" destOrd="0" presId="urn:microsoft.com/office/officeart/2008/layout/LinedList"/>
    <dgm:cxn modelId="{75CA5215-A548-4891-97D4-A2F3E6F34F75}" type="presParOf" srcId="{FF764F31-783E-445C-BA30-407BF4482488}" destId="{2D8290F2-5D64-4E0D-A98B-EB716C1C4B50}" srcOrd="1" destOrd="0" presId="urn:microsoft.com/office/officeart/2008/layout/LinedList"/>
    <dgm:cxn modelId="{DE8A8F2A-642E-44BA-AE77-82E89C7E3C4B}" type="presParOf" srcId="{FF764F31-783E-445C-BA30-407BF4482488}" destId="{A5E7E300-C4E5-4146-A26A-F49A4FF73298}" srcOrd="2" destOrd="0" presId="urn:microsoft.com/office/officeart/2008/layout/LinedList"/>
    <dgm:cxn modelId="{783E866B-4A0E-421E-AE44-EE54DB8AB460}" type="presParOf" srcId="{F7731BE9-0EA9-4691-8527-34E796DDB2D4}" destId="{E461DBF1-E9C9-4B3B-AAC7-DA9FD4B94E2C}" srcOrd="8" destOrd="0" presId="urn:microsoft.com/office/officeart/2008/layout/LinedList"/>
    <dgm:cxn modelId="{E45926D5-A606-4638-AFC1-91AA57CF2CD9}" type="presParOf" srcId="{F7731BE9-0EA9-4691-8527-34E796DDB2D4}" destId="{2F37C205-D51E-4958-B91B-1A0EA8B96E0C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B0561-AB0B-46B0-B5EB-EF0A4AB4AEC5}">
      <dsp:nvSpPr>
        <dsp:cNvPr id="0" name=""/>
        <dsp:cNvSpPr/>
      </dsp:nvSpPr>
      <dsp:spPr>
        <a:xfrm>
          <a:off x="0" y="1620"/>
          <a:ext cx="691276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1019C-698F-470B-B4AB-A9605EDABC1A}">
      <dsp:nvSpPr>
        <dsp:cNvPr id="0" name=""/>
        <dsp:cNvSpPr/>
      </dsp:nvSpPr>
      <dsp:spPr>
        <a:xfrm>
          <a:off x="0" y="1620"/>
          <a:ext cx="1382553" cy="3315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 dirty="0">
              <a:latin typeface="+mn-lt"/>
              <a:ea typeface="微軟正黑體" panose="020B0604030504040204" pitchFamily="34" charset="-120"/>
            </a:rPr>
            <a:t>三層分離計設</a:t>
          </a:r>
        </a:p>
      </dsp:txBody>
      <dsp:txXfrm>
        <a:off x="0" y="1620"/>
        <a:ext cx="1382553" cy="3315691"/>
      </dsp:txXfrm>
    </dsp:sp>
    <dsp:sp modelId="{7D541717-EE39-4D5F-BA38-705D3A7721FA}">
      <dsp:nvSpPr>
        <dsp:cNvPr id="0" name=""/>
        <dsp:cNvSpPr/>
      </dsp:nvSpPr>
      <dsp:spPr>
        <a:xfrm>
          <a:off x="1486245" y="53428"/>
          <a:ext cx="2661415" cy="103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b="1" kern="1200" dirty="0">
              <a:latin typeface="+mn-lt"/>
              <a:ea typeface="微軟正黑體" panose="020B0604030504040204" pitchFamily="34" charset="-120"/>
            </a:rPr>
            <a:t>Simulation Layer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b="1" kern="1200" dirty="0">
              <a:latin typeface="+mn-lt"/>
              <a:ea typeface="微軟正黑體" panose="020B0604030504040204" pitchFamily="34" charset="-120"/>
            </a:rPr>
            <a:t>(</a:t>
          </a:r>
          <a:r>
            <a:rPr lang="zh-TW" altLang="en-US" sz="1600" b="1" i="0" kern="1200" dirty="0">
              <a:latin typeface="+mn-lt"/>
              <a:ea typeface="微軟正黑體" panose="020B0604030504040204" pitchFamily="34" charset="-120"/>
            </a:rPr>
            <a:t>模擬驗證層</a:t>
          </a:r>
          <a:r>
            <a:rPr lang="en-US" altLang="zh-TW" sz="1600" b="1" kern="1200" dirty="0">
              <a:latin typeface="+mn-lt"/>
              <a:ea typeface="微軟正黑體" panose="020B0604030504040204" pitchFamily="34" charset="-120"/>
            </a:rPr>
            <a:t>)</a:t>
          </a:r>
          <a:endParaRPr lang="zh-TW" altLang="en-US" sz="1600" b="1" kern="1200" dirty="0">
            <a:latin typeface="+mn-lt"/>
            <a:ea typeface="微軟正黑體" panose="020B0604030504040204" pitchFamily="34" charset="-120"/>
          </a:endParaRPr>
        </a:p>
      </dsp:txBody>
      <dsp:txXfrm>
        <a:off x="1486245" y="53428"/>
        <a:ext cx="2661415" cy="1036153"/>
      </dsp:txXfrm>
    </dsp:sp>
    <dsp:sp modelId="{85E6E540-AA13-4B6F-A95E-B764FFB99BAB}">
      <dsp:nvSpPr>
        <dsp:cNvPr id="0" name=""/>
        <dsp:cNvSpPr/>
      </dsp:nvSpPr>
      <dsp:spPr>
        <a:xfrm>
          <a:off x="4251352" y="53428"/>
          <a:ext cx="2661415" cy="345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0" i="0" kern="1200" dirty="0">
              <a:latin typeface="+mn-lt"/>
              <a:ea typeface="微軟正黑體" panose="020B0604030504040204" pitchFamily="34" charset="-120"/>
            </a:rPr>
            <a:t>事件驅動引擎</a:t>
          </a:r>
          <a:endParaRPr lang="zh-TW" altLang="en-US" sz="1600" b="1" kern="1200" dirty="0">
            <a:latin typeface="+mn-lt"/>
            <a:ea typeface="微軟正黑體" panose="020B0604030504040204" pitchFamily="34" charset="-120"/>
          </a:endParaRPr>
        </a:p>
      </dsp:txBody>
      <dsp:txXfrm>
        <a:off x="4251352" y="53428"/>
        <a:ext cx="2661415" cy="345047"/>
      </dsp:txXfrm>
    </dsp:sp>
    <dsp:sp modelId="{17533831-B862-4943-86A7-FE72A6479ED4}">
      <dsp:nvSpPr>
        <dsp:cNvPr id="0" name=""/>
        <dsp:cNvSpPr/>
      </dsp:nvSpPr>
      <dsp:spPr>
        <a:xfrm>
          <a:off x="4147660" y="398475"/>
          <a:ext cx="26614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EBA75-1D3F-4E79-97DA-3F95C6456DC7}">
      <dsp:nvSpPr>
        <dsp:cNvPr id="0" name=""/>
        <dsp:cNvSpPr/>
      </dsp:nvSpPr>
      <dsp:spPr>
        <a:xfrm>
          <a:off x="4251352" y="398475"/>
          <a:ext cx="2661415" cy="345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0" i="0" kern="1200" dirty="0">
              <a:latin typeface="+mn-lt"/>
              <a:ea typeface="微軟正黑體" panose="020B0604030504040204" pitchFamily="34" charset="-120"/>
            </a:rPr>
            <a:t>訊息處理</a:t>
          </a:r>
          <a:endParaRPr lang="zh-TW" altLang="en-US" sz="1600" b="1" kern="1200" dirty="0">
            <a:latin typeface="+mn-lt"/>
            <a:ea typeface="微軟正黑體" panose="020B0604030504040204" pitchFamily="34" charset="-120"/>
          </a:endParaRPr>
        </a:p>
      </dsp:txBody>
      <dsp:txXfrm>
        <a:off x="4251352" y="398475"/>
        <a:ext cx="2661415" cy="345047"/>
      </dsp:txXfrm>
    </dsp:sp>
    <dsp:sp modelId="{9827C610-1AD3-4098-B413-F318DD4CCCDB}">
      <dsp:nvSpPr>
        <dsp:cNvPr id="0" name=""/>
        <dsp:cNvSpPr/>
      </dsp:nvSpPr>
      <dsp:spPr>
        <a:xfrm>
          <a:off x="4147660" y="743522"/>
          <a:ext cx="26614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6ACDB8-46C8-4C55-9C2D-629B0971AD4E}">
      <dsp:nvSpPr>
        <dsp:cNvPr id="0" name=""/>
        <dsp:cNvSpPr/>
      </dsp:nvSpPr>
      <dsp:spPr>
        <a:xfrm>
          <a:off x="4251352" y="743522"/>
          <a:ext cx="2661415" cy="345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0" i="0" kern="1200" dirty="0">
              <a:latin typeface="+mn-lt"/>
              <a:ea typeface="微軟正黑體" panose="020B0604030504040204" pitchFamily="34" charset="-120"/>
            </a:rPr>
            <a:t>狀態顯示 </a:t>
          </a:r>
          <a:endParaRPr lang="zh-TW" altLang="en-US" sz="1600" b="1" kern="1200" dirty="0">
            <a:latin typeface="+mn-lt"/>
            <a:ea typeface="微軟正黑體" panose="020B0604030504040204" pitchFamily="34" charset="-120"/>
          </a:endParaRPr>
        </a:p>
      </dsp:txBody>
      <dsp:txXfrm>
        <a:off x="4251352" y="743522"/>
        <a:ext cx="2661415" cy="345047"/>
      </dsp:txXfrm>
    </dsp:sp>
    <dsp:sp modelId="{B72FCDDE-A786-417E-9F8E-2E462E05DD56}">
      <dsp:nvSpPr>
        <dsp:cNvPr id="0" name=""/>
        <dsp:cNvSpPr/>
      </dsp:nvSpPr>
      <dsp:spPr>
        <a:xfrm>
          <a:off x="1382553" y="1089581"/>
          <a:ext cx="553021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9BF70F-73E6-43E9-A51E-3557EAA99624}">
      <dsp:nvSpPr>
        <dsp:cNvPr id="0" name=""/>
        <dsp:cNvSpPr/>
      </dsp:nvSpPr>
      <dsp:spPr>
        <a:xfrm>
          <a:off x="1486245" y="1141389"/>
          <a:ext cx="2661415" cy="103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b="1" kern="1200" dirty="0">
              <a:latin typeface="+mn-lt"/>
              <a:ea typeface="微軟正黑體" panose="020B0604030504040204" pitchFamily="34" charset="-120"/>
            </a:rPr>
            <a:t>Controller Layer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b="1" i="0" kern="1200" dirty="0">
              <a:latin typeface="+mn-lt"/>
              <a:ea typeface="微軟正黑體" panose="020B0604030504040204" pitchFamily="34" charset="-120"/>
            </a:rPr>
            <a:t>(</a:t>
          </a:r>
          <a:r>
            <a:rPr lang="zh-TW" altLang="en-US" sz="1600" b="1" i="0" kern="1200" dirty="0">
              <a:latin typeface="+mn-lt"/>
              <a:ea typeface="微軟正黑體" panose="020B0604030504040204" pitchFamily="34" charset="-120"/>
            </a:rPr>
            <a:t>控制業務層</a:t>
          </a:r>
          <a:r>
            <a:rPr lang="en-US" altLang="zh-TW" sz="1600" b="1" i="0" kern="1200" dirty="0">
              <a:latin typeface="+mn-lt"/>
              <a:ea typeface="微軟正黑體" panose="020B0604030504040204" pitchFamily="34" charset="-120"/>
            </a:rPr>
            <a:t>)</a:t>
          </a:r>
          <a:endParaRPr lang="zh-TW" altLang="en-US" sz="1600" b="1" kern="1200" dirty="0">
            <a:latin typeface="+mn-lt"/>
            <a:ea typeface="微軟正黑體" panose="020B0604030504040204" pitchFamily="34" charset="-120"/>
          </a:endParaRPr>
        </a:p>
      </dsp:txBody>
      <dsp:txXfrm>
        <a:off x="1486245" y="1141389"/>
        <a:ext cx="2661415" cy="1036153"/>
      </dsp:txXfrm>
    </dsp:sp>
    <dsp:sp modelId="{DEBBC993-D741-4DD3-A720-EE7180559355}">
      <dsp:nvSpPr>
        <dsp:cNvPr id="0" name=""/>
        <dsp:cNvSpPr/>
      </dsp:nvSpPr>
      <dsp:spPr>
        <a:xfrm>
          <a:off x="4251352" y="1141389"/>
          <a:ext cx="2661415" cy="518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0" i="0" kern="1200" dirty="0">
              <a:latin typeface="+mn-lt"/>
              <a:ea typeface="微軟正黑體" panose="020B0604030504040204" pitchFamily="34" charset="-120"/>
            </a:rPr>
            <a:t>業務邏輯</a:t>
          </a:r>
          <a:endParaRPr lang="zh-TW" altLang="en-US" sz="1600" b="1" kern="1200" dirty="0">
            <a:latin typeface="+mn-lt"/>
            <a:ea typeface="微軟正黑體" panose="020B0604030504040204" pitchFamily="34" charset="-120"/>
          </a:endParaRPr>
        </a:p>
      </dsp:txBody>
      <dsp:txXfrm>
        <a:off x="4251352" y="1141389"/>
        <a:ext cx="2661415" cy="518076"/>
      </dsp:txXfrm>
    </dsp:sp>
    <dsp:sp modelId="{0A0C7437-B022-4A29-88E7-53FB156D5323}">
      <dsp:nvSpPr>
        <dsp:cNvPr id="0" name=""/>
        <dsp:cNvSpPr/>
      </dsp:nvSpPr>
      <dsp:spPr>
        <a:xfrm>
          <a:off x="4147660" y="1659466"/>
          <a:ext cx="26614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160299-DCF5-4DDE-BC01-4796CFC94AC7}">
      <dsp:nvSpPr>
        <dsp:cNvPr id="0" name=""/>
        <dsp:cNvSpPr/>
      </dsp:nvSpPr>
      <dsp:spPr>
        <a:xfrm>
          <a:off x="4251352" y="1659466"/>
          <a:ext cx="2661415" cy="518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0" i="0" kern="1200" dirty="0">
              <a:latin typeface="+mn-lt"/>
              <a:ea typeface="微軟正黑體" panose="020B0604030504040204" pitchFamily="34" charset="-120"/>
            </a:rPr>
            <a:t>功率分配策略</a:t>
          </a:r>
          <a:endParaRPr lang="zh-TW" altLang="en-US" sz="1600" b="1" kern="1200" dirty="0">
            <a:latin typeface="+mn-lt"/>
            <a:ea typeface="微軟正黑體" panose="020B0604030504040204" pitchFamily="34" charset="-120"/>
          </a:endParaRPr>
        </a:p>
      </dsp:txBody>
      <dsp:txXfrm>
        <a:off x="4251352" y="1659466"/>
        <a:ext cx="2661415" cy="518076"/>
      </dsp:txXfrm>
    </dsp:sp>
    <dsp:sp modelId="{98583642-FF1F-4D7A-A36C-26ECC1D17A16}">
      <dsp:nvSpPr>
        <dsp:cNvPr id="0" name=""/>
        <dsp:cNvSpPr/>
      </dsp:nvSpPr>
      <dsp:spPr>
        <a:xfrm>
          <a:off x="1382553" y="2177543"/>
          <a:ext cx="553021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1C73E-F002-48A0-85EC-436267628197}">
      <dsp:nvSpPr>
        <dsp:cNvPr id="0" name=""/>
        <dsp:cNvSpPr/>
      </dsp:nvSpPr>
      <dsp:spPr>
        <a:xfrm>
          <a:off x="1486245" y="2229351"/>
          <a:ext cx="2661415" cy="1036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b="1" kern="1200" dirty="0">
              <a:latin typeface="+mn-lt"/>
              <a:ea typeface="微軟正黑體" panose="020B0604030504040204" pitchFamily="34" charset="-120"/>
            </a:rPr>
            <a:t>Hardware Layer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b="1" i="0" kern="1200" dirty="0">
              <a:latin typeface="+mn-lt"/>
              <a:ea typeface="微軟正黑體" panose="020B0604030504040204" pitchFamily="34" charset="-120"/>
            </a:rPr>
            <a:t>(</a:t>
          </a:r>
          <a:r>
            <a:rPr lang="zh-TW" altLang="en-US" sz="1600" b="1" i="0" kern="1200" dirty="0">
              <a:latin typeface="+mn-lt"/>
              <a:ea typeface="微軟正黑體" panose="020B0604030504040204" pitchFamily="34" charset="-120"/>
            </a:rPr>
            <a:t>硬體抽象層</a:t>
          </a:r>
          <a:r>
            <a:rPr lang="en-US" altLang="zh-TW" sz="1600" b="1" i="0" kern="1200" dirty="0">
              <a:latin typeface="+mn-lt"/>
              <a:ea typeface="微軟正黑體" panose="020B0604030504040204" pitchFamily="34" charset="-120"/>
            </a:rPr>
            <a:t>)</a:t>
          </a:r>
          <a:endParaRPr lang="zh-TW" altLang="en-US" sz="1600" b="1" kern="1200" dirty="0">
            <a:latin typeface="+mn-lt"/>
            <a:ea typeface="微軟正黑體" panose="020B0604030504040204" pitchFamily="34" charset="-120"/>
          </a:endParaRPr>
        </a:p>
      </dsp:txBody>
      <dsp:txXfrm>
        <a:off x="1486245" y="2229351"/>
        <a:ext cx="2661415" cy="1036153"/>
      </dsp:txXfrm>
    </dsp:sp>
    <dsp:sp modelId="{DE1F1851-4731-476D-B197-BF50AEDDA2E8}">
      <dsp:nvSpPr>
        <dsp:cNvPr id="0" name=""/>
        <dsp:cNvSpPr/>
      </dsp:nvSpPr>
      <dsp:spPr>
        <a:xfrm>
          <a:off x="4251352" y="2229351"/>
          <a:ext cx="2661415" cy="345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0" i="0" kern="1200" dirty="0">
              <a:latin typeface="+mn-lt"/>
              <a:ea typeface="微軟正黑體" panose="020B0604030504040204" pitchFamily="34" charset="-120"/>
            </a:rPr>
            <a:t>硬體抽象</a:t>
          </a:r>
          <a:endParaRPr lang="zh-TW" altLang="en-US" sz="1600" b="1" kern="1200" dirty="0">
            <a:latin typeface="+mn-lt"/>
            <a:ea typeface="微軟正黑體" panose="020B0604030504040204" pitchFamily="34" charset="-120"/>
          </a:endParaRPr>
        </a:p>
      </dsp:txBody>
      <dsp:txXfrm>
        <a:off x="4251352" y="2229351"/>
        <a:ext cx="2661415" cy="345047"/>
      </dsp:txXfrm>
    </dsp:sp>
    <dsp:sp modelId="{31640893-349B-44BB-A4A6-7B7871644F55}">
      <dsp:nvSpPr>
        <dsp:cNvPr id="0" name=""/>
        <dsp:cNvSpPr/>
      </dsp:nvSpPr>
      <dsp:spPr>
        <a:xfrm>
          <a:off x="4147660" y="2574398"/>
          <a:ext cx="26614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EBF79-8B6A-4FE6-ACD2-728EE84D1FF4}">
      <dsp:nvSpPr>
        <dsp:cNvPr id="0" name=""/>
        <dsp:cNvSpPr/>
      </dsp:nvSpPr>
      <dsp:spPr>
        <a:xfrm>
          <a:off x="4251352" y="2574398"/>
          <a:ext cx="2661415" cy="345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0" i="0" kern="1200" dirty="0">
              <a:latin typeface="+mn-lt"/>
              <a:ea typeface="微軟正黑體" panose="020B0604030504040204" pitchFamily="34" charset="-120"/>
            </a:rPr>
            <a:t>模組群組管理 </a:t>
          </a:r>
          <a:endParaRPr lang="zh-TW" altLang="en-US" sz="1600" b="1" kern="1200" dirty="0">
            <a:latin typeface="+mn-lt"/>
            <a:ea typeface="微軟正黑體" panose="020B0604030504040204" pitchFamily="34" charset="-120"/>
          </a:endParaRPr>
        </a:p>
      </dsp:txBody>
      <dsp:txXfrm>
        <a:off x="4251352" y="2574398"/>
        <a:ext cx="2661415" cy="345047"/>
      </dsp:txXfrm>
    </dsp:sp>
    <dsp:sp modelId="{964AD78D-C750-4206-98C4-06109C2A1C8A}">
      <dsp:nvSpPr>
        <dsp:cNvPr id="0" name=""/>
        <dsp:cNvSpPr/>
      </dsp:nvSpPr>
      <dsp:spPr>
        <a:xfrm>
          <a:off x="4147660" y="2919445"/>
          <a:ext cx="266141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290F2-5D64-4E0D-A98B-EB716C1C4B50}">
      <dsp:nvSpPr>
        <dsp:cNvPr id="0" name=""/>
        <dsp:cNvSpPr/>
      </dsp:nvSpPr>
      <dsp:spPr>
        <a:xfrm>
          <a:off x="4251352" y="2919445"/>
          <a:ext cx="2661415" cy="3450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600" b="0" kern="1200" dirty="0">
              <a:latin typeface="+mn-lt"/>
              <a:ea typeface="微軟正黑體" panose="020B0604030504040204" pitchFamily="34" charset="-120"/>
            </a:rPr>
            <a:t>EV</a:t>
          </a:r>
          <a:r>
            <a:rPr lang="zh-TW" altLang="en-US" sz="1600" b="0" kern="1200" dirty="0">
              <a:latin typeface="+mn-lt"/>
              <a:ea typeface="微軟正黑體" panose="020B0604030504040204" pitchFamily="34" charset="-120"/>
            </a:rPr>
            <a:t>充電</a:t>
          </a:r>
          <a:r>
            <a:rPr lang="zh-TW" altLang="en-US" sz="1600" b="0" i="0" kern="1200" dirty="0">
              <a:latin typeface="+mn-lt"/>
              <a:ea typeface="微軟正黑體" panose="020B0604030504040204" pitchFamily="34" charset="-120"/>
            </a:rPr>
            <a:t>曲線</a:t>
          </a:r>
          <a:endParaRPr lang="zh-TW" altLang="en-US" sz="1600" b="0" kern="1200" dirty="0">
            <a:latin typeface="+mn-lt"/>
            <a:ea typeface="微軟正黑體" panose="020B0604030504040204" pitchFamily="34" charset="-120"/>
          </a:endParaRPr>
        </a:p>
      </dsp:txBody>
      <dsp:txXfrm>
        <a:off x="4251352" y="2919445"/>
        <a:ext cx="2661415" cy="345047"/>
      </dsp:txXfrm>
    </dsp:sp>
    <dsp:sp modelId="{E461DBF1-E9C9-4B3B-AAC7-DA9FD4B94E2C}">
      <dsp:nvSpPr>
        <dsp:cNvPr id="0" name=""/>
        <dsp:cNvSpPr/>
      </dsp:nvSpPr>
      <dsp:spPr>
        <a:xfrm>
          <a:off x="1382553" y="3265504"/>
          <a:ext cx="553021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F0D9C-0244-48E5-AAB4-F314FC18147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380C3-7D2B-43B9-A2FF-0551F6D20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9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dirty="0"/>
              <a:t>各位好，首先讓我說明這個專案的背景。</a:t>
            </a:r>
          </a:p>
          <a:p>
            <a:r>
              <a:rPr lang="en-US" altLang="zh-TW" sz="1800" dirty="0"/>
              <a:t>EVCS </a:t>
            </a:r>
            <a:r>
              <a:rPr lang="zh-TW" altLang="en-US" sz="1800" dirty="0"/>
              <a:t>設計了一款充電模組與充電樁的多對多架構。這種架構的核心挑戰在於：充電模塊的配置與充電槍的輸出功率息息相關，如何在模塊與槍之間做到最佳化匹配，是我們要解決的問題。</a:t>
            </a:r>
          </a:p>
          <a:p>
            <a:r>
              <a:rPr lang="zh-TW" altLang="en-US" sz="1800" dirty="0"/>
              <a:t>。</a:t>
            </a:r>
            <a:r>
              <a:rPr lang="en-US" altLang="zh-TW" sz="1800" dirty="0"/>
              <a:t>2025</a:t>
            </a:r>
            <a:r>
              <a:rPr lang="zh-TW" altLang="en-US" sz="1800" dirty="0"/>
              <a:t> 年我們已經完成了 </a:t>
            </a:r>
            <a:r>
              <a:rPr lang="en-US" altLang="zh-TW" sz="1800" dirty="0"/>
              <a:t>EVCS </a:t>
            </a:r>
            <a:r>
              <a:rPr lang="zh-TW" altLang="en-US" sz="1800" dirty="0"/>
              <a:t>控制演算法的開發與交付，建立了基礎的切換機制，也具備了事件驅動的模擬引擎與驗證框架。</a:t>
            </a:r>
          </a:p>
          <a:p>
            <a:r>
              <a:rPr lang="zh-TW" altLang="en-US" sz="1800" dirty="0"/>
              <a:t>基於這個基礎，本年度 </a:t>
            </a:r>
            <a:r>
              <a:rPr lang="en-US" altLang="zh-TW" sz="1800" dirty="0"/>
              <a:t>2026 </a:t>
            </a:r>
            <a:r>
              <a:rPr lang="zh-TW" altLang="en-US" sz="1800" dirty="0"/>
              <a:t>年 </a:t>
            </a:r>
            <a:r>
              <a:rPr lang="en-US" altLang="zh-TW" sz="1800" dirty="0"/>
              <a:t>1 </a:t>
            </a:r>
            <a:r>
              <a:rPr lang="zh-TW" altLang="en-US" sz="1800" dirty="0"/>
              <a:t>月到 </a:t>
            </a:r>
            <a:r>
              <a:rPr lang="en-US" altLang="zh-TW" sz="1800" dirty="0"/>
              <a:t>11 </a:t>
            </a:r>
            <a:r>
              <a:rPr lang="zh-TW" altLang="en-US" sz="1800" dirty="0"/>
              <a:t>月，我們的目標是從三個面向進行擴展與優化：</a:t>
            </a:r>
          </a:p>
          <a:p>
            <a:r>
              <a:rPr lang="zh-TW" altLang="en-US" sz="1800" dirty="0"/>
              <a:t>第一，完整模擬引擎：包含 </a:t>
            </a:r>
            <a:r>
              <a:rPr lang="en-US" altLang="zh-TW" sz="1800" dirty="0"/>
              <a:t>Timing Diagram </a:t>
            </a:r>
            <a:r>
              <a:rPr lang="zh-TW" altLang="en-US" sz="1800" dirty="0"/>
              <a:t>視覺化工具、提升測試完整度納入更多參數，以及將演算法移植到 </a:t>
            </a:r>
            <a:r>
              <a:rPr lang="en-US" altLang="zh-TW" sz="1800" dirty="0"/>
              <a:t>MCU </a:t>
            </a:r>
            <a:r>
              <a:rPr lang="zh-TW" altLang="en-US" sz="1800" dirty="0"/>
              <a:t>硬體環境以 </a:t>
            </a:r>
            <a:r>
              <a:rPr lang="en-US" altLang="zh-TW" sz="1800" dirty="0"/>
              <a:t>C </a:t>
            </a:r>
            <a:r>
              <a:rPr lang="zh-TW" altLang="en-US" sz="1800" dirty="0"/>
              <a:t>語言實現。</a:t>
            </a:r>
          </a:p>
          <a:p>
            <a:r>
              <a:rPr lang="zh-TW" altLang="en-US" sz="1800" dirty="0"/>
              <a:t>第二，</a:t>
            </a:r>
            <a:r>
              <a:rPr lang="en-US" altLang="zh-TW" sz="1800" dirty="0"/>
              <a:t>Relay </a:t>
            </a:r>
            <a:r>
              <a:rPr lang="zh-TW" altLang="en-US" sz="1800" dirty="0"/>
              <a:t>切換最小化：優化演算法以減少切換次數，降低硬體損耗與維護成本。</a:t>
            </a:r>
          </a:p>
          <a:p>
            <a:r>
              <a:rPr lang="zh-TW" altLang="en-US" sz="1800" dirty="0"/>
              <a:t>第三，來車建議充電樁：開發推薦機制，根據系統狀態引導車輛至最佳充電樁位。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065FC7-32F4-46B0-A46D-B7C6CF8829A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905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51F46-7735-9E11-293D-1C96ED1A8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0D1D437-6BD7-8E74-6662-18A4A8B1A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C5E5BD-0B0D-199B-F5C6-976E74A3F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AD0E3C-EBA8-B5DC-2460-B3D4EDD07D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065FC7-32F4-46B0-A46D-B7C6CF8829A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0046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0A629-D060-34C3-C9E8-9138843F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4C47521-0030-A524-A16D-4E7CCF2E4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D13257-A917-E31C-7414-FEB51E182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E5B301-6257-9176-65B1-982B0AC6C2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065FC7-32F4-46B0-A46D-B7C6CF8829A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788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在專案產出方面，分為三大塊：</a:t>
            </a:r>
          </a:p>
          <a:p>
            <a:r>
              <a:rPr lang="zh-TW" altLang="en-US" dirty="0"/>
              <a:t>第一塊是完整模擬引擎開發。這包含：</a:t>
            </a:r>
            <a:r>
              <a:rPr lang="en-US" altLang="zh-TW" dirty="0"/>
              <a:t>Timing Diagram </a:t>
            </a:r>
            <a:r>
              <a:rPr lang="zh-TW" altLang="en-US" dirty="0"/>
              <a:t>視覺化工具，讓我們能以圖形方式呈現 </a:t>
            </a:r>
            <a:r>
              <a:rPr lang="en-US" altLang="zh-TW" dirty="0"/>
              <a:t>Relays </a:t>
            </a:r>
            <a:r>
              <a:rPr lang="zh-TW" altLang="en-US" dirty="0"/>
              <a:t>在各種充電情境下的狀態變化，便於系統分析與除錯；測試完整度提升，整合車輛種類、來車 </a:t>
            </a:r>
            <a:r>
              <a:rPr lang="en-US" altLang="zh-TW" dirty="0"/>
              <a:t>SOC</a:t>
            </a:r>
            <a:r>
              <a:rPr lang="zh-TW" altLang="en-US" dirty="0"/>
              <a:t>、預定充電量、來車密集率等參數，建立貼近實際營運環境的模擬測試框架；以及演算法 </a:t>
            </a:r>
            <a:r>
              <a:rPr lang="en-US" altLang="zh-TW" dirty="0"/>
              <a:t>MCU Porting </a:t>
            </a:r>
            <a:r>
              <a:rPr lang="zh-TW" altLang="en-US" dirty="0"/>
              <a:t>與驗證，將目前以 </a:t>
            </a:r>
            <a:r>
              <a:rPr lang="en-US" altLang="zh-TW" dirty="0"/>
              <a:t>Python </a:t>
            </a:r>
            <a:r>
              <a:rPr lang="zh-TW" altLang="en-US" dirty="0"/>
              <a:t>開發的演算法移植到 </a:t>
            </a:r>
            <a:r>
              <a:rPr lang="en-US" altLang="zh-TW" dirty="0"/>
              <a:t>MCU </a:t>
            </a:r>
            <a:r>
              <a:rPr lang="zh-TW" altLang="en-US" dirty="0"/>
              <a:t>硬體環境，以 </a:t>
            </a:r>
            <a:r>
              <a:rPr lang="en-US" altLang="zh-TW" dirty="0"/>
              <a:t>C </a:t>
            </a:r>
            <a:r>
              <a:rPr lang="zh-TW" altLang="en-US" dirty="0"/>
              <a:t>語言實現並完成性能驗證。</a:t>
            </a:r>
          </a:p>
          <a:p>
            <a:r>
              <a:rPr lang="zh-TW" altLang="en-US" dirty="0"/>
              <a:t>第二塊是 </a:t>
            </a:r>
            <a:r>
              <a:rPr lang="en-US" altLang="zh-TW" dirty="0"/>
              <a:t>Relay </a:t>
            </a:r>
            <a:r>
              <a:rPr lang="zh-TW" altLang="en-US" dirty="0"/>
              <a:t>切換最小化演算法。我們將優化現有演算法邏輯，透過智能排程與預判機制減少切換次數，降低硬體損耗與維護成本，延長設備使用壽命。</a:t>
            </a:r>
          </a:p>
          <a:p>
            <a:r>
              <a:rPr lang="zh-TW" altLang="en-US" dirty="0"/>
              <a:t>第三塊是來車建議充電樁推薦系統。開發智能推薦機制，根據當前系統狀態</a:t>
            </a:r>
            <a:r>
              <a:rPr lang="en-US" altLang="zh-TW" dirty="0"/>
              <a:t>——</a:t>
            </a:r>
            <a:r>
              <a:rPr lang="zh-TW" altLang="en-US" dirty="0"/>
              <a:t>包括各樁位負載、可用功率、等待車輛數等</a:t>
            </a:r>
            <a:r>
              <a:rPr lang="en-US" altLang="zh-TW" dirty="0"/>
              <a:t>——</a:t>
            </a:r>
            <a:r>
              <a:rPr lang="zh-TW" altLang="en-US" dirty="0"/>
              <a:t>引導來車至最佳充電樁位，提升用戶滿意度與整體充電站利用率。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380C3-7D2B-43B9-A2FF-0551F6D200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81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這頁是全年度的時程規劃，分為四個季度。</a:t>
            </a:r>
          </a:p>
          <a:p>
            <a:r>
              <a:rPr lang="en-US" altLang="zh-TW" b="1" dirty="0"/>
              <a:t>Q1 </a:t>
            </a:r>
            <a:r>
              <a:rPr lang="zh-TW" altLang="en-US" b="1" dirty="0"/>
              <a:t>第一季</a:t>
            </a:r>
            <a:r>
              <a:rPr lang="zh-TW" altLang="en-US" dirty="0"/>
              <a:t>，我們聚焦在模擬引擎的基礎建設：完成 </a:t>
            </a:r>
            <a:r>
              <a:rPr lang="en-US" altLang="zh-TW" dirty="0"/>
              <a:t>Timing Diagram </a:t>
            </a:r>
            <a:r>
              <a:rPr lang="zh-TW" altLang="en-US" dirty="0"/>
              <a:t>架構設計與繪圖模組開發、規劃並訂定測試參數資料集、建立隨機測試案例產生器，以及完成模擬引擎驗證與技術文件。產出包括模擬引擎技術規格文件、</a:t>
            </a:r>
            <a:r>
              <a:rPr lang="en-US" altLang="zh-TW" dirty="0"/>
              <a:t>Timing Diagram </a:t>
            </a:r>
            <a:r>
              <a:rPr lang="zh-TW" altLang="en-US" dirty="0"/>
              <a:t>設計、測試參數資料集與隨機測試案例報告。</a:t>
            </a:r>
          </a:p>
          <a:p>
            <a:r>
              <a:rPr lang="en-US" altLang="zh-TW" b="1" dirty="0"/>
              <a:t>Q2 </a:t>
            </a:r>
            <a:r>
              <a:rPr lang="zh-TW" altLang="en-US" b="1" dirty="0"/>
              <a:t>第二季</a:t>
            </a:r>
            <a:r>
              <a:rPr lang="zh-TW" altLang="en-US" dirty="0"/>
              <a:t>，重點在 </a:t>
            </a:r>
            <a:r>
              <a:rPr lang="en-US" altLang="zh-TW" dirty="0"/>
              <a:t>MCU </a:t>
            </a:r>
            <a:r>
              <a:rPr lang="zh-TW" altLang="en-US" dirty="0"/>
              <a:t>移植：</a:t>
            </a:r>
            <a:r>
              <a:rPr lang="en-US" altLang="zh-TW" dirty="0"/>
              <a:t>C </a:t>
            </a:r>
            <a:r>
              <a:rPr lang="zh-TW" altLang="en-US" dirty="0"/>
              <a:t>語言演算法實現、</a:t>
            </a:r>
            <a:r>
              <a:rPr lang="en-US" altLang="zh-TW" dirty="0"/>
              <a:t>MCU </a:t>
            </a:r>
            <a:r>
              <a:rPr lang="zh-TW" altLang="en-US" dirty="0"/>
              <a:t>硬體適配層開發、功能驗證及性能測試。同時建立 </a:t>
            </a:r>
            <a:r>
              <a:rPr lang="en-US" altLang="zh-TW" dirty="0"/>
              <a:t>Relay </a:t>
            </a:r>
            <a:r>
              <a:rPr lang="zh-TW" altLang="en-US" dirty="0"/>
              <a:t>切換次數量測與統計機制，實作切換成本評估函數並整合至主控制演算法，執行優化前後比較測試。產出包括 </a:t>
            </a:r>
            <a:r>
              <a:rPr lang="en-US" altLang="zh-TW" dirty="0"/>
              <a:t>Python </a:t>
            </a:r>
            <a:r>
              <a:rPr lang="zh-TW" altLang="en-US" dirty="0"/>
              <a:t>轉 </a:t>
            </a:r>
            <a:r>
              <a:rPr lang="en-US" altLang="zh-TW" dirty="0"/>
              <a:t>C </a:t>
            </a:r>
            <a:r>
              <a:rPr lang="zh-TW" altLang="en-US" dirty="0"/>
              <a:t>設計、</a:t>
            </a:r>
            <a:r>
              <a:rPr lang="en-US" altLang="zh-TW" dirty="0"/>
              <a:t>MCU </a:t>
            </a:r>
            <a:r>
              <a:rPr lang="zh-TW" altLang="en-US" dirty="0"/>
              <a:t>功能與性能驗證報告、演算法技術規格文件，以及切換最小化演算法模組設計。</a:t>
            </a:r>
          </a:p>
          <a:p>
            <a:r>
              <a:rPr lang="en-US" altLang="zh-TW" b="1" dirty="0"/>
              <a:t>Q3 </a:t>
            </a:r>
            <a:r>
              <a:rPr lang="zh-TW" altLang="en-US" b="1" dirty="0"/>
              <a:t>第三季</a:t>
            </a:r>
            <a:r>
              <a:rPr lang="zh-TW" altLang="en-US" dirty="0"/>
              <a:t>，完成切換最小化演算法驗證報告，並啟動推薦系統開發：定義充電樁推薦評估指標、設計多指標加權評分模型、開發並調校推薦引擎，執行 </a:t>
            </a:r>
            <a:r>
              <a:rPr lang="en-US" altLang="zh-TW" dirty="0"/>
              <a:t>2 </a:t>
            </a:r>
            <a:r>
              <a:rPr lang="zh-TW" altLang="en-US" dirty="0"/>
              <a:t>到 </a:t>
            </a:r>
            <a:r>
              <a:rPr lang="en-US" altLang="zh-TW" dirty="0"/>
              <a:t>6 </a:t>
            </a:r>
            <a:r>
              <a:rPr lang="zh-TW" altLang="en-US" dirty="0"/>
              <a:t>部來車場景的模擬驗證。產出包括 </a:t>
            </a:r>
            <a:r>
              <a:rPr lang="en-US" altLang="zh-TW" dirty="0"/>
              <a:t>Relay </a:t>
            </a:r>
            <a:r>
              <a:rPr lang="zh-TW" altLang="en-US" dirty="0"/>
              <a:t>切換分析與優化效益比較報告、推薦系統技術規格文件與演算法模組設計。</a:t>
            </a:r>
          </a:p>
          <a:p>
            <a:r>
              <a:rPr lang="en-US" altLang="zh-TW" b="1" dirty="0"/>
              <a:t>Q4 </a:t>
            </a:r>
            <a:r>
              <a:rPr lang="zh-TW" altLang="en-US" b="1" dirty="0"/>
              <a:t>第四季</a:t>
            </a:r>
            <a:r>
              <a:rPr lang="zh-TW" altLang="en-US" dirty="0"/>
              <a:t>，完成推薦系統效益評估報告、撰寫專案總結報告與效益評估、完成 </a:t>
            </a:r>
            <a:r>
              <a:rPr lang="en-US" altLang="zh-TW" dirty="0"/>
              <a:t>API </a:t>
            </a:r>
            <a:r>
              <a:rPr lang="zh-TW" altLang="en-US" dirty="0"/>
              <a:t>規格與系統整合文件，最終進行專案成果發表與交付。產出包括驗證報告、專案總結報告、系統整合文件包（含 </a:t>
            </a:r>
            <a:r>
              <a:rPr lang="en-US" altLang="zh-TW" dirty="0"/>
              <a:t>API </a:t>
            </a:r>
            <a:r>
              <a:rPr lang="zh-TW" altLang="en-US" dirty="0"/>
              <a:t>與部署指南），以及技術移轉文件。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065FC7-32F4-46B0-A46D-B7C6CF8829A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093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2026 </a:t>
            </a:r>
            <a:r>
              <a:rPr lang="zh-TW" altLang="en-US" dirty="0"/>
              <a:t>的</a:t>
            </a:r>
            <a:r>
              <a:rPr lang="zh-TW" altLang="en-US" sz="1200" dirty="0">
                <a:solidFill>
                  <a:srgbClr val="0087D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itchFamily="34" charset="0"/>
              </a:rPr>
              <a:t>領域技術轉移文件共計 </a:t>
            </a:r>
            <a:r>
              <a:rPr lang="en-US" altLang="zh-TW" sz="1200" dirty="0">
                <a:solidFill>
                  <a:srgbClr val="0087D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itchFamily="34" charset="0"/>
              </a:rPr>
              <a:t>27 </a:t>
            </a:r>
            <a:r>
              <a:rPr lang="zh-TW" altLang="en-US" sz="1200" dirty="0">
                <a:solidFill>
                  <a:srgbClr val="0087D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itchFamily="34" charset="0"/>
              </a:rPr>
              <a:t>項，我們都會完成並且在年底交付</a:t>
            </a:r>
            <a:endParaRPr lang="en-US" altLang="zh-TW" sz="1200" dirty="0">
              <a:solidFill>
                <a:srgbClr val="0087DC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itchFamily="34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380C3-7D2B-43B9-A2FF-0551F6D200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191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380C3-7D2B-43B9-A2FF-0551F6D200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64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065FC7-32F4-46B0-A46D-B7C6CF8829A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135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065FC7-32F4-46B0-A46D-B7C6CF8829A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1686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 userDrawn="1"/>
        </p:nvSpPr>
        <p:spPr>
          <a:xfrm>
            <a:off x="2651760" y="457201"/>
            <a:ext cx="9265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sz="32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2651760" y="272944"/>
            <a:ext cx="9265920" cy="67669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0087D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0"/>
          </p:nvPr>
        </p:nvSpPr>
        <p:spPr>
          <a:xfrm>
            <a:off x="335280" y="1133899"/>
            <a:ext cx="11582400" cy="5348183"/>
          </a:xfrm>
          <a:prstGeom prst="rect">
            <a:avLst/>
          </a:prstGeom>
        </p:spPr>
        <p:txBody>
          <a:bodyPr/>
          <a:lstStyle>
            <a:lvl1pPr marL="478355" indent="-478355">
              <a:buFont typeface="Wingdings" panose="05000000000000000000" pitchFamily="2" charset="2"/>
              <a:buChar char="n"/>
              <a:defRPr sz="2667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954593" indent="-476239">
              <a:buFont typeface="Wingdings" panose="05000000000000000000" pitchFamily="2" charset="2"/>
              <a:buChar char="l"/>
              <a:defRPr sz="2133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310185" indent="-355591">
              <a:defRPr sz="1867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76358" indent="-366175">
              <a:defRPr sz="1867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31949" indent="-355591">
              <a:defRPr sz="1867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5582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Inse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/>
          <p:cNvSpPr>
            <a:spLocks noGrp="1"/>
          </p:cNvSpPr>
          <p:nvPr>
            <p:ph type="ctrTitle"/>
          </p:nvPr>
        </p:nvSpPr>
        <p:spPr>
          <a:xfrm>
            <a:off x="0" y="404667"/>
            <a:ext cx="12192000" cy="588052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zh-TW" altLang="en-US" sz="2800" b="1" baseline="0" dirty="0">
                <a:solidFill>
                  <a:srgbClr val="0087D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itchFamily="34" charset="0"/>
              </a:defRPr>
            </a:lvl1pPr>
          </a:lstStyle>
          <a:p>
            <a:pPr lvl="0" algn="ctr"/>
            <a:r>
              <a:rPr lang="zh-CN" altLang="en-US" dirty="0"/>
              <a:t>单击此处编辑母版标题样式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>
          <a:xfrm>
            <a:off x="9258913" y="6501345"/>
            <a:ext cx="2844800" cy="364067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80EF9F-B77F-44D8-8003-BFE620825D3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635347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18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字方塊 10"/>
          <p:cNvSpPr txBox="1">
            <a:spLocks noChangeArrowheads="1"/>
          </p:cNvSpPr>
          <p:nvPr userDrawn="1"/>
        </p:nvSpPr>
        <p:spPr bwMode="auto">
          <a:xfrm>
            <a:off x="228601" y="6545019"/>
            <a:ext cx="22076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200" dirty="0">
                <a:solidFill>
                  <a:srgbClr val="4D4D4D"/>
                </a:solidFill>
                <a:cs typeface="Arial" charset="0"/>
              </a:rPr>
              <a:t>Confidential</a:t>
            </a:r>
            <a:endParaRPr kumimoji="0" lang="zh-TW" altLang="en-US" sz="1200" dirty="0">
              <a:solidFill>
                <a:srgbClr val="4D4D4D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33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72" r:id="rId2"/>
    <p:sldLayoutId id="2147483773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 txBox="1">
            <a:spLocks/>
          </p:cNvSpPr>
          <p:nvPr/>
        </p:nvSpPr>
        <p:spPr bwMode="auto">
          <a:xfrm>
            <a:off x="402744" y="548218"/>
            <a:ext cx="5693255" cy="3312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87DC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提案計劃書 </a:t>
            </a: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0087DC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0087DC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87D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87D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年</a:t>
            </a: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0087DC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0087D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EVCS</a:t>
            </a: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87DC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充電槍與模塊最佳化配置案</a:t>
            </a: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0087DC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99" name="Rectangle 3"/>
          <p:cNvSpPr txBox="1">
            <a:spLocks noChangeArrowheads="1"/>
          </p:cNvSpPr>
          <p:nvPr/>
        </p:nvSpPr>
        <p:spPr bwMode="auto">
          <a:xfrm>
            <a:off x="402746" y="5021311"/>
            <a:ext cx="5005917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457189" marR="0" lvl="0" indent="-457189" algn="l" defTabSz="121917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新細明體" pitchFamily="18" charset="-120"/>
                <a:cs typeface="Arial" panose="020B0604020202020204" pitchFamily="34" charset="0"/>
              </a:rPr>
              <a:t>Person: Sonny Lee</a:t>
            </a:r>
          </a:p>
          <a:p>
            <a:pPr marL="457189" marR="0" lvl="0" indent="-457189" algn="l" defTabSz="121917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新細明體" pitchFamily="18" charset="-120"/>
                <a:cs typeface="Arial" panose="020B0604020202020204" pitchFamily="34" charset="0"/>
              </a:rPr>
              <a:t>Date: 2026/1/20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63040" y="272944"/>
            <a:ext cx="9265920" cy="676699"/>
          </a:xfrm>
        </p:spPr>
        <p:txBody>
          <a:bodyPr anchor="ctr"/>
          <a:lstStyle/>
          <a:p>
            <a:r>
              <a:rPr lang="zh-TW" altLang="en-US" sz="2800" b="1" dirty="0">
                <a:latin typeface="DeltaSans" panose="020B0502030000000004" pitchFamily="34" charset="0"/>
              </a:rPr>
              <a:t>合作背景與目標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35280" y="1133899"/>
            <a:ext cx="7272888" cy="5348183"/>
          </a:xfrm>
        </p:spPr>
        <p:txBody>
          <a:bodyPr/>
          <a:lstStyle/>
          <a:p>
            <a:r>
              <a:rPr lang="zh-TW" altLang="en-US" sz="1400" b="1" dirty="0">
                <a:latin typeface="DeltaSans" panose="020B0502030000000004" pitchFamily="34" charset="0"/>
                <a:cs typeface="Calibri" panose="020F0502020204030204" pitchFamily="34" charset="0"/>
              </a:rPr>
              <a:t>背景</a:t>
            </a:r>
            <a:endParaRPr lang="en-US" altLang="zh-TW" sz="1400" b="1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066773" lvl="1" indent="-457189">
              <a:buSzPct val="90000"/>
              <a:buFont typeface="+mj-lt"/>
              <a:buAutoNum type="arabicParenR"/>
            </a:pPr>
            <a:r>
              <a:rPr lang="en-US" altLang="zh-TW" sz="1400" kern="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EVCS</a:t>
            </a:r>
            <a:r>
              <a:rPr lang="zh-TW" altLang="en-US" sz="1400" kern="0" dirty="0">
                <a:latin typeface="DeltaSans" panose="020B0502030000000004" pitchFamily="34" charset="0"/>
                <a:cs typeface="Calibri" panose="020F0502020204030204" pitchFamily="34" charset="0"/>
              </a:rPr>
              <a:t>設計一款充電模組與充電樁之多對多架構，充電模塊的配置與充電槍當下輸出功率有關，供電模塊模組與充電槍間，存在匹配最佳化問題</a:t>
            </a:r>
            <a:endParaRPr lang="en-US" altLang="zh-TW" sz="1400" kern="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066773" lvl="1" indent="-457189">
              <a:buSzPct val="90000"/>
              <a:buFont typeface="+mj-lt"/>
              <a:buAutoNum type="arabicParenR"/>
            </a:pPr>
            <a:r>
              <a:rPr lang="en-US" altLang="zh-TW" sz="1400" kern="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EVCS</a:t>
            </a:r>
            <a:r>
              <a:rPr lang="zh-TW" altLang="en-US" sz="1400" kern="0" dirty="0">
                <a:latin typeface="DeltaSans" panose="020B0502030000000004" pitchFamily="34" charset="0"/>
                <a:cs typeface="Calibri" panose="020F0502020204030204" pitchFamily="34" charset="0"/>
              </a:rPr>
              <a:t>在提供給客人的案場提案中，需要導入一個充電模塊最佳化切換的模組控制演算法</a:t>
            </a:r>
            <a:endParaRPr lang="en-US" altLang="zh-TW" sz="1400" kern="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066773" lvl="1" indent="-457189">
              <a:buSzPct val="90000"/>
              <a:buFont typeface="+mj-lt"/>
              <a:buAutoNum type="arabicParenR"/>
            </a:pPr>
            <a:r>
              <a:rPr lang="en-US" altLang="zh-TW" sz="14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2025</a:t>
            </a:r>
            <a:r>
              <a:rPr lang="zh-TW" altLang="en-US" sz="1400" dirty="0">
                <a:latin typeface="DeltaSans" panose="020B0502030000000004" pitchFamily="34" charset="0"/>
                <a:cs typeface="Calibri" panose="020F0502020204030204" pitchFamily="34" charset="0"/>
              </a:rPr>
              <a:t>年已完成 </a:t>
            </a:r>
            <a:r>
              <a:rPr lang="en-US" altLang="zh-TW" sz="14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EVCS </a:t>
            </a:r>
            <a:r>
              <a:rPr lang="zh-TW" altLang="en-US" sz="1400" dirty="0">
                <a:latin typeface="DeltaSans" panose="020B0502030000000004" pitchFamily="34" charset="0"/>
                <a:cs typeface="Calibri" panose="020F0502020204030204" pitchFamily="34" charset="0"/>
              </a:rPr>
              <a:t>控制演算法的開發與交付，建立了基礎的充電模塊最佳化切換機制，已具備事件驅動模擬引擎與完整的驗證框架</a:t>
            </a:r>
            <a:endParaRPr lang="en-US" altLang="zh-TW" sz="14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r>
              <a:rPr lang="zh-TW" altLang="en-US" sz="1400" b="1" dirty="0">
                <a:latin typeface="DeltaSans" panose="020B0502030000000004" pitchFamily="34" charset="0"/>
                <a:cs typeface="Calibri" panose="020F0502020204030204" pitchFamily="34" charset="0"/>
              </a:rPr>
              <a:t>目標</a:t>
            </a:r>
            <a:endParaRPr lang="en-US" altLang="zh-TW" sz="1400" b="1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476238" lvl="1" indent="0">
              <a:buNone/>
            </a:pPr>
            <a:r>
              <a:rPr lang="zh-TW" altLang="en-US" sz="1400" dirty="0">
                <a:latin typeface="DeltaSans" panose="020B0502030000000004" pitchFamily="34" charset="0"/>
                <a:cs typeface="Calibri" panose="020F0502020204030204" pitchFamily="34" charset="0"/>
              </a:rPr>
              <a:t>本年度（</a:t>
            </a:r>
            <a:r>
              <a:rPr lang="en-US" altLang="zh-TW" sz="14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2026.01~11</a:t>
            </a:r>
            <a:r>
              <a:rPr lang="zh-TW" altLang="en-US" sz="1400" dirty="0">
                <a:latin typeface="DeltaSans" panose="020B0502030000000004" pitchFamily="34" charset="0"/>
                <a:cs typeface="Calibri" panose="020F0502020204030204" pitchFamily="34" charset="0"/>
              </a:rPr>
              <a:t>）目標為基於</a:t>
            </a:r>
            <a:r>
              <a:rPr lang="en-US" altLang="zh-TW" sz="14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EVCS</a:t>
            </a:r>
            <a:r>
              <a:rPr lang="zh-TW" altLang="en-US" sz="1400" dirty="0">
                <a:latin typeface="DeltaSans" panose="020B0502030000000004" pitchFamily="34" charset="0"/>
                <a:cs typeface="Calibri" panose="020F0502020204030204" pitchFamily="34" charset="0"/>
              </a:rPr>
              <a:t>演算法進行三面向的擴展與優化：</a:t>
            </a:r>
            <a:endParaRPr lang="en-US" altLang="zh-TW" sz="14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endParaRPr lang="en-US" altLang="zh-TW" sz="14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圖片 3" descr="一張含有 文字, 螢幕擷取畫面, 鮮豔, 設計 的圖片&#10;&#10;AI 產生的內容可能不正確。">
            <a:extLst>
              <a:ext uri="{FF2B5EF4-FFF2-40B4-BE49-F238E27FC236}">
                <a16:creationId xmlns:a16="http://schemas.microsoft.com/office/drawing/2014/main" id="{03473540-EA33-974C-EF99-6AE8FE921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925" y="1345465"/>
            <a:ext cx="4055980" cy="4884859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D6AE655-11C6-FD14-5A64-ACC735FCC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561943"/>
              </p:ext>
            </p:extLst>
          </p:nvPr>
        </p:nvGraphicFramePr>
        <p:xfrm>
          <a:off x="905016" y="3429564"/>
          <a:ext cx="6696744" cy="2992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80220">
                  <a:extLst>
                    <a:ext uri="{9D8B030D-6E8A-4147-A177-3AD203B41FA5}">
                      <a16:colId xmlns:a16="http://schemas.microsoft.com/office/drawing/2014/main" val="3664942210"/>
                    </a:ext>
                  </a:extLst>
                </a:gridCol>
                <a:gridCol w="4716524">
                  <a:extLst>
                    <a:ext uri="{9D8B030D-6E8A-4147-A177-3AD203B41FA5}">
                      <a16:colId xmlns:a16="http://schemas.microsoft.com/office/drawing/2014/main" val="107311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目標說明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612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1. </a:t>
                      </a:r>
                      <a:r>
                        <a:rPr lang="zh-TW" altLang="en-US" sz="14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完整模擬引擎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Timing Diagram 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視覺化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: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提供 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Timing Diagram 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以視覺方式呈現 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Relays 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在多種情境下的變化</a:t>
                      </a:r>
                      <a:endParaRPr lang="en-US" altLang="zh-TW" sz="140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>
                        <a:buAutoNum type="alphaUcPeriod"/>
                      </a:pP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測試完整度提升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: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納入車輛種類、來車 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SOC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、預定充電量、來車密集率等參數，建立貼近實際營運的模擬環境</a:t>
                      </a:r>
                      <a:endParaRPr lang="en-US" altLang="zh-TW" sz="1400" dirty="0"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342900" indent="-342900">
                        <a:buAutoNum type="alphaUcPeriod"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將演算法移植到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MCU 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硬體環境（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C 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語言實現），並完成性能驗證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44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2. Relay </a:t>
                      </a:r>
                      <a:r>
                        <a:rPr lang="zh-TW" altLang="en-US" sz="14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切換最小化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優化演算法以減少 </a:t>
                      </a:r>
                      <a:r>
                        <a:rPr lang="en-US" altLang="zh-TW" sz="1400" b="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Relay </a:t>
                      </a:r>
                      <a:r>
                        <a:rPr lang="zh-TW" altLang="en-US" sz="14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切換次數，降低硬體損耗與維護成本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0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3. </a:t>
                      </a:r>
                      <a:r>
                        <a:rPr lang="zh-TW" altLang="en-US" sz="14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來車建議充電樁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開發推薦機制，根據系統狀態引導車輛至最佳充電樁位，提升用戶滿意度與整體利用率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811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165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1677-DF2E-037C-BE7C-DE5964D0B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8ADAC4C-AB1E-A0C4-C36F-B8B347412CCD}"/>
              </a:ext>
            </a:extLst>
          </p:cNvPr>
          <p:cNvSpPr/>
          <p:nvPr/>
        </p:nvSpPr>
        <p:spPr>
          <a:xfrm>
            <a:off x="263352" y="1552755"/>
            <a:ext cx="5353841" cy="18762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Rectifier Board (250kW)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1C6F670-06D5-47F8-0D8B-D80B399BF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272944"/>
            <a:ext cx="9265920" cy="676699"/>
          </a:xfrm>
        </p:spPr>
        <p:txBody>
          <a:bodyPr anchor="ctr"/>
          <a:lstStyle/>
          <a:p>
            <a:r>
              <a:rPr lang="zh-TW" altLang="en-US" sz="2800" b="1" dirty="0"/>
              <a:t>硬體拓撲與功率級別</a:t>
            </a:r>
            <a:endParaRPr lang="zh-TW" altLang="en-US" sz="2667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EB073A-D775-7B52-6172-E3CBC399A429}"/>
              </a:ext>
            </a:extLst>
          </p:cNvPr>
          <p:cNvSpPr/>
          <p:nvPr/>
        </p:nvSpPr>
        <p:spPr>
          <a:xfrm>
            <a:off x="501873" y="2094782"/>
            <a:ext cx="1219200" cy="1143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50kW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EA4220-E830-4013-ECCA-E5B251BCDA16}"/>
              </a:ext>
            </a:extLst>
          </p:cNvPr>
          <p:cNvSpPr/>
          <p:nvPr/>
        </p:nvSpPr>
        <p:spPr>
          <a:xfrm>
            <a:off x="1721073" y="2094782"/>
            <a:ext cx="1219200" cy="1143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G2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75kW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5D9126-E9FB-1309-8FAA-558709366E37}"/>
              </a:ext>
            </a:extLst>
          </p:cNvPr>
          <p:cNvSpPr/>
          <p:nvPr/>
        </p:nvSpPr>
        <p:spPr>
          <a:xfrm>
            <a:off x="2940273" y="2094782"/>
            <a:ext cx="1219200" cy="1143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G3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75kW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7E2067-83FD-B6A9-8C39-DDF06FBFFFA7}"/>
              </a:ext>
            </a:extLst>
          </p:cNvPr>
          <p:cNvSpPr/>
          <p:nvPr/>
        </p:nvSpPr>
        <p:spPr>
          <a:xfrm>
            <a:off x="4159473" y="2094782"/>
            <a:ext cx="1219200" cy="1143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G4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50kW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EF5CF8B-72E2-64AE-91E7-C5F63506D60E}"/>
              </a:ext>
            </a:extLst>
          </p:cNvPr>
          <p:cNvCxnSpPr/>
          <p:nvPr/>
        </p:nvCxnSpPr>
        <p:spPr>
          <a:xfrm>
            <a:off x="1097575" y="3237782"/>
            <a:ext cx="0" cy="685800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AE3386D-4628-878A-99AF-1522D766860F}"/>
              </a:ext>
            </a:extLst>
          </p:cNvPr>
          <p:cNvCxnSpPr/>
          <p:nvPr/>
        </p:nvCxnSpPr>
        <p:spPr>
          <a:xfrm>
            <a:off x="4755175" y="3237782"/>
            <a:ext cx="0" cy="685800"/>
          </a:xfrm>
          <a:prstGeom prst="lin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8B15005-83BA-5ED1-3A5B-B3A3C9B23F43}"/>
              </a:ext>
            </a:extLst>
          </p:cNvPr>
          <p:cNvSpPr txBox="1"/>
          <p:nvPr/>
        </p:nvSpPr>
        <p:spPr>
          <a:xfrm>
            <a:off x="236601" y="3935226"/>
            <a:ext cx="17411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(G1-&gt;G2-&gt;G3-&gt;G4)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7CA79A0-B926-FF88-2CF3-D2559721DCFF}"/>
              </a:ext>
            </a:extLst>
          </p:cNvPr>
          <p:cNvSpPr txBox="1"/>
          <p:nvPr/>
        </p:nvSpPr>
        <p:spPr>
          <a:xfrm>
            <a:off x="3898481" y="3911685"/>
            <a:ext cx="17411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Output2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(G4-&gt;G3-&gt;G2-&gt;G1)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718AAFD-C857-963A-6710-210A61E07B69}"/>
              </a:ext>
            </a:extLst>
          </p:cNvPr>
          <p:cNvSpPr txBox="1"/>
          <p:nvPr/>
        </p:nvSpPr>
        <p:spPr>
          <a:xfrm>
            <a:off x="263352" y="4651083"/>
            <a:ext cx="6094562" cy="1346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系統配置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: 4 MCUs </a:t>
            </a: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環形連接 </a:t>
            </a:r>
            <a:endParaRPr kumimoji="1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• MCU1 ←→ MCU2 ←→ MCU3 ←→ MCU4 ←→ MCU1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• 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總容量</a:t>
            </a: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: 1000kW (4 × 250kW)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• 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支援 </a:t>
            </a: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8 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個輸出口 </a:t>
            </a: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(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每 </a:t>
            </a: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MCU 2 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個</a:t>
            </a: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)</a:t>
            </a:r>
            <a:endParaRPr kumimoji="1" lang="zh-TW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DeltaSans" panose="020B05020300000000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30BD7B6-36C8-1608-2917-D39D33D924DD}"/>
              </a:ext>
            </a:extLst>
          </p:cNvPr>
          <p:cNvSpPr txBox="1"/>
          <p:nvPr/>
        </p:nvSpPr>
        <p:spPr>
          <a:xfrm>
            <a:off x="192519" y="1175825"/>
            <a:ext cx="1726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單一 </a:t>
            </a: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MCU </a:t>
            </a: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配置：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C97EFA42-A004-E533-1254-26EC066A7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952930"/>
              </p:ext>
            </p:extLst>
          </p:nvPr>
        </p:nvGraphicFramePr>
        <p:xfrm>
          <a:off x="6240690" y="1553762"/>
          <a:ext cx="5601085" cy="2225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54793">
                  <a:extLst>
                    <a:ext uri="{9D8B030D-6E8A-4147-A177-3AD203B41FA5}">
                      <a16:colId xmlns:a16="http://schemas.microsoft.com/office/drawing/2014/main" val="1033246262"/>
                    </a:ext>
                  </a:extLst>
                </a:gridCol>
                <a:gridCol w="1317816">
                  <a:extLst>
                    <a:ext uri="{9D8B030D-6E8A-4147-A177-3AD203B41FA5}">
                      <a16:colId xmlns:a16="http://schemas.microsoft.com/office/drawing/2014/main" val="873452097"/>
                    </a:ext>
                  </a:extLst>
                </a:gridCol>
                <a:gridCol w="2928476">
                  <a:extLst>
                    <a:ext uri="{9D8B030D-6E8A-4147-A177-3AD203B41FA5}">
                      <a16:colId xmlns:a16="http://schemas.microsoft.com/office/drawing/2014/main" val="28274046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級別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充電模組配置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340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初始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125kW</a:t>
                      </a:r>
                      <a:endParaRPr lang="zh-TW" altLang="en-US" sz="1400" dirty="0"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G1+G2/G4+G3</a:t>
                      </a:r>
                      <a:endParaRPr lang="zh-TW" altLang="en-US" sz="1400" dirty="0"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307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等級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zh-TW" altLang="en-US" sz="1400" dirty="0"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200kW</a:t>
                      </a:r>
                      <a:endParaRPr lang="zh-TW" altLang="en-US" sz="1400" dirty="0"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3 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個充電模組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933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等級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zh-TW" altLang="en-US" sz="1400" dirty="0"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250kW</a:t>
                      </a:r>
                      <a:endParaRPr lang="zh-TW" altLang="en-US" sz="1400" dirty="0"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4 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個充電模組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本地最大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TW" altLang="en-US" sz="1400" dirty="0"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67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等級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zh-TW" altLang="en-US" sz="1400" dirty="0"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300kW</a:t>
                      </a:r>
                      <a:endParaRPr lang="zh-TW" altLang="en-US" sz="1400" dirty="0"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本地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借電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703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最大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600kW</a:t>
                      </a:r>
                      <a:endParaRPr lang="zh-TW" altLang="en-US" sz="1400" dirty="0"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本地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左借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右借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409958"/>
                  </a:ext>
                </a:extLst>
              </a:tr>
            </a:tbl>
          </a:graphicData>
        </a:graphic>
      </p:graphicFrame>
      <p:sp>
        <p:nvSpPr>
          <p:cNvPr id="20" name="文字方塊 19">
            <a:extLst>
              <a:ext uri="{FF2B5EF4-FFF2-40B4-BE49-F238E27FC236}">
                <a16:creationId xmlns:a16="http://schemas.microsoft.com/office/drawing/2014/main" id="{54331A9D-263F-832D-9672-64F4911750C2}"/>
              </a:ext>
            </a:extLst>
          </p:cNvPr>
          <p:cNvSpPr txBox="1"/>
          <p:nvPr/>
        </p:nvSpPr>
        <p:spPr>
          <a:xfrm>
            <a:off x="6126775" y="1158948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功率級別定義：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D9F1663-CBCB-D178-EF6E-754D66380D9F}"/>
              </a:ext>
            </a:extLst>
          </p:cNvPr>
          <p:cNvSpPr txBox="1"/>
          <p:nvPr/>
        </p:nvSpPr>
        <p:spPr>
          <a:xfrm>
            <a:off x="6240690" y="4651083"/>
            <a:ext cx="6094562" cy="1346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分配策略</a:t>
            </a:r>
            <a:r>
              <a:rPr kumimoji="1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: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• 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最小保證</a:t>
            </a: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: 125kW (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啟動充電</a:t>
            </a: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)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• 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動態調整</a:t>
            </a: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: 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依據 </a:t>
            </a: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SOC 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與充電曲線 </a:t>
            </a:r>
            <a:endParaRPr kumimoji="1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• 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借電優先級</a:t>
            </a: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: 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右側 </a:t>
            </a: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&gt; 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左側 </a:t>
            </a:r>
            <a:r>
              <a:rPr kumimoji="1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&gt; </a:t>
            </a: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雙側</a:t>
            </a:r>
          </a:p>
        </p:txBody>
      </p:sp>
    </p:spTree>
    <p:extLst>
      <p:ext uri="{BB962C8B-B14F-4D97-AF65-F5344CB8AC3E}">
        <p14:creationId xmlns:p14="http://schemas.microsoft.com/office/powerpoint/2010/main" val="1000257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B340E-E118-2709-A6CD-79BB1B63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2BEC13-781F-59DF-5152-5FA2FEB0B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272944"/>
            <a:ext cx="9265920" cy="676699"/>
          </a:xfrm>
        </p:spPr>
        <p:txBody>
          <a:bodyPr anchor="ctr"/>
          <a:lstStyle/>
          <a:p>
            <a:r>
              <a:rPr lang="zh-TW" altLang="en-US" sz="2800" b="1" dirty="0"/>
              <a:t>系統架構</a:t>
            </a:r>
            <a:endParaRPr lang="zh-TW" altLang="en-US" sz="2667" b="1" dirty="0"/>
          </a:p>
        </p:txBody>
      </p:sp>
      <p:pic>
        <p:nvPicPr>
          <p:cNvPr id="3" name="圖片 2" descr="一張含有 文字, 圖表, 方案, 平行 的圖片&#10;&#10;AI 產生的內容可能不正確。">
            <a:extLst>
              <a:ext uri="{FF2B5EF4-FFF2-40B4-BE49-F238E27FC236}">
                <a16:creationId xmlns:a16="http://schemas.microsoft.com/office/drawing/2014/main" id="{5A06E729-B8EA-F812-389B-F282DDBEF0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90600"/>
            <a:ext cx="4839861" cy="5867400"/>
          </a:xfrm>
          <a:prstGeom prst="rect">
            <a:avLst/>
          </a:prstGeom>
        </p:spPr>
      </p:pic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FC91918C-1360-73AF-9474-86CEC12280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421466"/>
              </p:ext>
            </p:extLst>
          </p:nvPr>
        </p:nvGraphicFramePr>
        <p:xfrm>
          <a:off x="5123892" y="1088740"/>
          <a:ext cx="6912768" cy="3318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A6DA9BCD-9EC3-C759-1F3B-B4AEA9D5E690}"/>
              </a:ext>
            </a:extLst>
          </p:cNvPr>
          <p:cNvSpPr txBox="1"/>
          <p:nvPr/>
        </p:nvSpPr>
        <p:spPr>
          <a:xfrm>
            <a:off x="6492044" y="4546770"/>
            <a:ext cx="6094562" cy="1155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• </a:t>
            </a:r>
            <a:r>
              <a:rPr kumimoji="1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/>
                <a:cs typeface="Calibri" panose="020F0502020204030204" pitchFamily="34" charset="0"/>
              </a:rPr>
              <a:t>各層獨立，低耦合 </a:t>
            </a:r>
            <a:endParaRPr kumimoji="1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• Controller </a:t>
            </a:r>
            <a:r>
              <a:rPr kumimoji="1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/>
                <a:cs typeface="Calibri" panose="020F0502020204030204" pitchFamily="34" charset="0"/>
              </a:rPr>
              <a:t>層可直接移植至 </a:t>
            </a: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MCU </a:t>
            </a:r>
            <a:r>
              <a:rPr kumimoji="1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/>
                <a:cs typeface="Calibri" panose="020F0502020204030204" pitchFamily="34" charset="0"/>
              </a:rPr>
              <a:t>硬體 </a:t>
            </a:r>
            <a:endParaRPr kumimoji="1" lang="en-US" altLang="zh-TW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• </a:t>
            </a:r>
            <a:r>
              <a:rPr kumimoji="1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DeltaSans" panose="020B0502030000000004" pitchFamily="34" charset="0"/>
                <a:ea typeface="微軟正黑體"/>
                <a:cs typeface="Calibri" panose="020F0502020204030204" pitchFamily="34" charset="0"/>
              </a:rPr>
              <a:t>支援單元測試與整合測試</a:t>
            </a:r>
          </a:p>
        </p:txBody>
      </p:sp>
    </p:spTree>
    <p:extLst>
      <p:ext uri="{BB962C8B-B14F-4D97-AF65-F5344CB8AC3E}">
        <p14:creationId xmlns:p14="http://schemas.microsoft.com/office/powerpoint/2010/main" val="2697936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66833C-A03C-D4A2-BC09-5FE92718E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2" y="296652"/>
            <a:ext cx="9265920" cy="676699"/>
          </a:xfrm>
        </p:spPr>
        <p:txBody>
          <a:bodyPr/>
          <a:lstStyle/>
          <a:p>
            <a:r>
              <a:rPr lang="en-US" altLang="zh-TW" sz="2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</a:t>
            </a:r>
            <a:r>
              <a:rPr lang="zh-TW" altLang="en-US" sz="2800" b="1">
                <a:latin typeface="Calibri" panose="020F0502020204030204" pitchFamily="34" charset="0"/>
                <a:cs typeface="Calibri" panose="020F0502020204030204" pitchFamily="34" charset="0"/>
              </a:rPr>
              <a:t>專案產出</a:t>
            </a:r>
            <a:endParaRPr lang="zh-TW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B123BD-AD91-4A99-9457-AED476C6BBA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TW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專案範疇：</a:t>
            </a:r>
            <a:endParaRPr lang="en-US" altLang="zh-TW" sz="16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76238" lvl="1" indent="0">
              <a:buNone/>
            </a:pP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基於</a:t>
            </a:r>
            <a:r>
              <a:rPr lang="en-US" altLang="zh-TW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EVCS</a:t>
            </a: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演算法進行三面向的擴展與優化</a:t>
            </a:r>
            <a:endParaRPr lang="en-US" altLang="zh-TW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TW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專案產出：</a:t>
            </a:r>
            <a:endParaRPr lang="en-US" altLang="zh-TW" sz="16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1988" lvl="1" indent="-285750">
              <a:buFont typeface="Wingdings" panose="05000000000000000000" pitchFamily="2" charset="2"/>
              <a:buChar char="p"/>
            </a:pP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完整模擬引擎開發</a:t>
            </a:r>
          </a:p>
          <a:p>
            <a:pPr marL="819138" lvl="1" indent="-342900">
              <a:buFont typeface="Wingdings" panose="05000000000000000000" pitchFamily="2" charset="2"/>
              <a:buChar char="ü"/>
            </a:pPr>
            <a:r>
              <a:rPr lang="en-US" altLang="zh-TW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Timing Diagram </a:t>
            </a: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視覺化：開發視覺化工具，以 </a:t>
            </a:r>
            <a:r>
              <a:rPr lang="en-US" altLang="zh-TW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Timing Diagram </a:t>
            </a: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方式呈現 </a:t>
            </a:r>
            <a:r>
              <a:rPr lang="en-US" altLang="zh-TW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Relays </a:t>
            </a: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在多種充電情境下的狀態變化，便於系統分析與除錯驗證</a:t>
            </a:r>
          </a:p>
          <a:p>
            <a:pPr marL="819138" lvl="1" indent="-342900">
              <a:buFont typeface="Wingdings" panose="05000000000000000000" pitchFamily="2" charset="2"/>
              <a:buChar char="ü"/>
            </a:pP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測試完整度提升：整合車輛種類、來車 </a:t>
            </a:r>
            <a:r>
              <a:rPr lang="en-US" altLang="zh-TW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</a:t>
            </a: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、預定充電量、來車密集率等參數，建立貼近實際營運環境的模擬測試框架</a:t>
            </a:r>
            <a:endParaRPr lang="en-US" altLang="zh-TW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19138" lvl="1" indent="-342900">
              <a:buFont typeface="Wingdings" panose="05000000000000000000" pitchFamily="2" charset="2"/>
              <a:buChar char="ü"/>
            </a:pPr>
            <a:r>
              <a:rPr lang="zh-TW" altLang="en-US" sz="1600"/>
              <a:t>演算法 </a:t>
            </a:r>
            <a:r>
              <a:rPr lang="en-US" altLang="zh-TW" sz="1600"/>
              <a:t>MCU Porting </a:t>
            </a:r>
            <a:r>
              <a:rPr lang="zh-TW" altLang="en-US" sz="1600"/>
              <a:t>與驗證：目前 </a:t>
            </a:r>
            <a:r>
              <a:rPr lang="en-US" altLang="zh-TW" sz="1600"/>
              <a:t>EVCS </a:t>
            </a:r>
            <a:r>
              <a:rPr lang="zh-TW" altLang="en-US" sz="1600"/>
              <a:t>演算法以 </a:t>
            </a:r>
            <a:r>
              <a:rPr lang="en-US" altLang="zh-TW" sz="1600"/>
              <a:t>Python </a:t>
            </a:r>
            <a:r>
              <a:rPr lang="zh-TW" altLang="en-US" sz="1600"/>
              <a:t>開發（模擬與驗證），需將演算法移植到 </a:t>
            </a:r>
            <a:r>
              <a:rPr lang="en-US" altLang="zh-TW" sz="1600"/>
              <a:t>MCU </a:t>
            </a:r>
            <a:r>
              <a:rPr lang="zh-TW" altLang="en-US" sz="1600"/>
              <a:t>硬體環境（</a:t>
            </a:r>
            <a:r>
              <a:rPr lang="en-US" altLang="zh-TW" sz="1600"/>
              <a:t>C </a:t>
            </a:r>
            <a:r>
              <a:rPr lang="zh-TW" altLang="en-US" sz="1600"/>
              <a:t>語言實現），並完成性能驗證</a:t>
            </a:r>
            <a:endParaRPr lang="en-US" altLang="zh-TW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zh-TW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Relay </a:t>
            </a: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切換最小化演算法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優化現有演算法邏輯，透過智能排程與預判機制減少 </a:t>
            </a:r>
            <a:r>
              <a:rPr lang="en-US" altLang="zh-TW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Relay </a:t>
            </a: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切換次數，降低硬體損耗與維護成本，延長設備使用壽命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來車建議充電樁推薦系統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開發智能推薦機制，根據當前系統狀態（各樁位負載、可用功率、等待車輛數等）引導來車至最佳充電樁位，提升用戶滿意度與整體充電站利用率</a:t>
            </a:r>
            <a:endParaRPr lang="en-US" altLang="zh-TW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TW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行動項目：</a:t>
            </a:r>
            <a:endParaRPr lang="en-US" altLang="zh-TW" sz="16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DRC</a:t>
            </a: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提交專案提案書</a:t>
            </a:r>
            <a:endParaRPr lang="en-US" altLang="zh-TW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TW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DRC</a:t>
            </a:r>
            <a:r>
              <a:rPr lang="zh-TW" altLang="en-US" sz="1600">
                <a:latin typeface="Calibri" panose="020F0502020204030204" pitchFamily="34" charset="0"/>
                <a:cs typeface="Calibri" panose="020F0502020204030204" pitchFamily="34" charset="0"/>
              </a:rPr>
              <a:t>進行報價與立案作業</a:t>
            </a:r>
            <a:endParaRPr lang="en-US" altLang="zh-TW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965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專案研發整體規劃</a:t>
            </a:r>
          </a:p>
        </p:txBody>
      </p:sp>
      <p:sp>
        <p:nvSpPr>
          <p:cNvPr id="29" name="五邊形 28">
            <a:extLst>
              <a:ext uri="{FF2B5EF4-FFF2-40B4-BE49-F238E27FC236}">
                <a16:creationId xmlns:a16="http://schemas.microsoft.com/office/drawing/2014/main" id="{8C66CF41-ABB2-AD4D-828D-3AA65F8AE124}"/>
              </a:ext>
            </a:extLst>
          </p:cNvPr>
          <p:cNvSpPr/>
          <p:nvPr/>
        </p:nvSpPr>
        <p:spPr>
          <a:xfrm>
            <a:off x="276259" y="978270"/>
            <a:ext cx="11940421" cy="988541"/>
          </a:xfrm>
          <a:prstGeom prst="homePlat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3000">
                <a:schemeClr val="accent1">
                  <a:lumMod val="40000"/>
                  <a:lumOff val="60000"/>
                </a:schemeClr>
              </a:gs>
              <a:gs pos="88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E670F86B-2343-6445-84F0-3B7922443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89244"/>
              </p:ext>
            </p:extLst>
          </p:nvPr>
        </p:nvGraphicFramePr>
        <p:xfrm>
          <a:off x="425003" y="1029420"/>
          <a:ext cx="11273588" cy="89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397">
                  <a:extLst>
                    <a:ext uri="{9D8B030D-6E8A-4147-A177-3AD203B41FA5}">
                      <a16:colId xmlns:a16="http://schemas.microsoft.com/office/drawing/2014/main" val="325989359"/>
                    </a:ext>
                  </a:extLst>
                </a:gridCol>
                <a:gridCol w="2818397">
                  <a:extLst>
                    <a:ext uri="{9D8B030D-6E8A-4147-A177-3AD203B41FA5}">
                      <a16:colId xmlns:a16="http://schemas.microsoft.com/office/drawing/2014/main" val="1074875905"/>
                    </a:ext>
                  </a:extLst>
                </a:gridCol>
                <a:gridCol w="2818397">
                  <a:extLst>
                    <a:ext uri="{9D8B030D-6E8A-4147-A177-3AD203B41FA5}">
                      <a16:colId xmlns:a16="http://schemas.microsoft.com/office/drawing/2014/main" val="1577129752"/>
                    </a:ext>
                  </a:extLst>
                </a:gridCol>
                <a:gridCol w="2818397">
                  <a:extLst>
                    <a:ext uri="{9D8B030D-6E8A-4147-A177-3AD203B41FA5}">
                      <a16:colId xmlns:a16="http://schemas.microsoft.com/office/drawing/2014/main" val="3182778106"/>
                    </a:ext>
                  </a:extLst>
                </a:gridCol>
              </a:tblGrid>
              <a:tr h="4470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100" b="0" dirty="0">
                          <a:solidFill>
                            <a:schemeClr val="tx1"/>
                          </a:solidFill>
                        </a:rPr>
                        <a:t>2026</a:t>
                      </a:r>
                      <a:endParaRPr lang="zh-TW" altLang="en-US" sz="2100" b="0" dirty="0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100" b="0" dirty="0">
                        <a:solidFill>
                          <a:srgbClr val="FF0000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74181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b="0" dirty="0">
                          <a:solidFill>
                            <a:schemeClr val="tx1"/>
                          </a:solidFill>
                        </a:rPr>
                        <a:t>Q1</a:t>
                      </a:r>
                      <a:endParaRPr lang="zh-TW" altLang="en-US" sz="21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b="0" dirty="0">
                          <a:solidFill>
                            <a:schemeClr val="tx1"/>
                          </a:solidFill>
                        </a:rPr>
                        <a:t>Q2</a:t>
                      </a:r>
                      <a:endParaRPr lang="zh-TW" altLang="en-US" sz="21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b="0" dirty="0">
                          <a:solidFill>
                            <a:schemeClr val="tx1"/>
                          </a:solidFill>
                        </a:rPr>
                        <a:t>Q3</a:t>
                      </a:r>
                      <a:endParaRPr lang="zh-TW" altLang="en-US" sz="21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100" b="0" dirty="0">
                          <a:solidFill>
                            <a:schemeClr val="tx1"/>
                          </a:solidFill>
                        </a:rPr>
                        <a:t>Q4</a:t>
                      </a:r>
                      <a:endParaRPr lang="zh-TW" altLang="en-US" sz="2100" b="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7986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80EF9F-B77F-44D8-8003-BFE620825D32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8E30E31-0BDB-48E7-A95F-E4AE7CAB512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0944" y="5124192"/>
            <a:ext cx="359008" cy="98080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產出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B15F223-2F75-A7A1-1E55-D28213356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337682"/>
              </p:ext>
            </p:extLst>
          </p:nvPr>
        </p:nvGraphicFramePr>
        <p:xfrm>
          <a:off x="463447" y="4883871"/>
          <a:ext cx="11242828" cy="1461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233">
                  <a:extLst>
                    <a:ext uri="{9D8B030D-6E8A-4147-A177-3AD203B41FA5}">
                      <a16:colId xmlns:a16="http://schemas.microsoft.com/office/drawing/2014/main" val="3849372559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36780269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63811357"/>
                    </a:ext>
                  </a:extLst>
                </a:gridCol>
                <a:gridCol w="2729955">
                  <a:extLst>
                    <a:ext uri="{9D8B030D-6E8A-4147-A177-3AD203B41FA5}">
                      <a16:colId xmlns:a16="http://schemas.microsoft.com/office/drawing/2014/main" val="2832513243"/>
                    </a:ext>
                  </a:extLst>
                </a:gridCol>
              </a:tblGrid>
              <a:tr h="128651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規格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] 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模擬引擎技術規格文件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設計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] Timing Diagram 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視覺化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測試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] 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測試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參數資料集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測試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] 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随機測試案例報告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設計</a:t>
                      </a:r>
                      <a:r>
                        <a:rPr lang="en-US" altLang="zh-TW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] Python 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演算法轉換為</a:t>
                      </a:r>
                      <a:r>
                        <a:rPr lang="en-US" altLang="zh-TW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C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測試</a:t>
                      </a:r>
                      <a:r>
                        <a:rPr lang="en-US" altLang="zh-TW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] MCU 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功能驗證報告</a:t>
                      </a:r>
                      <a:endParaRPr lang="en-US" altLang="zh-TW" sz="1200" b="1" kern="120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測試</a:t>
                      </a:r>
                      <a:r>
                        <a:rPr lang="en-US" altLang="zh-TW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] MCU 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性能測試報告</a:t>
                      </a:r>
                      <a:endParaRPr lang="en-US" altLang="zh-TW" sz="1200" b="1" kern="120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規格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] 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演算法技術規格文件</a:t>
                      </a:r>
                      <a:endParaRPr lang="en-US" altLang="zh-TW" sz="1200" b="1" kern="120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設計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] 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切換最小化演算法模組</a:t>
                      </a:r>
                      <a:endParaRPr lang="en-US" altLang="zh-TW" sz="1200" b="1" kern="120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測試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] </a:t>
                      </a:r>
                      <a:r>
                        <a:rPr lang="en-US" altLang="zh-TW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Relay 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切換分析報告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測試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] Relay 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優化效益比較報告</a:t>
                      </a:r>
                      <a:endParaRPr lang="en-US" altLang="zh-TW" sz="1200" b="1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規格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] 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推薦系統技術規格文件</a:t>
                      </a:r>
                      <a:endParaRPr lang="en-US" altLang="zh-TW" sz="1200" b="1" kern="120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設計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] 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充電樁推薦演算法模組</a:t>
                      </a:r>
                      <a:endParaRPr lang="en-US" altLang="zh-TW" sz="1200" b="1" kern="120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[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測試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] </a:t>
                      </a: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推薦系統模擬驗證報告</a:t>
                      </a:r>
                      <a:endParaRPr lang="en-US" altLang="zh-TW" sz="1200" b="1" kern="1200" noProof="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 noProof="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專案總結報告</a:t>
                      </a:r>
                      <a:endParaRPr lang="en-US" altLang="zh-TW" sz="1200" b="1" kern="1200" noProof="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 noProof="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系統整合文件包 </a:t>
                      </a:r>
                      <a:r>
                        <a:rPr lang="en-US" altLang="zh-TW" sz="1200" b="1" kern="1200" noProof="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(API, </a:t>
                      </a:r>
                      <a:r>
                        <a:rPr lang="zh-TW" altLang="en-US" sz="1200" b="1" kern="1200" noProof="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部署指南</a:t>
                      </a:r>
                      <a:r>
                        <a:rPr lang="en-US" altLang="zh-TW" sz="1200" b="1" kern="1200" noProof="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…)</a:t>
                      </a:r>
                      <a:endParaRPr lang="zh-TW" altLang="en-US" sz="1200" b="1" kern="1200" noProof="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1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技術移轉文件</a:t>
                      </a:r>
                      <a:endParaRPr lang="en-US" altLang="zh-TW" sz="1200" b="1" kern="120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Pct val="85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zh-TW" sz="1200" b="1" kern="1200" noProof="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617822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1CA209B0-961B-344A-68EC-01476B4DFB86}"/>
              </a:ext>
            </a:extLst>
          </p:cNvPr>
          <p:cNvSpPr txBox="1"/>
          <p:nvPr/>
        </p:nvSpPr>
        <p:spPr>
          <a:xfrm>
            <a:off x="420060" y="2003512"/>
            <a:ext cx="2790677" cy="2552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完成 </a:t>
            </a:r>
            <a:r>
              <a:rPr lang="en-US" altLang="zh-TW" sz="12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Timing Diagram </a:t>
            </a:r>
            <a:r>
              <a:rPr lang="zh-TW" altLang="en-US" sz="12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架構設計</a:t>
            </a:r>
            <a:endParaRPr lang="en-US" altLang="zh-TW" sz="12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開發 </a:t>
            </a:r>
            <a:r>
              <a:rPr lang="en-US" altLang="zh-TW" sz="12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Timing Diagram </a:t>
            </a: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繪圖模組</a:t>
            </a:r>
            <a:endParaRPr lang="en-US" altLang="zh-TW" sz="12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規劃並訂定來車 </a:t>
            </a:r>
            <a:r>
              <a:rPr lang="en-US" altLang="zh-TW" sz="12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SOC</a:t>
            </a: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、預定充電量、來車密集率 測試參數資料集</a:t>
            </a:r>
            <a:endParaRPr lang="en-US" altLang="zh-TW" sz="1200" dirty="0">
              <a:latin typeface="DeltaSans" panose="020B05020300000000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開發並訂定來車 </a:t>
            </a:r>
            <a:r>
              <a:rPr lang="en-US" altLang="zh-TW" sz="12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SOC</a:t>
            </a: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、預定充電量、來車密集率 模擬系統</a:t>
            </a:r>
            <a:endParaRPr lang="en-US" altLang="zh-TW" sz="12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建立随機測試案例產生器</a:t>
            </a:r>
            <a:endParaRPr lang="en-US" altLang="zh-TW" sz="12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完成模擬引擎驗證與相關技術文件</a:t>
            </a:r>
            <a:endParaRPr lang="en-US" altLang="zh-TW" sz="1200" dirty="0">
              <a:latin typeface="DeltaSans" panose="020B05020300000000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TW" altLang="en-US" sz="1200" dirty="0">
              <a:latin typeface="DeltaSans" panose="020B05020300000000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0AC4CE2-7966-5D8C-29FD-6AF5858E5EBE}"/>
              </a:ext>
            </a:extLst>
          </p:cNvPr>
          <p:cNvSpPr txBox="1"/>
          <p:nvPr/>
        </p:nvSpPr>
        <p:spPr>
          <a:xfrm>
            <a:off x="3215680" y="1992061"/>
            <a:ext cx="2790677" cy="227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</a:t>
            </a: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語言演算法實現</a:t>
            </a:r>
            <a:endParaRPr lang="en-US" altLang="zh-TW" sz="1200" dirty="0">
              <a:latin typeface="DeltaSans" panose="020B05020300000000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MCU </a:t>
            </a: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硬體適配層開發</a:t>
            </a:r>
            <a:endParaRPr lang="en-US" altLang="zh-TW" sz="1200" dirty="0">
              <a:latin typeface="DeltaSans" panose="020B05020300000000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MCU </a:t>
            </a: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功能驗證及性能測試</a:t>
            </a:r>
            <a:endParaRPr lang="en-US" altLang="zh-TW" sz="1200" dirty="0">
              <a:latin typeface="DeltaSans" panose="020B05020300000000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建立</a:t>
            </a:r>
            <a:r>
              <a:rPr lang="en-US" altLang="zh-TW" sz="12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Relay</a:t>
            </a: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切換次數量測與統計機制</a:t>
            </a:r>
            <a:endParaRPr lang="en-US" altLang="zh-TW" sz="1200" dirty="0">
              <a:latin typeface="DeltaSans" panose="020B05020300000000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實作切換成本評估函數並整合至主控制演算法</a:t>
            </a:r>
            <a:endParaRPr lang="en-US" altLang="zh-TW" sz="12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執行優化前後比較測試（透過模擬引擎驗證）</a:t>
            </a:r>
            <a:endParaRPr lang="en-US" altLang="zh-TW" sz="12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3A6CF57-31C8-683B-6B11-C032CACD46A8}"/>
              </a:ext>
            </a:extLst>
          </p:cNvPr>
          <p:cNvSpPr txBox="1"/>
          <p:nvPr/>
        </p:nvSpPr>
        <p:spPr>
          <a:xfrm>
            <a:off x="6063975" y="1999405"/>
            <a:ext cx="2790677" cy="2552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完成切換最小化演算法驗證報告</a:t>
            </a:r>
            <a:endParaRPr lang="en-US" altLang="zh-TW" sz="1200" dirty="0">
              <a:latin typeface="DeltaSans" panose="020B05020300000000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定義充電樁推薦評估指標（</a:t>
            </a:r>
            <a:r>
              <a:rPr lang="zh-TW" altLang="en-US" sz="1200" u="sng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影響既有充電車量最小</a:t>
            </a: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</a:t>
            </a:r>
            <a:r>
              <a:rPr lang="zh-TW" altLang="en-US" sz="1200" u="sng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可用功率最大</a:t>
            </a: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、充電時間縮短）</a:t>
            </a:r>
            <a:endParaRPr lang="en-US" altLang="zh-TW" sz="12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設計推薦演算法架構與多指標加權評分模型</a:t>
            </a:r>
            <a:endParaRPr lang="en-US" altLang="zh-TW" sz="12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開發與調校推薦引擎並整合至模擬系統</a:t>
            </a:r>
            <a:endParaRPr lang="en-US" altLang="zh-TW" sz="12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執行模擬驗證（</a:t>
            </a:r>
            <a:r>
              <a:rPr lang="en-US" altLang="zh-TW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2~6 </a:t>
            </a: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部來車場景）</a:t>
            </a:r>
            <a:endParaRPr lang="en-US" altLang="zh-TW" sz="12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1A229AB-D43B-A9C5-B47F-F0FDB6434B14}"/>
              </a:ext>
            </a:extLst>
          </p:cNvPr>
          <p:cNvSpPr txBox="1"/>
          <p:nvPr/>
        </p:nvSpPr>
        <p:spPr>
          <a:xfrm>
            <a:off x="8910642" y="1999405"/>
            <a:ext cx="2981374" cy="116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完成推薦系統效益評估報告</a:t>
            </a:r>
            <a:endParaRPr lang="en-US" altLang="zh-TW" sz="1200" dirty="0">
              <a:latin typeface="DeltaSans" panose="020B05020300000000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撰寫專案總結報告與效益評估</a:t>
            </a:r>
            <a:endParaRPr lang="en-US" altLang="zh-TW" sz="12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完成 </a:t>
            </a:r>
            <a:r>
              <a:rPr lang="en-US" altLang="zh-TW" sz="12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API </a:t>
            </a: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規格與系統整合文件</a:t>
            </a:r>
            <a:endParaRPr lang="en-US" altLang="zh-TW" sz="12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DeltaSans" panose="020B05020300000000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專案成果發表與交付</a:t>
            </a:r>
          </a:p>
        </p:txBody>
      </p:sp>
    </p:spTree>
    <p:extLst>
      <p:ext uri="{BB962C8B-B14F-4D97-AF65-F5344CB8AC3E}">
        <p14:creationId xmlns:p14="http://schemas.microsoft.com/office/powerpoint/2010/main" val="1019781022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C894-2B30-607C-1638-7AE80935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742D2CD-8835-710B-F696-03F7A4161B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80EF9F-B77F-44D8-8003-BFE620825D3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48970A95-3922-4371-0588-917F2ACBE596}"/>
              </a:ext>
            </a:extLst>
          </p:cNvPr>
          <p:cNvSpPr txBox="1">
            <a:spLocks/>
          </p:cNvSpPr>
          <p:nvPr/>
        </p:nvSpPr>
        <p:spPr>
          <a:xfrm>
            <a:off x="479376" y="183913"/>
            <a:ext cx="11379200" cy="584845"/>
          </a:xfrm>
          <a:prstGeom prst="rect">
            <a:avLst/>
          </a:prstGeom>
        </p:spPr>
        <p:txBody>
          <a:bodyPr/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685766" eaLnBrk="0" fontAlgn="base" latinLnBrk="0" hangingPunct="0">
              <a:lnSpc>
                <a:spcPct val="9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800" dirty="0">
                <a:solidFill>
                  <a:srgbClr val="0087D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itchFamily="34" charset="0"/>
              </a:rPr>
              <a:t>領域技術轉移文件項目</a:t>
            </a:r>
          </a:p>
        </p:txBody>
      </p:sp>
      <p:pic>
        <p:nvPicPr>
          <p:cNvPr id="4" name="圖片 3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9445AEB6-E146-A1E4-C6CA-DD24E3CB7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492" y="1088740"/>
            <a:ext cx="9760452" cy="547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43294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9614F-112F-B606-1B39-7AC08424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ED14FFB-7879-7883-6E22-B00F82DC2B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80EF9F-B77F-44D8-8003-BFE620825D3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D8A062CB-5206-1EFC-654E-D6C0432E3EBF}"/>
              </a:ext>
            </a:extLst>
          </p:cNvPr>
          <p:cNvSpPr txBox="1">
            <a:spLocks/>
          </p:cNvSpPr>
          <p:nvPr/>
        </p:nvSpPr>
        <p:spPr>
          <a:xfrm>
            <a:off x="479376" y="183913"/>
            <a:ext cx="11379200" cy="584845"/>
          </a:xfrm>
          <a:prstGeom prst="rect">
            <a:avLst/>
          </a:prstGeom>
        </p:spPr>
        <p:txBody>
          <a:bodyPr/>
          <a:lstStyle>
            <a:lvl1pPr algn="ctr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685766" eaLnBrk="0" fontAlgn="base" latinLnBrk="0" hangingPunct="0">
              <a:lnSpc>
                <a:spcPct val="90000"/>
              </a:lnSpc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800" dirty="0">
                <a:solidFill>
                  <a:srgbClr val="0087D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itchFamily="34" charset="0"/>
              </a:rPr>
              <a:t>領域技術轉移文件項目 </a:t>
            </a:r>
            <a:r>
              <a:rPr lang="en-US" altLang="zh-TW" sz="2800" dirty="0">
                <a:solidFill>
                  <a:srgbClr val="0087D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itchFamily="34" charset="0"/>
              </a:rPr>
              <a:t>Cont.</a:t>
            </a:r>
            <a:endParaRPr lang="zh-TW" altLang="en-US" sz="2800" dirty="0">
              <a:solidFill>
                <a:srgbClr val="0087DC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itchFamily="34" charset="0"/>
            </a:endParaRPr>
          </a:p>
        </p:txBody>
      </p:sp>
      <p:pic>
        <p:nvPicPr>
          <p:cNvPr id="4" name="圖片 3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23B8A9B2-C224-4615-07E3-1F3E20023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84" y="1160748"/>
            <a:ext cx="9766802" cy="51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784158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816374"/>
              </p:ext>
            </p:extLst>
          </p:nvPr>
        </p:nvGraphicFramePr>
        <p:xfrm>
          <a:off x="7351372" y="3264517"/>
          <a:ext cx="2896613" cy="1550473"/>
        </p:xfrm>
        <a:graphic>
          <a:graphicData uri="http://schemas.openxmlformats.org/drawingml/2006/table">
            <a:tbl>
              <a:tblPr/>
              <a:tblGrid>
                <a:gridCol w="2896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5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DRC </a:t>
                      </a:r>
                      <a:r>
                        <a:rPr kumimoji="1" lang="zh-TW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微軟正黑體" pitchFamily="34" charset="-120"/>
                          <a:cs typeface="Calibri" panose="020F0502020204030204" pitchFamily="34" charset="0"/>
                        </a:rPr>
                        <a:t>專案團隊</a:t>
                      </a:r>
                      <a:endParaRPr kumimoji="1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1901" marR="121901" marT="61021" marB="61021" anchor="ctr" anchorCtr="1" horzOverflow="overflow">
                    <a:lnL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5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TW" sz="1600" kern="1200" dirty="0">
                        <a:solidFill>
                          <a:schemeClr val="tx1"/>
                        </a:solidFill>
                        <a:latin typeface="Arial"/>
                        <a:ea typeface="微軟正黑體"/>
                        <a:cs typeface="Arial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rPr>
                        <a:t>顏至寬 </a:t>
                      </a:r>
                      <a:r>
                        <a:rPr lang="en-US" altLang="zh-TW" sz="1600" kern="1200" dirty="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rPr>
                        <a:t>0.1</a:t>
                      </a:r>
                      <a:endParaRPr lang="zh-TW" altLang="en-US" sz="1600" kern="1200" dirty="0">
                        <a:solidFill>
                          <a:schemeClr val="tx1"/>
                        </a:solidFill>
                        <a:latin typeface="Arial"/>
                        <a:ea typeface="微軟正黑體"/>
                        <a:cs typeface="Arial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TW" altLang="en-US" sz="1600" kern="1200" dirty="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rPr>
                        <a:t>李松年 </a:t>
                      </a:r>
                      <a:r>
                        <a:rPr lang="en-US" altLang="zh-TW" sz="1600" kern="1200" dirty="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rPr>
                        <a:t>1</a:t>
                      </a:r>
                    </a:p>
                  </a:txBody>
                  <a:tcPr marL="121901" marR="121901" marT="61021" marB="61021" horzOverflow="overflow">
                    <a:lnL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226181"/>
              </p:ext>
            </p:extLst>
          </p:nvPr>
        </p:nvGraphicFramePr>
        <p:xfrm>
          <a:off x="4350692" y="1395559"/>
          <a:ext cx="5892808" cy="1422688"/>
        </p:xfrm>
        <a:graphic>
          <a:graphicData uri="http://schemas.openxmlformats.org/drawingml/2006/table">
            <a:tbl>
              <a:tblPr/>
              <a:tblGrid>
                <a:gridCol w="2946404">
                  <a:extLst>
                    <a:ext uri="{9D8B030D-6E8A-4147-A177-3AD203B41FA5}">
                      <a16:colId xmlns:a16="http://schemas.microsoft.com/office/drawing/2014/main" val="1067973941"/>
                    </a:ext>
                  </a:extLst>
                </a:gridCol>
                <a:gridCol w="2946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04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Arial" charset="0"/>
                        </a:rPr>
                        <a:t>Project Management </a:t>
                      </a:r>
                      <a:r>
                        <a:rPr kumimoji="1" lang="zh-TW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微軟正黑體" pitchFamily="34" charset="-120"/>
                          <a:cs typeface="Arial" charset="0"/>
                        </a:rPr>
                        <a:t>專案管理辦公室</a:t>
                      </a:r>
                      <a:endParaRPr kumimoji="1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微軟正黑體" pitchFamily="34" charset="-120"/>
                        <a:cs typeface="Arial" charset="0"/>
                      </a:endParaRPr>
                    </a:p>
                  </a:txBody>
                  <a:tcPr marL="121944" marR="121944" marT="61032" marB="61032" anchor="ctr" anchorCtr="1" horzOverflow="overflow">
                    <a:lnL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charset="0"/>
                        </a:rPr>
                        <a:t>DCCSBU</a:t>
                      </a:r>
                    </a:p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zh-TW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zh-TW" altLang="en-US" sz="1600" dirty="0"/>
                        <a:t>陳威成</a:t>
                      </a:r>
                      <a:r>
                        <a:rPr kumimoji="1" lang="en-US" altLang="zh-TW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(PM)</a:t>
                      </a:r>
                    </a:p>
                  </a:txBody>
                  <a:tcPr marL="121944" marR="121944" marT="61032" marB="61032" horzOverflow="overflow">
                    <a:lnL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charset="0"/>
                        </a:rPr>
                        <a:t>DRC</a:t>
                      </a:r>
                    </a:p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王啟龍</a:t>
                      </a: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林岳暉</a:t>
                      </a: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(PM) 0.1</a:t>
                      </a:r>
                    </a:p>
                  </a:txBody>
                  <a:tcPr marL="121944" marR="121944" marT="61032" marB="61032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" name="AutoShape 42"/>
          <p:cNvCxnSpPr>
            <a:cxnSpLocks noChangeShapeType="1"/>
            <a:endCxn id="16" idx="0"/>
          </p:cNvCxnSpPr>
          <p:nvPr/>
        </p:nvCxnSpPr>
        <p:spPr bwMode="auto">
          <a:xfrm rot="5400000">
            <a:off x="5598697" y="2948331"/>
            <a:ext cx="440307" cy="157475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</p:cxnSp>
      <p:cxnSp>
        <p:nvCxnSpPr>
          <p:cNvPr id="15" name="AutoShape 43"/>
          <p:cNvCxnSpPr>
            <a:cxnSpLocks noChangeShapeType="1"/>
            <a:endCxn id="12" idx="0"/>
          </p:cNvCxnSpPr>
          <p:nvPr/>
        </p:nvCxnSpPr>
        <p:spPr bwMode="auto">
          <a:xfrm rot="16200000" flipH="1">
            <a:off x="8409011" y="2873850"/>
            <a:ext cx="448870" cy="33246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</p:cxnSp>
      <p:graphicFrame>
        <p:nvGraphicFramePr>
          <p:cNvPr id="16" name="Group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382732"/>
              </p:ext>
            </p:extLst>
          </p:nvPr>
        </p:nvGraphicFramePr>
        <p:xfrm>
          <a:off x="4363402" y="3247222"/>
          <a:ext cx="2753420" cy="1585063"/>
        </p:xfrm>
        <a:graphic>
          <a:graphicData uri="http://schemas.openxmlformats.org/drawingml/2006/table">
            <a:tbl>
              <a:tblPr/>
              <a:tblGrid>
                <a:gridCol w="2753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2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zh-TW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Arial" charset="0"/>
                        </a:rPr>
                        <a:t>專案團隊</a:t>
                      </a:r>
                      <a:endParaRPr kumimoji="1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Arial" charset="0"/>
                      </a:endParaRPr>
                    </a:p>
                  </a:txBody>
                  <a:tcPr marL="121972" marR="121972" marT="60972" marB="60972" anchor="ctr" anchorCtr="1" horzOverflow="overflow">
                    <a:lnL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TW" sz="1600" baseline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劉賴軒</a:t>
                      </a:r>
                      <a:endParaRPr lang="en-US" altLang="zh-TW" sz="1600" dirty="0"/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柯建名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72" marR="121972" marT="60972" marB="60972" horzOverflow="overflow">
                    <a:lnL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60000"/>
                        <a:lumOff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標題 1"/>
          <p:cNvSpPr txBox="1">
            <a:spLocks/>
          </p:cNvSpPr>
          <p:nvPr/>
        </p:nvSpPr>
        <p:spPr>
          <a:xfrm>
            <a:off x="0" y="404667"/>
            <a:ext cx="12192000" cy="588052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87D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0087DC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專案組織</a:t>
            </a:r>
          </a:p>
        </p:txBody>
      </p:sp>
      <p:sp>
        <p:nvSpPr>
          <p:cNvPr id="10" name="矩形 9"/>
          <p:cNvSpPr/>
          <p:nvPr/>
        </p:nvSpPr>
        <p:spPr>
          <a:xfrm>
            <a:off x="240069" y="1109120"/>
            <a:ext cx="3641523" cy="4483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8163" marR="0" lvl="0" indent="-148163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71BFA7"/>
              </a:buClr>
              <a:buSzTx/>
              <a:buFontTx/>
              <a:buNone/>
              <a:tabLst/>
              <a:defRPr/>
            </a:pPr>
            <a:r>
              <a:rPr kumimoji="1" lang="zh-TW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專案指導委員會</a:t>
            </a:r>
            <a:endParaRPr kumimoji="1" lang="en-US" altLang="zh-TW" sz="1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</a:endParaRPr>
          </a:p>
          <a:p>
            <a:pPr marL="118530" marR="0" lvl="0" indent="-118530" algn="l" defTabSz="121917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649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整體合作策略制定及督導</a:t>
            </a:r>
            <a:endParaRPr kumimoji="1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</a:endParaRPr>
          </a:p>
          <a:p>
            <a:pPr marL="118530" marR="0" lvl="0" indent="-118530" algn="l" defTabSz="121917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649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提供及協調專案預算及資源</a:t>
            </a:r>
          </a:p>
          <a:p>
            <a:pPr marL="118530" marR="0" lvl="0" indent="-118530" algn="l" defTabSz="121917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649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提供專案指導及協助管理專案相關重大議題或衝突，並執行必要之相關決策</a:t>
            </a:r>
            <a:endParaRPr kumimoji="1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</a:endParaRPr>
          </a:p>
          <a:p>
            <a:pPr marL="148163" marR="0" lvl="0" indent="-148163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71BFA7"/>
              </a:buClr>
              <a:buSzTx/>
              <a:buFontTx/>
              <a:buNone/>
              <a:tabLst/>
              <a:defRPr/>
            </a:pPr>
            <a:endParaRPr kumimoji="1" lang="en-US" altLang="zh-TW" sz="1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</a:endParaRPr>
          </a:p>
          <a:p>
            <a:pPr marL="148163" marR="0" lvl="0" indent="-148163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71BFA7"/>
              </a:buClr>
              <a:buSzTx/>
              <a:buFontTx/>
              <a:buNone/>
              <a:tabLst/>
              <a:defRPr/>
            </a:pPr>
            <a:r>
              <a:rPr kumimoji="1" lang="zh-TW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專案管理辦公室</a:t>
            </a:r>
            <a:endParaRPr kumimoji="1" lang="en-US" altLang="zh-TW" sz="1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</a:endParaRPr>
          </a:p>
          <a:p>
            <a:pPr marL="118530" marR="0" lvl="0" indent="-118530" algn="l" defTabSz="121917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649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溝通協調雙方合作相關事宜</a:t>
            </a:r>
            <a:endParaRPr kumimoji="1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</a:endParaRPr>
          </a:p>
          <a:p>
            <a:pPr marL="118530" marR="0" lvl="0" indent="-118530" algn="l" defTabSz="121917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649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組成專案團隊，取得專案所需資源</a:t>
            </a:r>
          </a:p>
          <a:p>
            <a:pPr marL="118530" marR="0" lvl="0" indent="-118530" algn="l" defTabSz="121917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649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訂定專案計劃及管理專案各項工作項目之執行及進度</a:t>
            </a:r>
            <a:endParaRPr kumimoji="1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</a:endParaRPr>
          </a:p>
          <a:p>
            <a:pPr marL="118530" marR="0" lvl="0" indent="-118530" algn="l" defTabSz="121917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649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管理專案相關議題或衝突，並適時的向高階管理委員會提出支援需求</a:t>
            </a:r>
          </a:p>
          <a:p>
            <a:pPr marL="118530" marR="0" lvl="0" indent="-118530" algn="l" defTabSz="121917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649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確認專案團隊完成里程碑所需交付之事項</a:t>
            </a:r>
            <a:endParaRPr kumimoji="1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</a:endParaRP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</a:endParaRPr>
          </a:p>
          <a:p>
            <a:pPr marL="148163" marR="0" lvl="0" indent="-148163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71BFA7"/>
              </a:buClr>
              <a:buSzTx/>
              <a:buFontTx/>
              <a:buNone/>
              <a:tabLst/>
              <a:defRPr/>
            </a:pPr>
            <a:r>
              <a:rPr kumimoji="1" lang="zh-TW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專案團隊</a:t>
            </a:r>
            <a:endParaRPr kumimoji="1" lang="en-US" altLang="zh-TW" sz="1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</a:endParaRPr>
          </a:p>
          <a:p>
            <a:pPr marL="118530" marR="0" lvl="0" indent="-118530" algn="l" defTabSz="121917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649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參與及執行專案各工作項目</a:t>
            </a:r>
            <a:endParaRPr kumimoji="1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ltaSans" panose="020B0502030000000004" pitchFamily="34" charset="0"/>
              <a:ea typeface="DeltaSans" panose="020B0502030000000004" pitchFamily="34" charset="0"/>
            </a:endParaRPr>
          </a:p>
          <a:p>
            <a:pPr marL="118530" marR="0" lvl="0" indent="-118530" algn="l" defTabSz="121917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649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1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eltaSans" panose="020B0502030000000004" pitchFamily="34" charset="0"/>
                <a:ea typeface="微軟正黑體" panose="020B0604030504040204" pitchFamily="34" charset="-120"/>
              </a:rPr>
              <a:t>即時提出專案執行無法解決之相關議題</a:t>
            </a:r>
          </a:p>
        </p:txBody>
      </p:sp>
      <p:sp>
        <p:nvSpPr>
          <p:cNvPr id="4" name="矩形 3"/>
          <p:cNvSpPr/>
          <p:nvPr/>
        </p:nvSpPr>
        <p:spPr>
          <a:xfrm>
            <a:off x="10328452" y="5624439"/>
            <a:ext cx="1628197" cy="523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9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t>Engagement Project : </a:t>
            </a: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9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t>EP (Engagement partner)</a:t>
            </a:r>
            <a:endParaRPr kumimoji="1" lang="zh-TW" altLang="en-US" sz="9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9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t>PM (Project manager)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C870E758-CFC5-403A-B5B1-2E198BA91848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0243500" y="2229655"/>
            <a:ext cx="33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946652C-BC19-4F6A-BBF6-CF284411499B}"/>
              </a:ext>
            </a:extLst>
          </p:cNvPr>
          <p:cNvGraphicFramePr>
            <a:graphicFrameLocks noGrp="1"/>
          </p:cNvGraphicFramePr>
          <p:nvPr/>
        </p:nvGraphicFramePr>
        <p:xfrm>
          <a:off x="10570239" y="1740791"/>
          <a:ext cx="1381692" cy="977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692">
                  <a:extLst>
                    <a:ext uri="{9D8B030D-6E8A-4147-A177-3AD203B41FA5}">
                      <a16:colId xmlns:a16="http://schemas.microsoft.com/office/drawing/2014/main" val="3968380111"/>
                    </a:ext>
                  </a:extLst>
                </a:gridCol>
              </a:tblGrid>
              <a:tr h="34780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軟正黑體" pitchFamily="34" charset="-120"/>
                          <a:ea typeface="微軟正黑體" pitchFamily="34" charset="-120"/>
                          <a:cs typeface="Arial" charset="0"/>
                        </a:rPr>
                        <a:t>EP</a:t>
                      </a:r>
                      <a:endParaRPr kumimoji="1" lang="zh-TW" altLang="en-US" sz="13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軟正黑體" pitchFamily="34" charset="-120"/>
                        <a:ea typeface="微軟正黑體" pitchFamily="34" charset="-120"/>
                        <a:cs typeface="Arial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152758071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zh-TW" sz="1300" b="0" i="0" u="sng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itchFamily="34" charset="-120"/>
                          <a:cs typeface="Arial" panose="020B0604020202020204" pitchFamily="34" charset="0"/>
                        </a:rPr>
                        <a:t>DRC-BDO</a:t>
                      </a:r>
                    </a:p>
                    <a:p>
                      <a:pPr marL="0" marR="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zh-TW" sz="13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itchFamily="34" charset="-120"/>
                          <a:cs typeface="Arial" panose="020B0604020202020204" pitchFamily="34" charset="0"/>
                        </a:rPr>
                        <a:t>TOM</a:t>
                      </a:r>
                      <a:endParaRPr kumimoji="1" lang="zh-TW" altLang="en-US" sz="13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itchFamily="34" charset="-120"/>
                        <a:cs typeface="Arial" panose="020B0604020202020204" pitchFamily="34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889223332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0D8A4A0F-F953-51AF-A763-2D33E0D7F30A}"/>
              </a:ext>
            </a:extLst>
          </p:cNvPr>
          <p:cNvSpPr txBox="1"/>
          <p:nvPr/>
        </p:nvSpPr>
        <p:spPr>
          <a:xfrm>
            <a:off x="4324146" y="5660901"/>
            <a:ext cx="205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ea typeface="微軟正黑體" panose="020B0604030504040204" pitchFamily="34" charset="-120"/>
                <a:cs typeface="Calibri" panose="020F0502020204030204" pitchFamily="34" charset="0"/>
              </a:rPr>
              <a:t>Virtual Currency:</a:t>
            </a:r>
            <a:r>
              <a:rPr lang="zh-TW" altLang="en-US" sz="2000" dirty="0"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endParaRPr lang="zh-TW" altLang="en-US" sz="2000" dirty="0"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A8A5E7-3537-1C2E-D6EA-20D8FF5B1134}"/>
              </a:ext>
            </a:extLst>
          </p:cNvPr>
          <p:cNvSpPr txBox="1"/>
          <p:nvPr/>
        </p:nvSpPr>
        <p:spPr>
          <a:xfrm>
            <a:off x="4324146" y="5260791"/>
            <a:ext cx="21130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zh-TW" altLang="en-US" dirty="0">
                <a:latin typeface="+mn-lt"/>
                <a:ea typeface="微軟正黑體" panose="020B0604030504040204" pitchFamily="34" charset="-120"/>
              </a:rPr>
              <a:t>總工作天數：</a:t>
            </a:r>
            <a:r>
              <a:rPr lang="en-US" altLang="zh-TW" dirty="0">
                <a:latin typeface="+mn-lt"/>
                <a:ea typeface="微軟正黑體" panose="020B0604030504040204" pitchFamily="34" charset="-120"/>
              </a:rPr>
              <a:t>279</a:t>
            </a:r>
            <a:endParaRPr lang="zh-TW" altLang="en-US" dirty="0">
              <a:latin typeface="+mn-lt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6743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207254"/>
              </p:ext>
            </p:extLst>
          </p:nvPr>
        </p:nvGraphicFramePr>
        <p:xfrm>
          <a:off x="277722" y="1166189"/>
          <a:ext cx="11636556" cy="3702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7056">
                  <a:extLst>
                    <a:ext uri="{9D8B030D-6E8A-4147-A177-3AD203B41FA5}">
                      <a16:colId xmlns:a16="http://schemas.microsoft.com/office/drawing/2014/main" val="1464940768"/>
                    </a:ext>
                  </a:extLst>
                </a:gridCol>
                <a:gridCol w="1176411">
                  <a:extLst>
                    <a:ext uri="{9D8B030D-6E8A-4147-A177-3AD203B41FA5}">
                      <a16:colId xmlns:a16="http://schemas.microsoft.com/office/drawing/2014/main" val="2531187110"/>
                    </a:ext>
                  </a:extLst>
                </a:gridCol>
                <a:gridCol w="6955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2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bg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組別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bg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角色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bg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人名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chemeClr val="bg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權責與職掌 </a:t>
                      </a:r>
                      <a:r>
                        <a:rPr lang="en-US" altLang="zh-TW" sz="1600" b="0" dirty="0">
                          <a:solidFill>
                            <a:schemeClr val="bg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(Responsibility)</a:t>
                      </a:r>
                      <a:endParaRPr lang="zh-TW" altLang="en-US" sz="1600" b="0" dirty="0">
                        <a:solidFill>
                          <a:schemeClr val="bg1"/>
                        </a:solidFill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5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DRC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專案主持人</a:t>
                      </a:r>
                      <a:endParaRPr kumimoji="0" lang="en-US" altLang="zh-TW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王啟龍</a:t>
                      </a:r>
                      <a:endParaRPr kumimoji="1" lang="en-US" altLang="zh-TW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協調團隊資源與帶領專案方向</a:t>
                      </a:r>
                      <a:endParaRPr kumimoji="0" lang="en-US" altLang="zh-TW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048419"/>
                  </a:ext>
                </a:extLst>
              </a:tr>
              <a:tr h="5001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DRC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專案管理與技術主導</a:t>
                      </a:r>
                      <a:endParaRPr lang="en-US" altLang="zh-TW" sz="1600" b="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b="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執行專案與帶領技術發展方向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320411"/>
                  </a:ext>
                </a:extLst>
              </a:tr>
              <a:tr h="4647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DRC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專案管理與溝通</a:t>
                      </a:r>
                      <a:endParaRPr lang="en-US" altLang="zh-TW" sz="1600" b="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b="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專案執行進度與項目溝通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6017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DRC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演算法驗證與實作</a:t>
                      </a:r>
                      <a:endParaRPr lang="en-US" altLang="zh-TW" sz="1600" b="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李松年</a:t>
                      </a:r>
                      <a:endParaRPr lang="en-US" altLang="zh-TW" sz="1600" b="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實現演算法與資料集驗證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370585"/>
                  </a:ext>
                </a:extLst>
              </a:tr>
              <a:tr h="5118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b="0" kern="120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b="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b="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337907"/>
                  </a:ext>
                </a:extLst>
              </a:tr>
              <a:tr h="5118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b="0" kern="120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b="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b="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065218"/>
                  </a:ext>
                </a:extLst>
              </a:tr>
              <a:tr h="4822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b="0" kern="1200" dirty="0">
                        <a:solidFill>
                          <a:schemeClr val="tx1"/>
                        </a:solidFill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b="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36600"/>
                  </a:ext>
                </a:extLst>
              </a:tr>
            </a:tbl>
          </a:graphicData>
        </a:graphic>
      </p:graphicFrame>
      <p:sp>
        <p:nvSpPr>
          <p:cNvPr id="5" name="標題 1"/>
          <p:cNvSpPr txBox="1">
            <a:spLocks/>
          </p:cNvSpPr>
          <p:nvPr/>
        </p:nvSpPr>
        <p:spPr>
          <a:xfrm>
            <a:off x="2287571" y="404667"/>
            <a:ext cx="9626707" cy="588052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87D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0087DC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專案組織 </a:t>
            </a:r>
            <a:r>
              <a:rPr kumimoji="0" lang="en-US" altLang="zh-TW" sz="2667" b="1" i="0" u="none" strike="noStrike" kern="1200" cap="none" spc="0" normalizeH="0" baseline="0" noProof="0" dirty="0">
                <a:ln>
                  <a:noFill/>
                </a:ln>
                <a:solidFill>
                  <a:srgbClr val="0087DC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- </a:t>
            </a:r>
            <a:r>
              <a:rPr kumimoji="0" lang="zh-TW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0087DC"/>
                </a:solidFill>
                <a:effectLst/>
                <a:uLnTx/>
                <a:uFillTx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配合事項</a:t>
            </a:r>
          </a:p>
        </p:txBody>
      </p:sp>
    </p:spTree>
    <p:extLst>
      <p:ext uri="{BB962C8B-B14F-4D97-AF65-F5344CB8AC3E}">
        <p14:creationId xmlns:p14="http://schemas.microsoft.com/office/powerpoint/2010/main" val="1060189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5pd78lyEUKXvmfFDBchrQ"/>
</p:tagLst>
</file>

<file path=ppt/theme/theme1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32D2C47912E4FAD334D1C38349AED" ma:contentTypeVersion="14" ma:contentTypeDescription="Create a new document." ma:contentTypeScope="" ma:versionID="c5df0c640b9a45e675b9f1d471c040d2">
  <xsd:schema xmlns:xsd="http://www.w3.org/2001/XMLSchema" xmlns:xs="http://www.w3.org/2001/XMLSchema" xmlns:p="http://schemas.microsoft.com/office/2006/metadata/properties" xmlns:ns3="176a94ab-b2dc-4efe-a651-b0cafe107a7d" xmlns:ns4="f029d87d-6098-4df4-a3a4-864bb3cbba3b" targetNamespace="http://schemas.microsoft.com/office/2006/metadata/properties" ma:root="true" ma:fieldsID="152c6ea8b1f39b001375bef4e4038e35" ns3:_="" ns4:_="">
    <xsd:import namespace="176a94ab-b2dc-4efe-a651-b0cafe107a7d"/>
    <xsd:import namespace="f029d87d-6098-4df4-a3a4-864bb3cbba3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6a94ab-b2dc-4efe-a651-b0cafe107a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29d87d-6098-4df4-a3a4-864bb3cbba3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76a94ab-b2dc-4efe-a651-b0cafe107a7d" xsi:nil="true"/>
  </documentManagement>
</p:properties>
</file>

<file path=customXml/itemProps1.xml><?xml version="1.0" encoding="utf-8"?>
<ds:datastoreItem xmlns:ds="http://schemas.openxmlformats.org/officeDocument/2006/customXml" ds:itemID="{48F73206-D7E1-4938-BE1B-4A7627EFB9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6a94ab-b2dc-4efe-a651-b0cafe107a7d"/>
    <ds:schemaRef ds:uri="f029d87d-6098-4df4-a3a4-864bb3cbba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FA8AA2E-71E6-4DEB-9477-3611CB9D9C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040429-3B2D-4A00-A509-5D697484DEC3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176a94ab-b2dc-4efe-a651-b0cafe107a7d"/>
    <ds:schemaRef ds:uri="f029d87d-6098-4df4-a3a4-864bb3cbba3b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2045</Words>
  <Application>Microsoft Office PowerPoint</Application>
  <PresentationFormat>寬螢幕</PresentationFormat>
  <Paragraphs>233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微軟正黑體</vt:lpstr>
      <vt:lpstr>Arial</vt:lpstr>
      <vt:lpstr>Calibri</vt:lpstr>
      <vt:lpstr>DeltaSans</vt:lpstr>
      <vt:lpstr>Wingdings</vt:lpstr>
      <vt:lpstr>2_自訂設計</vt:lpstr>
      <vt:lpstr>PowerPoint 簡報</vt:lpstr>
      <vt:lpstr>合作背景與目標</vt:lpstr>
      <vt:lpstr>硬體拓撲與功率級別</vt:lpstr>
      <vt:lpstr>系統架構</vt:lpstr>
      <vt:lpstr>2026專案產出</vt:lpstr>
      <vt:lpstr>專案研發整體規劃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 Maximum 2 Lines (32pt)</dc:title>
  <dc:creator>user</dc:creator>
  <cp:lastModifiedBy>SONNY.LEE 李松年</cp:lastModifiedBy>
  <cp:revision>1856</cp:revision>
  <dcterms:created xsi:type="dcterms:W3CDTF">2022-01-20T01:43:08Z</dcterms:created>
  <dcterms:modified xsi:type="dcterms:W3CDTF">2026-08-21T00:08:45Z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0x010100FA832D2C47912E4FAD334D1C38349AED</vt:lpwstr>
  </property>
</Properties>
</file>