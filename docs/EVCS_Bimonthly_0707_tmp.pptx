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4"/>
    <p:sldMasterId id="2147483749" r:id="rId5"/>
  </p:sldMasterIdLst>
  <p:notesMasterIdLst>
    <p:notesMasterId r:id="rId14"/>
  </p:notesMasterIdLst>
  <p:sldIdLst>
    <p:sldId id="2147482919" r:id="rId6"/>
    <p:sldId id="2147482914" r:id="rId7"/>
    <p:sldId id="2147482915" r:id="rId8"/>
    <p:sldId id="2147482920" r:id="rId9"/>
    <p:sldId id="2147482921" r:id="rId10"/>
    <p:sldId id="2147482924" r:id="rId11"/>
    <p:sldId id="2147482922" r:id="rId12"/>
    <p:sldId id="2147482923" r:id="rId13"/>
  </p:sldIdLst>
  <p:sldSz cx="12192000" cy="6858000"/>
  <p:notesSz cx="6858000" cy="9144000"/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電池剩餘電量評估演算法-後續工作" id="{9AF45D97-1A3B-433F-9DE2-9D0FC4D1BA5D}">
          <p14:sldIdLst>
            <p14:sldId id="2147482919"/>
            <p14:sldId id="2147482914"/>
            <p14:sldId id="2147482915"/>
            <p14:sldId id="2147482920"/>
            <p14:sldId id="2147482921"/>
            <p14:sldId id="2147482924"/>
            <p14:sldId id="2147482922"/>
            <p14:sldId id="21474829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4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57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GHSIN.CHANG 張正欣" initials="C張" lastIdx="1" clrIdx="0">
    <p:extLst>
      <p:ext uri="{19B8F6BF-5375-455C-9EA6-DF929625EA0E}">
        <p15:presenceInfo xmlns:p15="http://schemas.microsoft.com/office/powerpoint/2012/main" userId="S-1-5-21-706670597-753717926-1206375605-44298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DF9"/>
    <a:srgbClr val="FFDC78"/>
    <a:srgbClr val="C5E9FF"/>
    <a:srgbClr val="1E50C8"/>
    <a:srgbClr val="64D7D7"/>
    <a:srgbClr val="C88C00"/>
    <a:srgbClr val="0087DC"/>
    <a:srgbClr val="00BE50"/>
    <a:srgbClr val="FFFFF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30" autoAdjust="0"/>
    <p:restoredTop sz="81317" autoAdjust="0"/>
  </p:normalViewPr>
  <p:slideViewPr>
    <p:cSldViewPr showGuides="1">
      <p:cViewPr>
        <p:scale>
          <a:sx n="103" d="100"/>
          <a:sy n="103" d="100"/>
        </p:scale>
        <p:origin x="1266" y="30"/>
      </p:cViewPr>
      <p:guideLst>
        <p:guide orient="horz" pos="2341"/>
        <p:guide pos="3840"/>
        <p:guide pos="257"/>
        <p:guide pos="7423"/>
        <p:guide orient="horz" pos="709"/>
        <p:guide orient="horz" pos="397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5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8F0D9C-0244-48E5-AAB4-F314FC18147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380C3-7D2B-43B9-A2FF-0551F6D200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9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9058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18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065FC7-32F4-46B0-A46D-B7C6CF8829A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905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380C3-7D2B-43B9-A2FF-0551F6D200C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87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26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 userDrawn="1"/>
        </p:nvSpPr>
        <p:spPr>
          <a:xfrm>
            <a:off x="2651760" y="457201"/>
            <a:ext cx="9265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sz="320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2651760" y="272944"/>
            <a:ext cx="9265920" cy="676699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0087DC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內容版面配置區 9"/>
          <p:cNvSpPr>
            <a:spLocks noGrp="1"/>
          </p:cNvSpPr>
          <p:nvPr>
            <p:ph sz="quarter" idx="10"/>
          </p:nvPr>
        </p:nvSpPr>
        <p:spPr>
          <a:xfrm>
            <a:off x="335280" y="1133899"/>
            <a:ext cx="11582400" cy="5348183"/>
          </a:xfrm>
          <a:prstGeom prst="rect">
            <a:avLst/>
          </a:prstGeom>
        </p:spPr>
        <p:txBody>
          <a:bodyPr/>
          <a:lstStyle>
            <a:lvl1pPr marL="478355" indent="-478355">
              <a:buFont typeface="Wingdings" panose="05000000000000000000" pitchFamily="2" charset="2"/>
              <a:buChar char="n"/>
              <a:defRPr sz="26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954593" indent="-476239">
              <a:buFont typeface="Wingdings" panose="05000000000000000000" pitchFamily="2" charset="2"/>
              <a:buChar char="l"/>
              <a:defRPr sz="2133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310185" indent="-355591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76358" indent="-366175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31949" indent="-355591">
              <a:defRPr sz="1867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55823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Cover_16 9_hand_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0"/>
            <a:ext cx="609388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189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字方塊 10"/>
          <p:cNvSpPr txBox="1">
            <a:spLocks noChangeArrowheads="1"/>
          </p:cNvSpPr>
          <p:nvPr userDrawn="1"/>
        </p:nvSpPr>
        <p:spPr bwMode="auto">
          <a:xfrm>
            <a:off x="228601" y="6545019"/>
            <a:ext cx="220768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>
              <a:defRPr/>
            </a:pPr>
            <a:r>
              <a:rPr kumimoji="0" lang="en-US" altLang="zh-TW" sz="1200" dirty="0">
                <a:solidFill>
                  <a:srgbClr val="4D4D4D"/>
                </a:solidFill>
                <a:cs typeface="Arial" charset="0"/>
              </a:rPr>
              <a:t>Delta Confidential</a:t>
            </a:r>
            <a:endParaRPr kumimoji="0" lang="zh-TW" altLang="en-US" sz="1200" dirty="0">
              <a:solidFill>
                <a:srgbClr val="4D4D4D"/>
              </a:solidFill>
              <a:cs typeface="Arial" charset="0"/>
            </a:endParaRPr>
          </a:p>
        </p:txBody>
      </p:sp>
      <p:pic>
        <p:nvPicPr>
          <p:cNvPr id="2051" name="圖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18" y="366185"/>
            <a:ext cx="1822449" cy="560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5339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63040" y="272944"/>
            <a:ext cx="9265920" cy="676699"/>
          </a:xfrm>
        </p:spPr>
        <p:txBody>
          <a:bodyPr anchor="ctr"/>
          <a:lstStyle/>
          <a:p>
            <a:r>
              <a:rPr lang="zh-TW" altLang="en-US" sz="2800" b="1" dirty="0">
                <a:latin typeface="DeltaSans" panose="020B0502030000000004" pitchFamily="34" charset="0"/>
              </a:rPr>
              <a:t>合作背景與目標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0"/>
          </p:nvPr>
        </p:nvSpPr>
        <p:spPr>
          <a:xfrm>
            <a:off x="335280" y="1133899"/>
            <a:ext cx="7272888" cy="5348183"/>
          </a:xfrm>
        </p:spPr>
        <p:txBody>
          <a:bodyPr/>
          <a:lstStyle/>
          <a:p>
            <a:r>
              <a:rPr lang="zh-TW" altLang="en-US" sz="1400" b="1" dirty="0">
                <a:latin typeface="DeltaSans" panose="020B0502030000000004" pitchFamily="34" charset="0"/>
                <a:cs typeface="Calibri" panose="020F0502020204030204" pitchFamily="34" charset="0"/>
              </a:rPr>
              <a:t>背景</a:t>
            </a:r>
            <a:endParaRPr lang="en-US" altLang="zh-TW" sz="1400" b="1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kern="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kern="0" dirty="0">
                <a:latin typeface="DeltaSans" panose="020B0502030000000004" pitchFamily="34" charset="0"/>
                <a:cs typeface="Calibri" panose="020F0502020204030204" pitchFamily="34" charset="0"/>
              </a:rPr>
              <a:t>設計一款充電模組與充電樁之多對多架構，充電模塊的配置與充電槍當下輸出功率有關，供電模塊模組與充電槍間，存在匹配最佳化問題</a:t>
            </a:r>
            <a:endParaRPr lang="en-US" altLang="zh-TW" sz="1400" kern="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kern="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kern="0" dirty="0">
                <a:latin typeface="DeltaSans" panose="020B0502030000000004" pitchFamily="34" charset="0"/>
                <a:cs typeface="Calibri" panose="020F0502020204030204" pitchFamily="34" charset="0"/>
              </a:rPr>
              <a:t>在提供給客人的案場提案中，需要導入一個充電模塊最佳化切換的模組控制演算法</a:t>
            </a:r>
            <a:endParaRPr lang="en-US" altLang="zh-TW" sz="1400" kern="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1066773" lvl="1" indent="-457189">
              <a:buSzPct val="90000"/>
              <a:buFont typeface="+mj-lt"/>
              <a:buAutoNum type="arabicParenR"/>
            </a:pP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2025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年已完成 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 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控制演算法的開發與交付，建立了基礎的充電模塊最佳化切換機制，已具備事件驅動模擬引擎與完整的驗證框架</a:t>
            </a:r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r>
              <a:rPr lang="zh-TW" altLang="en-US" sz="1400" b="1" dirty="0">
                <a:latin typeface="DeltaSans" panose="020B0502030000000004" pitchFamily="34" charset="0"/>
                <a:cs typeface="Calibri" panose="020F0502020204030204" pitchFamily="34" charset="0"/>
              </a:rPr>
              <a:t>目標</a:t>
            </a:r>
            <a:endParaRPr lang="en-US" altLang="zh-TW" sz="1400" b="1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pPr marL="476238" lvl="1" indent="0">
              <a:buNone/>
            </a:pP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本年度（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2026.01~11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）目標為基於</a:t>
            </a:r>
            <a:r>
              <a:rPr lang="en-US" altLang="zh-TW" sz="1400" dirty="0">
                <a:latin typeface="DeltaSans" panose="020B0502030000000004" pitchFamily="34" charset="0"/>
                <a:ea typeface="DeltaSans" panose="020B0502030000000004" pitchFamily="34" charset="0"/>
                <a:cs typeface="Calibri" panose="020F0502020204030204" pitchFamily="34" charset="0"/>
              </a:rPr>
              <a:t>EVCS</a:t>
            </a:r>
            <a:r>
              <a:rPr lang="zh-TW" altLang="en-US" sz="1400" dirty="0">
                <a:latin typeface="DeltaSans" panose="020B0502030000000004" pitchFamily="34" charset="0"/>
                <a:cs typeface="Calibri" panose="020F0502020204030204" pitchFamily="34" charset="0"/>
              </a:rPr>
              <a:t>演算法進行三面向的擴展與優化：</a:t>
            </a:r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  <a:p>
            <a:endParaRPr lang="en-US" altLang="zh-TW" sz="1400" dirty="0">
              <a:latin typeface="DeltaSans" panose="020B0502030000000004" pitchFamily="34" charset="0"/>
              <a:ea typeface="DeltaSans" panose="020B05020300000000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圖片 3" descr="一張含有 文字, 螢幕擷取畫面, 鮮豔, 設計 的圖片&#10;&#10;AI 產生的內容可能不正確。">
            <a:extLst>
              <a:ext uri="{FF2B5EF4-FFF2-40B4-BE49-F238E27FC236}">
                <a16:creationId xmlns:a16="http://schemas.microsoft.com/office/drawing/2014/main" id="{03473540-EA33-974C-EF99-6AE8FE921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925" y="1345465"/>
            <a:ext cx="4055980" cy="4884859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6AE655-11C6-FD14-5A64-ACC735FCCF62}"/>
              </a:ext>
            </a:extLst>
          </p:cNvPr>
          <p:cNvGraphicFramePr>
            <a:graphicFrameLocks noGrp="1"/>
          </p:cNvGraphicFramePr>
          <p:nvPr/>
        </p:nvGraphicFramePr>
        <p:xfrm>
          <a:off x="905016" y="3429564"/>
          <a:ext cx="6696744" cy="29921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980220">
                  <a:extLst>
                    <a:ext uri="{9D8B030D-6E8A-4147-A177-3AD203B41FA5}">
                      <a16:colId xmlns:a16="http://schemas.microsoft.com/office/drawing/2014/main" val="3664942210"/>
                    </a:ext>
                  </a:extLst>
                </a:gridCol>
                <a:gridCol w="4716524">
                  <a:extLst>
                    <a:ext uri="{9D8B030D-6E8A-4147-A177-3AD203B41FA5}">
                      <a16:colId xmlns:a16="http://schemas.microsoft.com/office/drawing/2014/main" val="1073117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目標說明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12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1.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完整模擬引擎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Timing Diagram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視覺化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提供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Timing Diagram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以視覺方式呈現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Relays 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在多種情境下的變化</a:t>
                      </a:r>
                      <a:endParaRPr lang="en-US" altLang="zh-TW" sz="1400" dirty="0">
                        <a:latin typeface="DeltaSans" panose="020B0502030000000004" pitchFamily="34" charset="0"/>
                        <a:ea typeface="DeltaSans" panose="020B0502030000000004" pitchFamily="34" charset="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AutoNum type="alphaUcPeriod"/>
                      </a:pP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測試完整度提升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: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納入車輛種類、來車 </a:t>
                      </a:r>
                      <a:r>
                        <a:rPr lang="en-US" altLang="zh-TW" sz="140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SOC</a:t>
                      </a:r>
                      <a:r>
                        <a:rPr lang="zh-TW" altLang="en-US" sz="140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、預定充電量、來車密集率等參數，建立貼近實際營運的模擬環境</a:t>
                      </a:r>
                      <a:endParaRPr lang="en-US" altLang="zh-TW" sz="1400" dirty="0">
                        <a:latin typeface="DeltaSans" panose="020B0502030000000004" pitchFamily="34" charset="0"/>
                        <a:ea typeface="微軟正黑體" panose="020B0604030504040204" pitchFamily="34" charset="-120"/>
                        <a:cs typeface="Calibri" panose="020F0502020204030204" pitchFamily="34" charset="0"/>
                      </a:endParaRPr>
                    </a:p>
                    <a:p>
                      <a:pPr marL="342900" indent="-342900">
                        <a:buAutoNum type="alphaUcPeriod"/>
                      </a:pP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將演算法移植到 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MCU 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硬體環境（</a:t>
                      </a:r>
                      <a:r>
                        <a:rPr lang="en-US" altLang="zh-TW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C </a:t>
                      </a:r>
                      <a:r>
                        <a:rPr lang="zh-TW" altLang="en-US" sz="1400" kern="1200" dirty="0">
                          <a:solidFill>
                            <a:schemeClr val="tx1"/>
                          </a:solidFill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語言實現），並完成性能驗證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44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2. Relay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切換最小化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優化演算法以減少 </a:t>
                      </a:r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Relay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切換次數，降低硬體損耗與維護成本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09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400" b="0" dirty="0">
                          <a:latin typeface="DeltaSans" panose="020B0502030000000004" pitchFamily="34" charset="0"/>
                          <a:ea typeface="DeltaSans" panose="020B0502030000000004" pitchFamily="34" charset="0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來車建議充電樁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400" b="0" dirty="0">
                          <a:latin typeface="DeltaSans" panose="020B0502030000000004" pitchFamily="34" charset="0"/>
                          <a:ea typeface="微軟正黑體" panose="020B0604030504040204" pitchFamily="34" charset="-120"/>
                          <a:cs typeface="Calibri" panose="020F0502020204030204" pitchFamily="34" charset="0"/>
                        </a:rPr>
                        <a:t>開發推薦機制，根據系統狀態引導車輛至最佳充電樁位，提升用戶滿意度與整體利用率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6811360"/>
                  </a:ext>
                </a:extLst>
              </a:tr>
            </a:tbl>
          </a:graphicData>
        </a:graphic>
      </p:graphicFrame>
      <p:sp>
        <p:nvSpPr>
          <p:cNvPr id="5" name="Shape 0">
            <a:extLst>
              <a:ext uri="{FF2B5EF4-FFF2-40B4-BE49-F238E27FC236}">
                <a16:creationId xmlns:a16="http://schemas.microsoft.com/office/drawing/2014/main" id="{995F88F1-7C55-F0DF-CDD1-74D31832ADF7}"/>
              </a:ext>
            </a:extLst>
          </p:cNvPr>
          <p:cNvSpPr/>
          <p:nvPr/>
        </p:nvSpPr>
        <p:spPr>
          <a:xfrm>
            <a:off x="-9252" y="-862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A6478D-10E1-D037-4AC8-B83C31256D11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6EC5AC-F5F3-8D3E-C8C4-8E614368DA60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144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63040" y="272944"/>
            <a:ext cx="9265920" cy="676699"/>
          </a:xfrm>
        </p:spPr>
        <p:txBody>
          <a:bodyPr anchor="ctr"/>
          <a:lstStyle/>
          <a:p>
            <a:r>
              <a:rPr lang="zh-TW" altLang="en-US" sz="2800" b="1" dirty="0">
                <a:latin typeface="DeltaSans" panose="020B0502030000000004" pitchFamily="34" charset="0"/>
              </a:rPr>
              <a:t>原計劃回顧</a:t>
            </a: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ECB1588-15F3-C73D-0302-A5E5563E5579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56B23DE8-E595-208D-35ED-4F95B59B7E5F}"/>
              </a:ext>
            </a:extLst>
          </p:cNvPr>
          <p:cNvSpPr/>
          <p:nvPr/>
        </p:nvSpPr>
        <p:spPr>
          <a:xfrm>
            <a:off x="376276" y="2057400"/>
            <a:ext cx="3703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C8E51919-75E7-3E4B-A0DF-5306CEB12B82}"/>
              </a:ext>
            </a:extLst>
          </p:cNvPr>
          <p:cNvSpPr/>
          <p:nvPr/>
        </p:nvSpPr>
        <p:spPr>
          <a:xfrm>
            <a:off x="376276" y="205740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57C2864F-4447-B8D2-FCDA-38901ED35592}"/>
              </a:ext>
            </a:extLst>
          </p:cNvPr>
          <p:cNvSpPr/>
          <p:nvPr/>
        </p:nvSpPr>
        <p:spPr>
          <a:xfrm>
            <a:off x="604876" y="2148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2E14F83-EB8E-CC27-BDFE-7BE3BE3E69C4}"/>
              </a:ext>
            </a:extLst>
          </p:cNvPr>
          <p:cNvSpPr/>
          <p:nvPr/>
        </p:nvSpPr>
        <p:spPr>
          <a:xfrm>
            <a:off x="1656436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完整模擬引擎</a:t>
            </a:r>
            <a:endParaRPr lang="en-US" sz="1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B75091F-8C16-3659-6A8B-768964A4FB4D}"/>
              </a:ext>
            </a:extLst>
          </p:cNvPr>
          <p:cNvSpPr/>
          <p:nvPr/>
        </p:nvSpPr>
        <p:spPr>
          <a:xfrm>
            <a:off x="650596" y="32918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Timing Diagram 視覺化 — 視覺方式呈現 Relays 在多種情境下的變化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測試完整度提升 — 納入車種、來車 SOC、預定充電量、來車密集率等參數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演算法 MCU Porting — 將 Python 演算法移植至 MCU 硬體 (C 語言實現)</a:t>
            </a:r>
            <a:endParaRPr lang="en-US" sz="12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B3570927-4968-5655-DEFE-33C0FD67EB8D}"/>
              </a:ext>
            </a:extLst>
          </p:cNvPr>
          <p:cNvSpPr/>
          <p:nvPr/>
        </p:nvSpPr>
        <p:spPr>
          <a:xfrm>
            <a:off x="4244188" y="2057400"/>
            <a:ext cx="3703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B28815C-ACF5-ECB7-D73D-A170BA009D45}"/>
              </a:ext>
            </a:extLst>
          </p:cNvPr>
          <p:cNvSpPr/>
          <p:nvPr/>
        </p:nvSpPr>
        <p:spPr>
          <a:xfrm>
            <a:off x="4244188" y="205740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962DD162-2267-5E5F-FD78-0AE454033EB1}"/>
              </a:ext>
            </a:extLst>
          </p:cNvPr>
          <p:cNvSpPr/>
          <p:nvPr/>
        </p:nvSpPr>
        <p:spPr>
          <a:xfrm>
            <a:off x="4472788" y="2148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6B65C0F0-EE60-353B-EF31-4DA73E0B6553}"/>
              </a:ext>
            </a:extLst>
          </p:cNvPr>
          <p:cNvSpPr/>
          <p:nvPr/>
        </p:nvSpPr>
        <p:spPr>
          <a:xfrm>
            <a:off x="5524348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Relay 切換最小化</a:t>
            </a:r>
            <a:endParaRPr lang="en-US" sz="1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3AC88F8B-FBA2-BD78-CC71-FFDC1EC74DAF}"/>
              </a:ext>
            </a:extLst>
          </p:cNvPr>
          <p:cNvSpPr/>
          <p:nvPr/>
        </p:nvSpPr>
        <p:spPr>
          <a:xfrm>
            <a:off x="4518508" y="32918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優化現有演算法邏輯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透過智能排程與預判機制減少 Relay 切換次數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降低硬體損耗與維護成本,延長設備使用壽命</a:t>
            </a:r>
            <a:endParaRPr lang="en-US" sz="12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26F57EFF-73CA-D82A-6391-028B40A3DA20}"/>
              </a:ext>
            </a:extLst>
          </p:cNvPr>
          <p:cNvSpPr/>
          <p:nvPr/>
        </p:nvSpPr>
        <p:spPr>
          <a:xfrm>
            <a:off x="8112100" y="2057400"/>
            <a:ext cx="37033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7F24C131-81A6-1B4B-F199-90353A14E526}"/>
              </a:ext>
            </a:extLst>
          </p:cNvPr>
          <p:cNvSpPr/>
          <p:nvPr/>
        </p:nvSpPr>
        <p:spPr>
          <a:xfrm>
            <a:off x="8112100" y="205740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799FD906-A8C5-53BE-0851-612E39846F3D}"/>
              </a:ext>
            </a:extLst>
          </p:cNvPr>
          <p:cNvSpPr/>
          <p:nvPr/>
        </p:nvSpPr>
        <p:spPr>
          <a:xfrm>
            <a:off x="8340700" y="214884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1A7FA88-C252-E895-4771-5B03239D64FC}"/>
              </a:ext>
            </a:extLst>
          </p:cNvPr>
          <p:cNvSpPr/>
          <p:nvPr/>
        </p:nvSpPr>
        <p:spPr>
          <a:xfrm>
            <a:off x="939226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來車建議充電樁</a:t>
            </a:r>
            <a:endParaRPr lang="en-US" sz="18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7FC40F5C-082A-6EF5-C3B5-018E5C81FBC6}"/>
              </a:ext>
            </a:extLst>
          </p:cNvPr>
          <p:cNvSpPr/>
          <p:nvPr/>
        </p:nvSpPr>
        <p:spPr>
          <a:xfrm>
            <a:off x="8386420" y="32918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根據各樁位負載、可用功率、等待車輛數等狀態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開發智能推薦機制,引導來車至最佳充電樁位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提升用戶滿意度與整體充電站利用率</a:t>
            </a:r>
            <a:endParaRPr lang="en-US" sz="12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5634384B-914D-C24D-00E6-5CE187F2F762}"/>
              </a:ext>
            </a:extLst>
          </p:cNvPr>
          <p:cNvSpPr/>
          <p:nvPr/>
        </p:nvSpPr>
        <p:spPr>
          <a:xfrm>
            <a:off x="-9252" y="-27384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042B3A71-77BE-C8CD-5841-EDE707780D04}"/>
              </a:ext>
            </a:extLst>
          </p:cNvPr>
          <p:cNvSpPr/>
          <p:nvPr/>
        </p:nvSpPr>
        <p:spPr>
          <a:xfrm>
            <a:off x="50292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2026 年度計畫原設定三大方向,以模擬引擎為核心 (方向 1),延伸至硬體維護 (方向 2) 與商業應用 (方向 3)。</a:t>
            </a:r>
            <a:endParaRPr lang="en-US" sz="13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8EB365D-A9E2-7329-1C6A-D3C8B036B102}"/>
              </a:ext>
            </a:extLst>
          </p:cNvPr>
          <p:cNvSpPr/>
          <p:nvPr/>
        </p:nvSpPr>
        <p:spPr>
          <a:xfrm>
            <a:off x="1605178" y="5770082"/>
            <a:ext cx="1170432" cy="265176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7BD51DE-1C2F-E80A-71F4-0CD522E5926D}"/>
              </a:ext>
            </a:extLst>
          </p:cNvPr>
          <p:cNvSpPr/>
          <p:nvPr/>
        </p:nvSpPr>
        <p:spPr>
          <a:xfrm>
            <a:off x="1605178" y="577008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</a:t>
            </a:r>
            <a:endParaRPr lang="en-US" sz="1100" dirty="0"/>
          </a:p>
        </p:txBody>
      </p:sp>
      <p:sp>
        <p:nvSpPr>
          <p:cNvPr id="30" name="Shape 43">
            <a:extLst>
              <a:ext uri="{FF2B5EF4-FFF2-40B4-BE49-F238E27FC236}">
                <a16:creationId xmlns:a16="http://schemas.microsoft.com/office/drawing/2014/main" id="{06611E1A-732A-D457-816D-13FF96ADCF43}"/>
              </a:ext>
            </a:extLst>
          </p:cNvPr>
          <p:cNvSpPr/>
          <p:nvPr/>
        </p:nvSpPr>
        <p:spPr>
          <a:xfrm>
            <a:off x="5596194" y="5770501"/>
            <a:ext cx="1170432" cy="265176"/>
          </a:xfrm>
          <a:prstGeom prst="rect">
            <a:avLst/>
          </a:prstGeom>
          <a:solidFill>
            <a:srgbClr val="F76C5E"/>
          </a:solidFill>
          <a:ln w="12700">
            <a:solidFill>
              <a:srgbClr val="F76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44">
            <a:extLst>
              <a:ext uri="{FF2B5EF4-FFF2-40B4-BE49-F238E27FC236}">
                <a16:creationId xmlns:a16="http://schemas.microsoft.com/office/drawing/2014/main" id="{DAAF0644-59F9-C2F5-0F2C-5357487E3818}"/>
              </a:ext>
            </a:extLst>
          </p:cNvPr>
          <p:cNvSpPr/>
          <p:nvPr/>
        </p:nvSpPr>
        <p:spPr>
          <a:xfrm>
            <a:off x="5596194" y="5770501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變更</a:t>
            </a:r>
            <a:endParaRPr lang="en-US" sz="1100" dirty="0"/>
          </a:p>
        </p:txBody>
      </p:sp>
      <p:sp>
        <p:nvSpPr>
          <p:cNvPr id="32" name="Shape 43">
            <a:extLst>
              <a:ext uri="{FF2B5EF4-FFF2-40B4-BE49-F238E27FC236}">
                <a16:creationId xmlns:a16="http://schemas.microsoft.com/office/drawing/2014/main" id="{3E7FA7A5-E318-1A78-C118-88AC78CD9036}"/>
              </a:ext>
            </a:extLst>
          </p:cNvPr>
          <p:cNvSpPr/>
          <p:nvPr/>
        </p:nvSpPr>
        <p:spPr>
          <a:xfrm>
            <a:off x="9558528" y="5770501"/>
            <a:ext cx="1170432" cy="265176"/>
          </a:xfrm>
          <a:prstGeom prst="rect">
            <a:avLst/>
          </a:prstGeom>
          <a:solidFill>
            <a:srgbClr val="F76C5E"/>
          </a:solidFill>
          <a:ln w="12700">
            <a:solidFill>
              <a:srgbClr val="F76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44">
            <a:extLst>
              <a:ext uri="{FF2B5EF4-FFF2-40B4-BE49-F238E27FC236}">
                <a16:creationId xmlns:a16="http://schemas.microsoft.com/office/drawing/2014/main" id="{BBDDBAFB-DA5C-95B0-FD3F-8924F2643F89}"/>
              </a:ext>
            </a:extLst>
          </p:cNvPr>
          <p:cNvSpPr/>
          <p:nvPr/>
        </p:nvSpPr>
        <p:spPr>
          <a:xfrm>
            <a:off x="9558528" y="5770501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變更</a:t>
            </a:r>
            <a:endParaRPr lang="en-US" sz="11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96885C-E363-6523-4C72-D42E6A5F1C9C}"/>
              </a:ext>
            </a:extLst>
          </p:cNvPr>
          <p:cNvSpPr/>
          <p:nvPr/>
        </p:nvSpPr>
        <p:spPr>
          <a:xfrm>
            <a:off x="263352" y="260648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323D62-1465-2300-7AA1-F3CCA46DFF83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8165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781A1E-5A5D-5117-D382-4A02B947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dirty="0"/>
              <a:t>整體進度與原計畫差異</a:t>
            </a:r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DB0213A3-84BA-E6B2-3A61-18B667D6E499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Shape 0">
            <a:extLst>
              <a:ext uri="{FF2B5EF4-FFF2-40B4-BE49-F238E27FC236}">
                <a16:creationId xmlns:a16="http://schemas.microsoft.com/office/drawing/2014/main" id="{F8277893-E37E-E030-849C-64BD914083CE}"/>
              </a:ext>
            </a:extLst>
          </p:cNvPr>
          <p:cNvSpPr/>
          <p:nvPr/>
        </p:nvSpPr>
        <p:spPr>
          <a:xfrm>
            <a:off x="-9252" y="-862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5249B757-F1D4-D2FA-3690-EDEA1A9A47AF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4626461-A0BC-3500-BF72-C076C3B9F7D6}"/>
              </a:ext>
            </a:extLst>
          </p:cNvPr>
          <p:cNvSpPr/>
          <p:nvPr/>
        </p:nvSpPr>
        <p:spPr>
          <a:xfrm>
            <a:off x="502920" y="1463040"/>
            <a:ext cx="370332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F1F0BA8-6664-973D-C684-6C0678E2D0DD}"/>
              </a:ext>
            </a:extLst>
          </p:cNvPr>
          <p:cNvSpPr/>
          <p:nvPr/>
        </p:nvSpPr>
        <p:spPr>
          <a:xfrm>
            <a:off x="502920" y="1463040"/>
            <a:ext cx="73152" cy="640080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3948F4D-6D31-93FB-B3A3-83A57C7824AF}"/>
              </a:ext>
            </a:extLst>
          </p:cNvPr>
          <p:cNvSpPr/>
          <p:nvPr/>
        </p:nvSpPr>
        <p:spPr>
          <a:xfrm>
            <a:off x="685800" y="151790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上半年</a:t>
            </a:r>
            <a:r>
              <a:rPr lang="en-US" sz="1100" dirty="0" err="1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進度</a:t>
            </a:r>
            <a:endParaRPr lang="en-US" sz="11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4930E18-153B-E0D3-358F-173E88280427}"/>
              </a:ext>
            </a:extLst>
          </p:cNvPr>
          <p:cNvSpPr/>
          <p:nvPr/>
        </p:nvSpPr>
        <p:spPr>
          <a:xfrm>
            <a:off x="1691640" y="151790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如期完成</a:t>
            </a:r>
            <a:endParaRPr lang="en-US" sz="135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346DEB4-09CA-C4AB-F760-0CF2D37B2299}"/>
              </a:ext>
            </a:extLst>
          </p:cNvPr>
          <p:cNvSpPr/>
          <p:nvPr/>
        </p:nvSpPr>
        <p:spPr>
          <a:xfrm>
            <a:off x="4389120" y="1463040"/>
            <a:ext cx="370332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DD5283D-073E-C7D8-868D-18335D348BE3}"/>
              </a:ext>
            </a:extLst>
          </p:cNvPr>
          <p:cNvSpPr/>
          <p:nvPr/>
        </p:nvSpPr>
        <p:spPr>
          <a:xfrm>
            <a:off x="4389120" y="1463040"/>
            <a:ext cx="73152" cy="640080"/>
          </a:xfrm>
          <a:prstGeom prst="rect">
            <a:avLst/>
          </a:prstGeom>
          <a:solidFill>
            <a:srgbClr val="E8B83C"/>
          </a:solidFill>
          <a:ln w="12700">
            <a:solidFill>
              <a:srgbClr val="E8B8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E8617517-A07D-76BB-A623-AF7624F916BC}"/>
              </a:ext>
            </a:extLst>
          </p:cNvPr>
          <p:cNvSpPr/>
          <p:nvPr/>
        </p:nvSpPr>
        <p:spPr>
          <a:xfrm>
            <a:off x="4572000" y="151790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範圍</a:t>
            </a:r>
            <a:endParaRPr lang="en-US" sz="11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906A04A-FD68-8765-541A-E8A36898BD45}"/>
              </a:ext>
            </a:extLst>
          </p:cNvPr>
          <p:cNvSpPr/>
          <p:nvPr/>
        </p:nvSpPr>
        <p:spPr>
          <a:xfrm>
            <a:off x="5577840" y="151790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 Web UI </a:t>
            </a:r>
            <a:r>
              <a:rPr lang="en-US" sz="1350" b="1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</a:t>
            </a:r>
            <a:endParaRPr lang="en-US" sz="135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7B114AB-22A9-A0CD-6FBC-53FA7144E862}"/>
              </a:ext>
            </a:extLst>
          </p:cNvPr>
          <p:cNvSpPr/>
          <p:nvPr/>
        </p:nvSpPr>
        <p:spPr>
          <a:xfrm>
            <a:off x="8275320" y="1463040"/>
            <a:ext cx="370332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9156626-9BA8-7FB7-FFC8-BBC7557DC8C8}"/>
              </a:ext>
            </a:extLst>
          </p:cNvPr>
          <p:cNvSpPr/>
          <p:nvPr/>
        </p:nvSpPr>
        <p:spPr>
          <a:xfrm>
            <a:off x="8275320" y="1463040"/>
            <a:ext cx="73152" cy="640080"/>
          </a:xfrm>
          <a:prstGeom prst="rect">
            <a:avLst/>
          </a:prstGeom>
          <a:solidFill>
            <a:srgbClr val="F76C5E"/>
          </a:solidFill>
          <a:ln w="12700">
            <a:solidFill>
              <a:srgbClr val="F76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CEC2FFB0-F1FA-977C-88ED-5AB11FA700EB}"/>
              </a:ext>
            </a:extLst>
          </p:cNvPr>
          <p:cNvSpPr/>
          <p:nvPr/>
        </p:nvSpPr>
        <p:spPr>
          <a:xfrm>
            <a:off x="8458200" y="1517904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1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下半年</a:t>
            </a:r>
            <a:r>
              <a:rPr lang="en-US" sz="1100" dirty="0" err="1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方向</a:t>
            </a:r>
            <a:endParaRPr lang="en-US" sz="11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646EC9A4-5E8C-7143-C636-96BFBD601ADE}"/>
              </a:ext>
            </a:extLst>
          </p:cNvPr>
          <p:cNvSpPr/>
          <p:nvPr/>
        </p:nvSpPr>
        <p:spPr>
          <a:xfrm>
            <a:off x="9464040" y="1517904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取消 2 項 · </a:t>
            </a:r>
            <a:r>
              <a:rPr lang="en-US" sz="1350" b="1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聚焦</a:t>
            </a:r>
            <a:r>
              <a:rPr lang="en-US" sz="135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 項</a:t>
            </a:r>
            <a:endParaRPr lang="en-US" sz="135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105BC28-30B1-B26D-A03F-E1EDC79CE249}"/>
              </a:ext>
            </a:extLst>
          </p:cNvPr>
          <p:cNvSpPr/>
          <p:nvPr/>
        </p:nvSpPr>
        <p:spPr>
          <a:xfrm>
            <a:off x="502920" y="2331720"/>
            <a:ext cx="11274552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20B1999B-7814-7C6B-04DD-A120A84546C9}"/>
              </a:ext>
            </a:extLst>
          </p:cNvPr>
          <p:cNvSpPr/>
          <p:nvPr/>
        </p:nvSpPr>
        <p:spPr>
          <a:xfrm>
            <a:off x="594360" y="23317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時期</a:t>
            </a:r>
            <a:endParaRPr lang="en-US" sz="12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38DD94B6-A5F4-130D-45D4-6B055CCD0BDB}"/>
              </a:ext>
            </a:extLst>
          </p:cNvPr>
          <p:cNvSpPr/>
          <p:nvPr/>
        </p:nvSpPr>
        <p:spPr>
          <a:xfrm>
            <a:off x="192024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原計畫主要產出</a:t>
            </a:r>
            <a:endParaRPr lang="en-US" sz="12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E60CA76-9C23-B016-F759-8BA033BDF9DF}"/>
              </a:ext>
            </a:extLst>
          </p:cNvPr>
          <p:cNvSpPr/>
          <p:nvPr/>
        </p:nvSpPr>
        <p:spPr>
          <a:xfrm>
            <a:off x="6080760" y="23317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目前實際進度</a:t>
            </a:r>
            <a:endParaRPr lang="en-US" sz="1200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39F045E6-03F2-092F-57F2-510372D00ACF}"/>
              </a:ext>
            </a:extLst>
          </p:cNvPr>
          <p:cNvSpPr/>
          <p:nvPr/>
        </p:nvSpPr>
        <p:spPr>
          <a:xfrm>
            <a:off x="10241280" y="233172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狀態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3CEA21C0-293E-905D-6D95-4843FFB4EEFC}"/>
              </a:ext>
            </a:extLst>
          </p:cNvPr>
          <p:cNvSpPr/>
          <p:nvPr/>
        </p:nvSpPr>
        <p:spPr>
          <a:xfrm>
            <a:off x="502920" y="2743200"/>
            <a:ext cx="11274552" cy="502920"/>
          </a:xfrm>
          <a:prstGeom prst="rect">
            <a:avLst/>
          </a:prstGeom>
          <a:solidFill>
            <a:srgbClr val="CADCFC">
              <a:alpha val="20000"/>
            </a:srgbClr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CAD342E9-798C-6E3E-0C78-04F22DD54F65}"/>
              </a:ext>
            </a:extLst>
          </p:cNvPr>
          <p:cNvSpPr/>
          <p:nvPr/>
        </p:nvSpPr>
        <p:spPr>
          <a:xfrm>
            <a:off x="640080" y="27432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Q1</a:t>
            </a:r>
            <a:endParaRPr lang="en-US" sz="1200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43C26F54-9838-C668-008B-A71597BF5607}"/>
              </a:ext>
            </a:extLst>
          </p:cNvPr>
          <p:cNvSpPr/>
          <p:nvPr/>
        </p:nvSpPr>
        <p:spPr>
          <a:xfrm>
            <a:off x="1920240" y="27432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Timing Diagram、測試參數資料集、隨機測試案例產生器、模擬引擎驗證</a:t>
            </a:r>
            <a:endParaRPr lang="en-US" sz="100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B5D8F1B7-C79A-3B48-0C9B-4BB03ADD1C50}"/>
              </a:ext>
            </a:extLst>
          </p:cNvPr>
          <p:cNvSpPr/>
          <p:nvPr/>
        </p:nvSpPr>
        <p:spPr>
          <a:xfrm>
            <a:off x="6080760" y="274320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✅ 全數完成;5 階段模擬引擎、241 tests 全綠、覆蓋率 88%</a:t>
            </a:r>
            <a:endParaRPr lang="en-US" sz="10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8DB1A36-959C-B9C2-5E9B-41FCD134CF21}"/>
              </a:ext>
            </a:extLst>
          </p:cNvPr>
          <p:cNvSpPr/>
          <p:nvPr/>
        </p:nvSpPr>
        <p:spPr>
          <a:xfrm>
            <a:off x="10378440" y="2862072"/>
            <a:ext cx="1170432" cy="265176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177B6C82-32ED-BD33-A73E-8268761396D8}"/>
              </a:ext>
            </a:extLst>
          </p:cNvPr>
          <p:cNvSpPr/>
          <p:nvPr/>
        </p:nvSpPr>
        <p:spPr>
          <a:xfrm>
            <a:off x="10378440" y="286207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</a:t>
            </a:r>
            <a:endParaRPr lang="en-US" sz="1100" dirty="0"/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12F79263-1ACE-05ED-2474-B3A1832E931B}"/>
              </a:ext>
            </a:extLst>
          </p:cNvPr>
          <p:cNvSpPr/>
          <p:nvPr/>
        </p:nvSpPr>
        <p:spPr>
          <a:xfrm>
            <a:off x="502920" y="324612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5893AE59-37BE-289F-86FA-B3B90255B9DD}"/>
              </a:ext>
            </a:extLst>
          </p:cNvPr>
          <p:cNvSpPr/>
          <p:nvPr/>
        </p:nvSpPr>
        <p:spPr>
          <a:xfrm>
            <a:off x="640080" y="32461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Q1 (新增)</a:t>
            </a:r>
            <a:endParaRPr lang="en-US" sz="1200" dirty="0"/>
          </a:p>
        </p:txBody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BF08105D-D3E8-377D-4701-EF17CBDB1964}"/>
              </a:ext>
            </a:extLst>
          </p:cNvPr>
          <p:cNvSpPr/>
          <p:nvPr/>
        </p:nvSpPr>
        <p:spPr>
          <a:xfrm>
            <a:off x="1920240" y="3246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(原無此項)</a:t>
            </a:r>
            <a:endParaRPr lang="en-US" sz="1000" dirty="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CE215779-B0B4-0CBE-55D4-2B9913FE9F94}"/>
              </a:ext>
            </a:extLst>
          </p:cNvPr>
          <p:cNvSpPr/>
          <p:nvPr/>
        </p:nvSpPr>
        <p:spPr>
          <a:xfrm>
            <a:off x="6080760" y="324612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🆕 完成 FastAPI 服務層 + React Web UI Phase 1–4;可作為對客提案工具</a:t>
            </a:r>
            <a:endParaRPr lang="en-US" sz="100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F91BE300-D77B-11B1-F92E-095C8542D99E}"/>
              </a:ext>
            </a:extLst>
          </p:cNvPr>
          <p:cNvSpPr/>
          <p:nvPr/>
        </p:nvSpPr>
        <p:spPr>
          <a:xfrm>
            <a:off x="10378440" y="3364992"/>
            <a:ext cx="1170432" cy="265176"/>
          </a:xfrm>
          <a:prstGeom prst="rect">
            <a:avLst/>
          </a:prstGeom>
          <a:solidFill>
            <a:srgbClr val="E8B83C"/>
          </a:solidFill>
          <a:ln w="12700">
            <a:solidFill>
              <a:srgbClr val="E8B8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193A1D9E-E2AD-DB25-0B48-99487A5F2FE7}"/>
              </a:ext>
            </a:extLst>
          </p:cNvPr>
          <p:cNvSpPr/>
          <p:nvPr/>
        </p:nvSpPr>
        <p:spPr>
          <a:xfrm>
            <a:off x="10378440" y="336499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新增</a:t>
            </a:r>
            <a:endParaRPr lang="en-US" sz="110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6A25F81-546B-95EC-8DD7-7C37F84EE979}"/>
              </a:ext>
            </a:extLst>
          </p:cNvPr>
          <p:cNvSpPr/>
          <p:nvPr/>
        </p:nvSpPr>
        <p:spPr>
          <a:xfrm>
            <a:off x="502920" y="3749040"/>
            <a:ext cx="11274552" cy="502920"/>
          </a:xfrm>
          <a:prstGeom prst="rect">
            <a:avLst/>
          </a:prstGeom>
          <a:solidFill>
            <a:srgbClr val="CADCFC">
              <a:alpha val="20000"/>
            </a:srgbClr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12ACCBC8-A16C-E72F-BF11-B9DD4E6F7663}"/>
              </a:ext>
            </a:extLst>
          </p:cNvPr>
          <p:cNvSpPr/>
          <p:nvPr/>
        </p:nvSpPr>
        <p:spPr>
          <a:xfrm>
            <a:off x="640080" y="374904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Q2</a:t>
            </a:r>
            <a:endParaRPr lang="en-US" sz="1200" dirty="0"/>
          </a:p>
        </p:txBody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CE3A1AC3-9E08-4704-A546-4A2A90028121}"/>
              </a:ext>
            </a:extLst>
          </p:cNvPr>
          <p:cNvSpPr/>
          <p:nvPr/>
        </p:nvSpPr>
        <p:spPr>
          <a:xfrm>
            <a:off x="1920240" y="3749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語言演算法實現、MCU 硬體適配層、切換次數統計、優化前後比較</a:t>
            </a:r>
            <a:endParaRPr lang="en-US" sz="1000" dirty="0"/>
          </a:p>
        </p:txBody>
      </p:sp>
      <p:sp>
        <p:nvSpPr>
          <p:cNvPr id="36" name="Text 36">
            <a:extLst>
              <a:ext uri="{FF2B5EF4-FFF2-40B4-BE49-F238E27FC236}">
                <a16:creationId xmlns:a16="http://schemas.microsoft.com/office/drawing/2014/main" id="{BC8DCD9E-BF44-9C2A-D3EF-8D02E1DB77E3}"/>
              </a:ext>
            </a:extLst>
          </p:cNvPr>
          <p:cNvSpPr/>
          <p:nvPr/>
        </p:nvSpPr>
        <p:spPr>
          <a:xfrm>
            <a:off x="6080760" y="374904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✅ 完成;Python → C 轉換規格已就緒、MCU 適配層完成</a:t>
            </a:r>
            <a:endParaRPr lang="en-US" sz="1000" dirty="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7157ED26-1DF4-7043-C57C-33988B8F174C}"/>
              </a:ext>
            </a:extLst>
          </p:cNvPr>
          <p:cNvSpPr/>
          <p:nvPr/>
        </p:nvSpPr>
        <p:spPr>
          <a:xfrm>
            <a:off x="10378440" y="3867912"/>
            <a:ext cx="1170432" cy="265176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3A592BEB-BDFA-787E-D013-5C219E4022D6}"/>
              </a:ext>
            </a:extLst>
          </p:cNvPr>
          <p:cNvSpPr/>
          <p:nvPr/>
        </p:nvSpPr>
        <p:spPr>
          <a:xfrm>
            <a:off x="10378440" y="386791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</a:t>
            </a:r>
            <a:endParaRPr lang="en-US" sz="110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4D103454-7C6C-3F52-AB08-C4BFB9C52346}"/>
              </a:ext>
            </a:extLst>
          </p:cNvPr>
          <p:cNvSpPr/>
          <p:nvPr/>
        </p:nvSpPr>
        <p:spPr>
          <a:xfrm>
            <a:off x="502920" y="4251960"/>
            <a:ext cx="11274552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1338E1F6-21A5-9276-243D-9325C1F9F502}"/>
              </a:ext>
            </a:extLst>
          </p:cNvPr>
          <p:cNvSpPr/>
          <p:nvPr/>
        </p:nvSpPr>
        <p:spPr>
          <a:xfrm>
            <a:off x="640080" y="42519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 (原)</a:t>
            </a:r>
            <a:endParaRPr lang="en-US" sz="1200" dirty="0"/>
          </a:p>
        </p:txBody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856DBF79-5306-A5B5-8A49-832CD1A53C8D}"/>
              </a:ext>
            </a:extLst>
          </p:cNvPr>
          <p:cNvSpPr/>
          <p:nvPr/>
        </p:nvSpPr>
        <p:spPr>
          <a:xfrm>
            <a:off x="1920240" y="4251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Relay 切換最小化驗證 + 推薦系統設計;Q4 推薦系統效益評估</a:t>
            </a:r>
            <a:endParaRPr lang="en-US" sz="1000" dirty="0"/>
          </a:p>
        </p:txBody>
      </p:sp>
      <p:sp>
        <p:nvSpPr>
          <p:cNvPr id="42" name="Text 42">
            <a:extLst>
              <a:ext uri="{FF2B5EF4-FFF2-40B4-BE49-F238E27FC236}">
                <a16:creationId xmlns:a16="http://schemas.microsoft.com/office/drawing/2014/main" id="{EC517ECE-EEFF-DF90-6EF1-3114477D85F5}"/>
              </a:ext>
            </a:extLst>
          </p:cNvPr>
          <p:cNvSpPr/>
          <p:nvPr/>
        </p:nvSpPr>
        <p:spPr>
          <a:xfrm>
            <a:off x="6080760" y="425196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⛔ </a:t>
            </a:r>
            <a:r>
              <a:rPr lang="en-US" sz="10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兩項均取消;經評估後聚焦</a:t>
            </a:r>
            <a:r>
              <a:rPr lang="zh-TW" alt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貪婪借電</a:t>
            </a:r>
            <a:r>
              <a:rPr lang="en-US" sz="10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演算法</a:t>
            </a:r>
            <a:endParaRPr lang="en-US" sz="1000" dirty="0"/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14884F1D-630C-366C-5A19-9CB35F74A39F}"/>
              </a:ext>
            </a:extLst>
          </p:cNvPr>
          <p:cNvSpPr/>
          <p:nvPr/>
        </p:nvSpPr>
        <p:spPr>
          <a:xfrm>
            <a:off x="10378440" y="4370832"/>
            <a:ext cx="1170432" cy="265176"/>
          </a:xfrm>
          <a:prstGeom prst="rect">
            <a:avLst/>
          </a:prstGeom>
          <a:solidFill>
            <a:srgbClr val="F76C5E"/>
          </a:solidFill>
          <a:ln w="12700">
            <a:solidFill>
              <a:srgbClr val="F76C5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4">
            <a:extLst>
              <a:ext uri="{FF2B5EF4-FFF2-40B4-BE49-F238E27FC236}">
                <a16:creationId xmlns:a16="http://schemas.microsoft.com/office/drawing/2014/main" id="{30B9F2F5-2370-CFBD-78BA-5A3FF0B0B8D0}"/>
              </a:ext>
            </a:extLst>
          </p:cNvPr>
          <p:cNvSpPr/>
          <p:nvPr/>
        </p:nvSpPr>
        <p:spPr>
          <a:xfrm>
            <a:off x="10378440" y="437083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變更</a:t>
            </a:r>
            <a:endParaRPr lang="en-US" sz="1100" dirty="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FECF1B02-0D1E-D5FA-4826-287EB12F4A6E}"/>
              </a:ext>
            </a:extLst>
          </p:cNvPr>
          <p:cNvSpPr/>
          <p:nvPr/>
        </p:nvSpPr>
        <p:spPr>
          <a:xfrm>
            <a:off x="502920" y="4754880"/>
            <a:ext cx="11274552" cy="502920"/>
          </a:xfrm>
          <a:prstGeom prst="rect">
            <a:avLst/>
          </a:prstGeom>
          <a:solidFill>
            <a:srgbClr val="CADCFC">
              <a:alpha val="20000"/>
            </a:srgbClr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AE653E89-734A-3D0D-3B18-082E003D485A}"/>
              </a:ext>
            </a:extLst>
          </p:cNvPr>
          <p:cNvSpPr/>
          <p:nvPr/>
        </p:nvSpPr>
        <p:spPr>
          <a:xfrm>
            <a:off x="640080" y="4754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 (新)</a:t>
            </a:r>
            <a:endParaRPr lang="en-US" sz="1200" dirty="0"/>
          </a:p>
        </p:txBody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7A826A46-045D-4EBA-90C4-D378D0B25D97}"/>
              </a:ext>
            </a:extLst>
          </p:cNvPr>
          <p:cNvSpPr/>
          <p:nvPr/>
        </p:nvSpPr>
        <p:spPr>
          <a:xfrm>
            <a:off x="1920240" y="47548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(原無此項)</a:t>
            </a:r>
            <a:endParaRPr lang="en-US" sz="1000" dirty="0"/>
          </a:p>
        </p:txBody>
      </p:sp>
      <p:sp>
        <p:nvSpPr>
          <p:cNvPr id="48" name="Text 48">
            <a:extLst>
              <a:ext uri="{FF2B5EF4-FFF2-40B4-BE49-F238E27FC236}">
                <a16:creationId xmlns:a16="http://schemas.microsoft.com/office/drawing/2014/main" id="{C512001F-65FB-E294-9513-B040A4EF57B7}"/>
              </a:ext>
            </a:extLst>
          </p:cNvPr>
          <p:cNvSpPr/>
          <p:nvPr/>
        </p:nvSpPr>
        <p:spPr>
          <a:xfrm>
            <a:off x="6080760" y="4754880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🎯 </a:t>
            </a:r>
            <a:r>
              <a:rPr lang="zh-TW" alt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</a:t>
            </a:r>
            <a:r>
              <a:rPr lang="en-US" sz="10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三項需求依</a:t>
            </a:r>
            <a:r>
              <a:rPr lang="zh-TW" altLang="en-US" sz="100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順</a:t>
            </a:r>
            <a:r>
              <a:rPr lang="en-US" sz="100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序推進</a:t>
            </a: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(</a:t>
            </a:r>
            <a:r>
              <a:rPr lang="zh-TW" alt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貪婪借電 </a:t>
            </a: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</a:t>
            </a:r>
            <a:r>
              <a:rPr lang="zh-TW" alt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可變量 </a:t>
            </a:r>
            <a:r>
              <a:rPr lang="en-US" altLang="zh-TW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SMR Group</a:t>
            </a: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N</a:t>
            </a:r>
            <a:r>
              <a:rPr lang="zh-TW" alt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階借電</a:t>
            </a:r>
            <a:r>
              <a:rPr lang="en-US" sz="10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),Q4 </a:t>
            </a:r>
            <a:r>
              <a:rPr lang="en-US" sz="10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</a:t>
            </a:r>
            <a:endParaRPr lang="en-US" sz="1000" dirty="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869F948B-680E-6D1A-5425-768715D877F2}"/>
              </a:ext>
            </a:extLst>
          </p:cNvPr>
          <p:cNvSpPr/>
          <p:nvPr/>
        </p:nvSpPr>
        <p:spPr>
          <a:xfrm>
            <a:off x="10378440" y="4873752"/>
            <a:ext cx="1170432" cy="265176"/>
          </a:xfrm>
          <a:prstGeom prst="rect">
            <a:avLst/>
          </a:prstGeom>
          <a:solidFill>
            <a:srgbClr val="2D4373"/>
          </a:solidFill>
          <a:ln w="12700">
            <a:solidFill>
              <a:srgbClr val="2D43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 50">
            <a:extLst>
              <a:ext uri="{FF2B5EF4-FFF2-40B4-BE49-F238E27FC236}">
                <a16:creationId xmlns:a16="http://schemas.microsoft.com/office/drawing/2014/main" id="{6C590EAF-B8D2-916E-20BB-8474A8D39D2E}"/>
              </a:ext>
            </a:extLst>
          </p:cNvPr>
          <p:cNvSpPr/>
          <p:nvPr/>
        </p:nvSpPr>
        <p:spPr>
          <a:xfrm>
            <a:off x="10378440" y="4873752"/>
            <a:ext cx="1170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定案</a:t>
            </a:r>
            <a:endParaRPr lang="en-US" sz="1100" dirty="0"/>
          </a:p>
        </p:txBody>
      </p:sp>
      <p:sp>
        <p:nvSpPr>
          <p:cNvPr id="51" name="Shape 51">
            <a:extLst>
              <a:ext uri="{FF2B5EF4-FFF2-40B4-BE49-F238E27FC236}">
                <a16:creationId xmlns:a16="http://schemas.microsoft.com/office/drawing/2014/main" id="{5053D70C-267B-6530-2953-FE32A2B5FB7E}"/>
              </a:ext>
            </a:extLst>
          </p:cNvPr>
          <p:cNvSpPr/>
          <p:nvPr/>
        </p:nvSpPr>
        <p:spPr>
          <a:xfrm>
            <a:off x="502920" y="5532120"/>
            <a:ext cx="11274552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2">
            <a:extLst>
              <a:ext uri="{FF2B5EF4-FFF2-40B4-BE49-F238E27FC236}">
                <a16:creationId xmlns:a16="http://schemas.microsoft.com/office/drawing/2014/main" id="{0FB6714C-CF31-3D14-1A44-FDD12307B441}"/>
              </a:ext>
            </a:extLst>
          </p:cNvPr>
          <p:cNvSpPr/>
          <p:nvPr/>
        </p:nvSpPr>
        <p:spPr>
          <a:xfrm>
            <a:off x="777240" y="5532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</a:t>
            </a:r>
            <a:r>
              <a:rPr lang="en-US" sz="1300" b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 </a:t>
            </a:r>
            <a:r>
              <a:rPr lang="zh-TW" alt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上半年</a:t>
            </a:r>
            <a:r>
              <a:rPr lang="en-US" sz="12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如期完成並額外交付</a:t>
            </a: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Web UI;</a:t>
            </a:r>
            <a:r>
              <a:rPr lang="zh-TW" alt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下半年</a:t>
            </a:r>
            <a:r>
              <a:rPr lang="en-US" sz="12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經評估後聚焦於</a:t>
            </a: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</a:t>
            </a:r>
            <a:r>
              <a:rPr lang="zh-TW" alt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貪婪借電</a:t>
            </a:r>
            <a:r>
              <a:rPr lang="en-US" sz="12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演算法</a:t>
            </a: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</a:t>
            </a:r>
            <a:r>
              <a:rPr lang="en-US" altLang="zh-TW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「</a:t>
            </a:r>
            <a:r>
              <a:rPr lang="zh-TW" alt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可變量 </a:t>
            </a:r>
            <a:r>
              <a:rPr lang="en-US" altLang="zh-TW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SMR Group」「N  </a:t>
            </a:r>
            <a:r>
              <a:rPr lang="zh-TW" alt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階借電兼容</a:t>
            </a:r>
            <a:r>
              <a:rPr lang="en-US" altLang="zh-TW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」</a:t>
            </a: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 </a:t>
            </a:r>
            <a:r>
              <a:rPr lang="en-US" sz="12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如期交付</a:t>
            </a:r>
            <a:r>
              <a:rPr lang="en-US" sz="12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3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83F6A86-1A35-5768-6DB4-051888E21F5D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2A14DC8-884F-D86B-4F36-A6B19C18E2DB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739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5CB955-46A1-1A0D-4651-A1E0AB17A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dirty="0">
                <a:latin typeface="DeltaSans" panose="020B0502030000000004" pitchFamily="34" charset="0"/>
              </a:rPr>
              <a:t>範圍擴增 </a:t>
            </a:r>
            <a:r>
              <a:rPr lang="en-US" altLang="zh-TW" sz="2800" b="1" dirty="0">
                <a:latin typeface="DeltaSans" panose="020B0502030000000004" pitchFamily="34" charset="0"/>
              </a:rPr>
              <a:t>Web UI </a:t>
            </a:r>
            <a:r>
              <a:rPr lang="zh-TW" altLang="en-US" sz="2800" b="1" dirty="0">
                <a:latin typeface="DeltaSans" panose="020B0502030000000004" pitchFamily="34" charset="0"/>
              </a:rPr>
              <a:t>系統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208BA01-4189-DF1F-279D-7E7CD60B8060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B8015A10-CF55-7DB5-F44F-EB835D846943}"/>
              </a:ext>
            </a:extLst>
          </p:cNvPr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為什麼新增?</a:t>
            </a:r>
            <a:endParaRPr lang="en-US" sz="15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5CCD60AE-0C80-9D5F-6069-29BEDB25B928}"/>
              </a:ext>
            </a:extLst>
          </p:cNvPr>
          <p:cNvSpPr/>
          <p:nvPr/>
        </p:nvSpPr>
        <p:spPr>
          <a:xfrm>
            <a:off x="502920" y="182880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客戶提案需要直觀展示「不同充電模塊配置 + 充電槍當下功率」的最佳化結果。傳統靜態文件無法呈現互動情境。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策略  </a:t>
            </a: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利用既有 Python 模擬引擎,以「一次建構、立即讀取」的方式服務 Web 請求,讓對外提案工具與內部測試共用同一套演算法。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95C080B-6EA3-D404-F5AA-C637276D6964}"/>
              </a:ext>
            </a:extLst>
          </p:cNvPr>
          <p:cNvSpPr/>
          <p:nvPr/>
        </p:nvSpPr>
        <p:spPr>
          <a:xfrm>
            <a:off x="5029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交付效益</a:t>
            </a:r>
            <a:endParaRPr lang="en-US" sz="15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580F68D-E331-B776-B577-13F7B31B2B1B}"/>
              </a:ext>
            </a:extLst>
          </p:cNvPr>
          <p:cNvSpPr/>
          <p:nvPr/>
        </p:nvSpPr>
        <p:spPr>
          <a:xfrm>
            <a:off x="502920" y="470916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對客提案工具直接可用,提升專案商業價值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模擬引擎不再僅服務內部測試,擴大應用場景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端到端演算法一致性驗證平台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C74E1151-0202-8B59-2212-A75ACB5E21DE}"/>
              </a:ext>
            </a:extLst>
          </p:cNvPr>
          <p:cNvSpPr/>
          <p:nvPr/>
        </p:nvSpPr>
        <p:spPr>
          <a:xfrm>
            <a:off x="640080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</a:t>
            </a:r>
            <a:endParaRPr lang="en-US" sz="1500" dirty="0"/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202A00B7-17B2-B6F3-F02D-6AA6BBE9ACC3}"/>
              </a:ext>
            </a:extLst>
          </p:cNvPr>
          <p:cNvSpPr/>
          <p:nvPr/>
        </p:nvSpPr>
        <p:spPr>
          <a:xfrm>
            <a:off x="6400800" y="1828800"/>
            <a:ext cx="5394960" cy="868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8A12E40A-82E2-8F29-C578-924360530FAA}"/>
              </a:ext>
            </a:extLst>
          </p:cNvPr>
          <p:cNvSpPr/>
          <p:nvPr/>
        </p:nvSpPr>
        <p:spPr>
          <a:xfrm>
            <a:off x="6537960" y="1920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UI Layer</a:t>
            </a:r>
            <a:endParaRPr lang="en-US" sz="15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973C52F9-F030-C489-5B1E-DBFEBC63548F}"/>
              </a:ext>
            </a:extLst>
          </p:cNvPr>
          <p:cNvSpPr/>
          <p:nvPr/>
        </p:nvSpPr>
        <p:spPr>
          <a:xfrm>
            <a:off x="6537960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React + TypeScript</a:t>
            </a:r>
            <a:endParaRPr lang="en-US" sz="110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CDB2CF01-3A20-9A5D-13DA-9555A78BD9D0}"/>
              </a:ext>
            </a:extLst>
          </p:cNvPr>
          <p:cNvSpPr/>
          <p:nvPr/>
        </p:nvSpPr>
        <p:spPr>
          <a:xfrm>
            <a:off x="6400800" y="2834640"/>
            <a:ext cx="5394960" cy="868680"/>
          </a:xfrm>
          <a:prstGeom prst="rect">
            <a:avLst/>
          </a:prstGeom>
          <a:solidFill>
            <a:srgbClr val="2D4373"/>
          </a:solidFill>
          <a:ln w="12700">
            <a:solidFill>
              <a:srgbClr val="2D437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72628375-7F6E-C4F5-C1F5-2D827EC1FB5C}"/>
              </a:ext>
            </a:extLst>
          </p:cNvPr>
          <p:cNvSpPr/>
          <p:nvPr/>
        </p:nvSpPr>
        <p:spPr>
          <a:xfrm>
            <a:off x="6537960" y="2926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API Service Layer</a:t>
            </a:r>
            <a:endParaRPr lang="en-US" sz="15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693E914D-5D82-7E4F-04B6-8E254172F991}"/>
              </a:ext>
            </a:extLst>
          </p:cNvPr>
          <p:cNvSpPr/>
          <p:nvPr/>
        </p:nvSpPr>
        <p:spPr>
          <a:xfrm>
            <a:off x="653796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FastAPI</a:t>
            </a:r>
            <a:endParaRPr lang="en-US" sz="11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4FB4DBF8-A3C5-725F-3AD4-9D81DDB94DCC}"/>
              </a:ext>
            </a:extLst>
          </p:cNvPr>
          <p:cNvSpPr/>
          <p:nvPr/>
        </p:nvSpPr>
        <p:spPr>
          <a:xfrm>
            <a:off x="6400800" y="3840480"/>
            <a:ext cx="5394960" cy="868680"/>
          </a:xfrm>
          <a:prstGeom prst="rect">
            <a:avLst/>
          </a:prstGeom>
          <a:solidFill>
            <a:srgbClr val="4A5B8C"/>
          </a:solidFill>
          <a:ln w="12700">
            <a:solidFill>
              <a:srgbClr val="4A5B8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0D84D2CF-87AE-7AA8-16B9-1A51F4CC7145}"/>
              </a:ext>
            </a:extLst>
          </p:cNvPr>
          <p:cNvSpPr/>
          <p:nvPr/>
        </p:nvSpPr>
        <p:spPr>
          <a:xfrm>
            <a:off x="6537960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Python Core Layer</a:t>
            </a:r>
            <a:endParaRPr lang="en-US" sz="15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CF392044-4C48-4407-338D-4189407FA231}"/>
              </a:ext>
            </a:extLst>
          </p:cNvPr>
          <p:cNvSpPr/>
          <p:nvPr/>
        </p:nvSpPr>
        <p:spPr>
          <a:xfrm>
            <a:off x="6537960" y="4297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現有 simulation/ 引擎 (不變)</a:t>
            </a:r>
            <a:endParaRPr lang="en-US" sz="11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8261B499-56A4-594F-079C-F51DB6F02909}"/>
              </a:ext>
            </a:extLst>
          </p:cNvPr>
          <p:cNvSpPr/>
          <p:nvPr/>
        </p:nvSpPr>
        <p:spPr>
          <a:xfrm>
            <a:off x="6400800" y="5029200"/>
            <a:ext cx="5394960" cy="1325880"/>
          </a:xfrm>
          <a:prstGeom prst="rect">
            <a:avLst/>
          </a:prstGeom>
          <a:solidFill>
            <a:srgbClr val="CADCFC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9203C84-E795-DDD0-549A-150F531551C3}"/>
              </a:ext>
            </a:extLst>
          </p:cNvPr>
          <p:cNvSpPr/>
          <p:nvPr/>
        </p:nvSpPr>
        <p:spPr>
          <a:xfrm>
            <a:off x="653796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功能需求覆蓋</a:t>
            </a:r>
            <a:endParaRPr lang="en-US" sz="13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32FFBADF-4FC4-A5CA-1B07-2A3FAF1DC42E}"/>
              </a:ext>
            </a:extLst>
          </p:cNvPr>
          <p:cNvSpPr/>
          <p:nvPr/>
        </p:nvSpPr>
        <p:spPr>
          <a:xfrm>
            <a:off x="6537960" y="54406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顯示層</a:t>
            </a: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· REC BD 顏色、25 kW pack、Relay 狀態、車輛圖示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互動層</a:t>
            </a: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· ±25 kW 按鈕、Apply-and-Generate、Step Player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配置層</a:t>
            </a: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· 1~12 REC BD、模塊功率、優先順序</a:t>
            </a:r>
            <a:endParaRPr lang="en-US" sz="1100" dirty="0"/>
          </a:p>
        </p:txBody>
      </p:sp>
      <p:sp>
        <p:nvSpPr>
          <p:cNvPr id="22" name="Shape 0">
            <a:extLst>
              <a:ext uri="{FF2B5EF4-FFF2-40B4-BE49-F238E27FC236}">
                <a16:creationId xmlns:a16="http://schemas.microsoft.com/office/drawing/2014/main" id="{FC73FBD4-B2F3-87AB-1069-A6DDA841BAF1}"/>
              </a:ext>
            </a:extLst>
          </p:cNvPr>
          <p:cNvSpPr/>
          <p:nvPr/>
        </p:nvSpPr>
        <p:spPr>
          <a:xfrm>
            <a:off x="-9252" y="-862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81A88C-503E-EA41-127D-FB76746A2E08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A5567F4-6FC9-9B13-BF4B-748EB776485A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74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43821-8C21-7BBC-F986-57F80D9D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>
                <a:latin typeface="DeltaSans" panose="020B0502030000000004" pitchFamily="34" charset="0"/>
              </a:rPr>
              <a:t>Web UI Demo </a:t>
            </a:r>
            <a:r>
              <a:rPr lang="zh-TW" altLang="en-US" sz="2800" b="1" dirty="0">
                <a:latin typeface="DeltaSans" panose="020B0502030000000004" pitchFamily="34" charset="0"/>
              </a:rPr>
              <a:t>對客戶提案流程</a:t>
            </a: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4F454F1B-C0FA-2033-1323-9DB3C7303DE8}"/>
              </a:ext>
            </a:extLst>
          </p:cNvPr>
          <p:cNvSpPr/>
          <p:nvPr/>
        </p:nvSpPr>
        <p:spPr>
          <a:xfrm>
            <a:off x="-9252" y="-862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0825240-ADC6-D575-AE8B-6BB91720CDE0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D28ADE4-B846-B142-20F2-454D2551DA98}"/>
              </a:ext>
            </a:extLst>
          </p:cNvPr>
          <p:cNvSpPr/>
          <p:nvPr/>
        </p:nvSpPr>
        <p:spPr>
          <a:xfrm>
            <a:off x="50292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 UI 分為三大區塊:配置面板、拓樸視圖、車位面板。使用者透過調整車位需求,即時觀察拓樸圖上的功率分配變化。</a:t>
            </a:r>
            <a:endParaRPr lang="en-US" sz="12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ACCFC43-58B7-A4FC-57D2-925CE7B7DA45}"/>
              </a:ext>
            </a:extLst>
          </p:cNvPr>
          <p:cNvSpPr/>
          <p:nvPr/>
        </p:nvSpPr>
        <p:spPr>
          <a:xfrm>
            <a:off x="502920" y="2011680"/>
            <a:ext cx="6858000" cy="4114800"/>
          </a:xfrm>
          <a:prstGeom prst="rect">
            <a:avLst/>
          </a:prstGeom>
          <a:solidFill>
            <a:srgbClr val="F5F7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BC534C-CA7B-84A5-06F1-BF44430A4F9A}"/>
              </a:ext>
            </a:extLst>
          </p:cNvPr>
          <p:cNvSpPr/>
          <p:nvPr/>
        </p:nvSpPr>
        <p:spPr>
          <a:xfrm>
            <a:off x="502920" y="2011680"/>
            <a:ext cx="685800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E375F5-867F-1A32-E930-A50BFC722EFD}"/>
              </a:ext>
            </a:extLst>
          </p:cNvPr>
          <p:cNvSpPr/>
          <p:nvPr/>
        </p:nvSpPr>
        <p:spPr>
          <a:xfrm>
            <a:off x="640080" y="2011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EVCS Optima Web UI</a:t>
            </a:r>
            <a:endParaRPr lang="en-US" sz="11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6738204B-697F-C2E2-15D7-1CF32F05BC41}"/>
              </a:ext>
            </a:extLst>
          </p:cNvPr>
          <p:cNvSpPr/>
          <p:nvPr/>
        </p:nvSpPr>
        <p:spPr>
          <a:xfrm>
            <a:off x="2971800" y="6126480"/>
            <a:ext cx="4251960" cy="320040"/>
          </a:xfrm>
          <a:prstGeom prst="rect">
            <a:avLst/>
          </a:prstGeom>
          <a:solidFill>
            <a:srgbClr val="CADCFC"/>
          </a:solidFill>
          <a:ln w="635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09595BB-0E64-800E-4105-5405A1A8655D}"/>
              </a:ext>
            </a:extLst>
          </p:cNvPr>
          <p:cNvSpPr/>
          <p:nvPr/>
        </p:nvSpPr>
        <p:spPr>
          <a:xfrm>
            <a:off x="2971800" y="61264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Apply and Generate  →  Step Player</a:t>
            </a:r>
            <a:endParaRPr lang="en-US" sz="100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073D34B3-93EE-6638-E2F9-E87B3B63A4C9}"/>
              </a:ext>
            </a:extLst>
          </p:cNvPr>
          <p:cNvSpPr/>
          <p:nvPr/>
        </p:nvSpPr>
        <p:spPr>
          <a:xfrm>
            <a:off x="8065876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Demo 流程</a:t>
            </a:r>
            <a:endParaRPr lang="en-US" sz="1500" dirty="0"/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3BBC6500-0069-F847-4081-D51196EE5955}"/>
              </a:ext>
            </a:extLst>
          </p:cNvPr>
          <p:cNvSpPr/>
          <p:nvPr/>
        </p:nvSpPr>
        <p:spPr>
          <a:xfrm>
            <a:off x="8065876" y="25146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83129FB9-03EC-2642-0687-D6C706000099}"/>
              </a:ext>
            </a:extLst>
          </p:cNvPr>
          <p:cNvSpPr/>
          <p:nvPr/>
        </p:nvSpPr>
        <p:spPr>
          <a:xfrm>
            <a:off x="806587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BA8EC036-F259-6481-7686-9D166AFECB4A}"/>
              </a:ext>
            </a:extLst>
          </p:cNvPr>
          <p:cNvSpPr/>
          <p:nvPr/>
        </p:nvSpPr>
        <p:spPr>
          <a:xfrm>
            <a:off x="8705956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設定站點配置</a:t>
            </a:r>
            <a:endParaRPr lang="en-US" sz="13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398A68BC-456F-2F5E-0201-4E0ECE5F12DF}"/>
              </a:ext>
            </a:extLst>
          </p:cNvPr>
          <p:cNvSpPr/>
          <p:nvPr/>
        </p:nvSpPr>
        <p:spPr>
          <a:xfrm>
            <a:off x="8705956" y="2788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REC BD 數量與模塊功率</a:t>
            </a:r>
            <a:endParaRPr lang="en-US" sz="105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DE9B6043-9684-BBF5-310A-18469098ADEA}"/>
              </a:ext>
            </a:extLst>
          </p:cNvPr>
          <p:cNvSpPr/>
          <p:nvPr/>
        </p:nvSpPr>
        <p:spPr>
          <a:xfrm>
            <a:off x="8294476" y="3017520"/>
            <a:ext cx="0" cy="411480"/>
          </a:xfrm>
          <a:prstGeom prst="line">
            <a:avLst/>
          </a:prstGeom>
          <a:noFill/>
          <a:ln w="12700">
            <a:solidFill>
              <a:srgbClr val="D7DE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090D18E1-AE0E-9916-A210-DE47433E019C}"/>
              </a:ext>
            </a:extLst>
          </p:cNvPr>
          <p:cNvSpPr/>
          <p:nvPr/>
        </p:nvSpPr>
        <p:spPr>
          <a:xfrm>
            <a:off x="8065876" y="3474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F74723AF-5E9E-B128-D156-D3E495E0F4D6}"/>
              </a:ext>
            </a:extLst>
          </p:cNvPr>
          <p:cNvSpPr/>
          <p:nvPr/>
        </p:nvSpPr>
        <p:spPr>
          <a:xfrm>
            <a:off x="8065876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28B7A8D5-D058-0368-F94D-A02FF54B8460}"/>
              </a:ext>
            </a:extLst>
          </p:cNvPr>
          <p:cNvSpPr/>
          <p:nvPr/>
        </p:nvSpPr>
        <p:spPr>
          <a:xfrm>
            <a:off x="8705956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輸入車位需求</a:t>
            </a:r>
            <a:endParaRPr lang="en-US" sz="1300" dirty="0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CDC3D819-DABD-53E9-EBFB-28C1590A1CE6}"/>
              </a:ext>
            </a:extLst>
          </p:cNvPr>
          <p:cNvSpPr/>
          <p:nvPr/>
        </p:nvSpPr>
        <p:spPr>
          <a:xfrm>
            <a:off x="8705956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各充電槍的 Max Required kW</a:t>
            </a:r>
            <a:endParaRPr lang="en-US" sz="105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38D37A1A-8ED3-E88B-D3C8-F7D5D1EDBDDF}"/>
              </a:ext>
            </a:extLst>
          </p:cNvPr>
          <p:cNvSpPr/>
          <p:nvPr/>
        </p:nvSpPr>
        <p:spPr>
          <a:xfrm>
            <a:off x="8294476" y="3977640"/>
            <a:ext cx="0" cy="411480"/>
          </a:xfrm>
          <a:prstGeom prst="line">
            <a:avLst/>
          </a:prstGeom>
          <a:noFill/>
          <a:ln w="12700">
            <a:solidFill>
              <a:srgbClr val="D7DE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4AF55421-414A-F330-44DB-A116F9D3624C}"/>
              </a:ext>
            </a:extLst>
          </p:cNvPr>
          <p:cNvSpPr/>
          <p:nvPr/>
        </p:nvSpPr>
        <p:spPr>
          <a:xfrm>
            <a:off x="8065876" y="4434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FC68CC7A-BF4F-5728-FFD3-04422EFA4F35}"/>
              </a:ext>
            </a:extLst>
          </p:cNvPr>
          <p:cNvSpPr/>
          <p:nvPr/>
        </p:nvSpPr>
        <p:spPr>
          <a:xfrm>
            <a:off x="8065876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17617383-CCF5-D8DD-C538-8D0DBF882664}"/>
              </a:ext>
            </a:extLst>
          </p:cNvPr>
          <p:cNvSpPr/>
          <p:nvPr/>
        </p:nvSpPr>
        <p:spPr>
          <a:xfrm>
            <a:off x="8705956" y="4389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即時觀察分配</a:t>
            </a:r>
            <a:endParaRPr lang="en-US" sz="13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883AD601-FCD7-FBB0-EC4A-442085E1F437}"/>
              </a:ext>
            </a:extLst>
          </p:cNvPr>
          <p:cNvSpPr/>
          <p:nvPr/>
        </p:nvSpPr>
        <p:spPr>
          <a:xfrm>
            <a:off x="8705956" y="47091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Topology 上 pack 顏色即時反映</a:t>
            </a:r>
            <a:endParaRPr lang="en-US" sz="1050" dirty="0"/>
          </a:p>
        </p:txBody>
      </p:sp>
      <p:sp>
        <p:nvSpPr>
          <p:cNvPr id="95" name="Shape 93">
            <a:extLst>
              <a:ext uri="{FF2B5EF4-FFF2-40B4-BE49-F238E27FC236}">
                <a16:creationId xmlns:a16="http://schemas.microsoft.com/office/drawing/2014/main" id="{2272AF1F-942B-0040-27EF-BA767A734045}"/>
              </a:ext>
            </a:extLst>
          </p:cNvPr>
          <p:cNvSpPr/>
          <p:nvPr/>
        </p:nvSpPr>
        <p:spPr>
          <a:xfrm>
            <a:off x="8294476" y="4937760"/>
            <a:ext cx="0" cy="411480"/>
          </a:xfrm>
          <a:prstGeom prst="line">
            <a:avLst/>
          </a:prstGeom>
          <a:noFill/>
          <a:ln w="12700">
            <a:solidFill>
              <a:srgbClr val="D7DEEE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A022E2A1-32CB-3B9D-DD62-F5E453F5E4A8}"/>
              </a:ext>
            </a:extLst>
          </p:cNvPr>
          <p:cNvSpPr/>
          <p:nvPr/>
        </p:nvSpPr>
        <p:spPr>
          <a:xfrm>
            <a:off x="8065876" y="5394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371B9A68-CA98-990A-2FD8-7258B164807F}"/>
              </a:ext>
            </a:extLst>
          </p:cNvPr>
          <p:cNvSpPr/>
          <p:nvPr/>
        </p:nvSpPr>
        <p:spPr>
          <a:xfrm>
            <a:off x="8065876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35073E81-8B86-62AA-9B9A-F18AE7DAC921}"/>
              </a:ext>
            </a:extLst>
          </p:cNvPr>
          <p:cNvSpPr/>
          <p:nvPr/>
        </p:nvSpPr>
        <p:spPr>
          <a:xfrm>
            <a:off x="8705956" y="53492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產出控制步序</a:t>
            </a:r>
            <a:endParaRPr lang="en-US" sz="13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CA70B9B1-901A-A5E6-A114-D9A3ECC48FB8}"/>
              </a:ext>
            </a:extLst>
          </p:cNvPr>
          <p:cNvSpPr/>
          <p:nvPr/>
        </p:nvSpPr>
        <p:spPr>
          <a:xfrm>
            <a:off x="8705956" y="5669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Apply → Step Player 逐步展示</a:t>
            </a:r>
            <a:endParaRPr lang="en-US" sz="1050" dirty="0"/>
          </a:p>
        </p:txBody>
      </p:sp>
      <p:sp>
        <p:nvSpPr>
          <p:cNvPr id="100" name="Text 98">
            <a:extLst>
              <a:ext uri="{FF2B5EF4-FFF2-40B4-BE49-F238E27FC236}">
                <a16:creationId xmlns:a16="http://schemas.microsoft.com/office/drawing/2014/main" id="{04FCB170-C4F9-F8CB-BA1F-B3C0709194D5}"/>
              </a:ext>
            </a:extLst>
          </p:cNvPr>
          <p:cNvSpPr/>
          <p:nvPr/>
        </p:nvSpPr>
        <p:spPr>
          <a:xfrm>
            <a:off x="50292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EVCS Optima  ·  雙月會報告  ·  2026</a:t>
            </a:r>
            <a:endParaRPr lang="en-US" sz="900" dirty="0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7B86C1FA-E777-9974-AAF2-BD6748D638EA}"/>
              </a:ext>
            </a:extLst>
          </p:cNvPr>
          <p:cNvSpPr/>
          <p:nvPr/>
        </p:nvSpPr>
        <p:spPr>
          <a:xfrm>
            <a:off x="1124712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 / 10</a:t>
            </a:r>
            <a:endParaRPr lang="en-US" sz="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5EAAA3-628F-19D5-8FF9-4E6B3D11CB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43"/>
          <a:stretch>
            <a:fillRect/>
          </a:stretch>
        </p:blipFill>
        <p:spPr bwMode="auto">
          <a:xfrm>
            <a:off x="919632" y="2377440"/>
            <a:ext cx="4521740" cy="369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49526E0-6DE0-AE0F-0EAE-E692E9C6D056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F59014-380B-4472-F65B-DD68A15FD985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233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205D3B-9120-E116-3ABA-A6A1B5D7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>
                <a:latin typeface="DeltaSans" panose="020B0502030000000004" pitchFamily="34" charset="0"/>
              </a:rPr>
              <a:t>H2 (2026</a:t>
            </a:r>
            <a:r>
              <a:rPr lang="zh-TW" altLang="en-US" sz="2800" b="1" dirty="0">
                <a:latin typeface="DeltaSans" panose="020B0502030000000004" pitchFamily="34" charset="0"/>
              </a:rPr>
              <a:t>下半年</a:t>
            </a:r>
            <a:r>
              <a:rPr lang="en-US" altLang="zh-TW" sz="2800" b="1" dirty="0">
                <a:latin typeface="DeltaSans" panose="020B0502030000000004" pitchFamily="34" charset="0"/>
              </a:rPr>
              <a:t>) </a:t>
            </a:r>
            <a:r>
              <a:rPr lang="zh-TW" altLang="en-US" sz="2800" b="1" dirty="0">
                <a:latin typeface="DeltaSans" panose="020B0502030000000004" pitchFamily="34" charset="0"/>
              </a:rPr>
              <a:t>路線圖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9C283272-EF29-09AA-A151-1CDFF2AD8013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D29196C-3610-2E7B-6F95-31B331A932E1}"/>
              </a:ext>
            </a:extLst>
          </p:cNvPr>
          <p:cNvSpPr txBox="1"/>
          <p:nvPr/>
        </p:nvSpPr>
        <p:spPr>
          <a:xfrm>
            <a:off x="424053" y="1024128"/>
            <a:ext cx="11338560" cy="24878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取消充電樁推薦與</a:t>
            </a:r>
            <a:r>
              <a:rPr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 Relay 切換最小化；H2 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聚焦</a:t>
            </a:r>
            <a:r>
              <a:rPr lang="zh-TW" altLang="en-US"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貪婪借電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演算法</a:t>
            </a:r>
            <a:r>
              <a:rPr lang="zh-TW" altLang="en-US"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等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三項需求，如期於</a:t>
            </a:r>
            <a:r>
              <a:rPr sz="1450" b="0" i="0" dirty="0">
                <a:solidFill>
                  <a:srgbClr val="7F7F7F"/>
                </a:solidFill>
                <a:latin typeface="Calibri"/>
                <a:ea typeface="Microsoft JhengHei"/>
              </a:rPr>
              <a:t> 2026 Q4 </a:t>
            </a:r>
            <a:r>
              <a:rPr sz="14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交付</a:t>
            </a:r>
            <a:endParaRPr sz="1450" b="0" i="0" dirty="0">
              <a:solidFill>
                <a:srgbClr val="7F7F7F"/>
              </a:solidFill>
              <a:latin typeface="Calibri"/>
              <a:ea typeface="Microsoft JhengHei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5B0CABA-67B1-574F-D1F7-8F3A50257BAC}"/>
              </a:ext>
            </a:extLst>
          </p:cNvPr>
          <p:cNvSpPr/>
          <p:nvPr/>
        </p:nvSpPr>
        <p:spPr>
          <a:xfrm>
            <a:off x="411480" y="1298448"/>
            <a:ext cx="11356467" cy="310896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B3D5267-6E04-64C5-6CA4-8A5D62E8B253}"/>
              </a:ext>
            </a:extLst>
          </p:cNvPr>
          <p:cNvSpPr txBox="1"/>
          <p:nvPr/>
        </p:nvSpPr>
        <p:spPr>
          <a:xfrm>
            <a:off x="411480" y="1298448"/>
            <a:ext cx="11356467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ABF46C4-BD14-BDB1-8368-C88513C0A339}"/>
              </a:ext>
            </a:extLst>
          </p:cNvPr>
          <p:cNvSpPr/>
          <p:nvPr/>
        </p:nvSpPr>
        <p:spPr>
          <a:xfrm>
            <a:off x="411480" y="1627632"/>
            <a:ext cx="2831973" cy="420624"/>
          </a:xfrm>
          <a:prstGeom prst="rect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473C1E1A-E8BF-77B2-C900-B8F3E526D06F}"/>
              </a:ext>
            </a:extLst>
          </p:cNvPr>
          <p:cNvSpPr txBox="1"/>
          <p:nvPr/>
        </p:nvSpPr>
        <p:spPr>
          <a:xfrm>
            <a:off x="411480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Microsoft JhengHei"/>
              </a:rPr>
              <a:t>2026 Q1　✓ 已完成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1928198-5571-6FD7-36E7-A7980F771D07}"/>
              </a:ext>
            </a:extLst>
          </p:cNvPr>
          <p:cNvSpPr/>
          <p:nvPr/>
        </p:nvSpPr>
        <p:spPr>
          <a:xfrm>
            <a:off x="411480" y="2084831"/>
            <a:ext cx="2831973" cy="2651761"/>
          </a:xfrm>
          <a:prstGeom prst="rect">
            <a:avLst/>
          </a:prstGeom>
          <a:solidFill>
            <a:srgbClr val="F6F8FC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361607C0-3BAC-9069-E87F-B25BFB730740}"/>
              </a:ext>
            </a:extLst>
          </p:cNvPr>
          <p:cNvSpPr txBox="1"/>
          <p:nvPr/>
        </p:nvSpPr>
        <p:spPr>
          <a:xfrm>
            <a:off x="466344" y="2157983"/>
            <a:ext cx="2722245" cy="250545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3B0"/>
                </a:solidFill>
                <a:latin typeface="Calibri"/>
                <a:ea typeface="Microsoft JhengHei"/>
              </a:rPr>
              <a:t>• Timing Diagram 架構設計與繪圖模組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3B0"/>
                </a:solidFill>
                <a:latin typeface="Calibri"/>
                <a:ea typeface="Microsoft JhengHei"/>
              </a:rPr>
              <a:t>• 來車 SOC / 充電量 / 密集率 測試參數與模擬系統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3B0"/>
                </a:solidFill>
                <a:latin typeface="Calibri"/>
                <a:ea typeface="Microsoft JhengHei"/>
              </a:rPr>
              <a:t>• 隨機測試案例產生器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9AA3B0"/>
                </a:solidFill>
                <a:latin typeface="Calibri"/>
                <a:ea typeface="Microsoft JhengHei"/>
              </a:rPr>
              <a:t>• 模擬引擎驗證與技術文件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5426A820-B4F1-31C3-143E-9FFC952652BB}"/>
              </a:ext>
            </a:extLst>
          </p:cNvPr>
          <p:cNvSpPr/>
          <p:nvPr/>
        </p:nvSpPr>
        <p:spPr>
          <a:xfrm>
            <a:off x="3252978" y="1627632"/>
            <a:ext cx="2831973" cy="420624"/>
          </a:xfrm>
          <a:prstGeom prst="rect">
            <a:avLst/>
          </a:prstGeom>
          <a:solidFill>
            <a:srgbClr val="9A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A5230774-3D31-D971-E48C-71D3558479E4}"/>
              </a:ext>
            </a:extLst>
          </p:cNvPr>
          <p:cNvSpPr txBox="1"/>
          <p:nvPr/>
        </p:nvSpPr>
        <p:spPr>
          <a:xfrm>
            <a:off x="3252978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  <a:ea typeface="Microsoft JhengHei"/>
              </a:rPr>
              <a:t>2026 Q2　✓ 已完成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6EC7BFF1-239F-2494-9691-6390D7B871E9}"/>
              </a:ext>
            </a:extLst>
          </p:cNvPr>
          <p:cNvSpPr/>
          <p:nvPr/>
        </p:nvSpPr>
        <p:spPr>
          <a:xfrm>
            <a:off x="3252978" y="2084831"/>
            <a:ext cx="2831973" cy="2651761"/>
          </a:xfrm>
          <a:prstGeom prst="rect">
            <a:avLst/>
          </a:prstGeom>
          <a:solidFill>
            <a:srgbClr val="F6F8FC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C55E5D56-D032-528C-DEE8-4BEC96C3C1CD}"/>
              </a:ext>
            </a:extLst>
          </p:cNvPr>
          <p:cNvSpPr txBox="1"/>
          <p:nvPr/>
        </p:nvSpPr>
        <p:spPr>
          <a:xfrm>
            <a:off x="3307842" y="2157983"/>
            <a:ext cx="2722245" cy="9584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C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語言演算法實現、</a:t>
            </a:r>
            <a:r>
              <a:rPr sz="1050" b="0" i="0" strike="sngStrike" dirty="0" err="1">
                <a:solidFill>
                  <a:srgbClr val="9AA3B0"/>
                </a:solidFill>
                <a:latin typeface="Calibri"/>
                <a:ea typeface="Microsoft JhengHei"/>
              </a:rPr>
              <a:t>MCU</a:t>
            </a:r>
            <a:r>
              <a:rPr sz="1050" b="0" i="0" strike="sngStrike" dirty="0">
                <a:solidFill>
                  <a:srgbClr val="9AA3B0"/>
                </a:solidFill>
                <a:latin typeface="Calibri"/>
                <a:ea typeface="Microsoft JhengHei"/>
              </a:rPr>
              <a:t> </a:t>
            </a:r>
            <a:r>
              <a:rPr sz="1050" b="0" i="0" strike="sngStrike" dirty="0" err="1">
                <a:solidFill>
                  <a:srgbClr val="9AA3B0"/>
                </a:solidFill>
                <a:latin typeface="Calibri"/>
                <a:ea typeface="Microsoft JhengHei"/>
              </a:rPr>
              <a:t>硬體適配層</a:t>
            </a:r>
            <a:endParaRPr sz="1050" b="0" i="0" strike="sngStrike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strike="sngStrike" dirty="0">
                <a:solidFill>
                  <a:srgbClr val="9AA3B0"/>
                </a:solidFill>
                <a:latin typeface="Calibri"/>
                <a:ea typeface="Microsoft JhengHei"/>
              </a:rPr>
              <a:t>MCU </a:t>
            </a:r>
            <a:r>
              <a:rPr sz="1050" b="0" i="0" strike="sngStrike" dirty="0" err="1">
                <a:solidFill>
                  <a:srgbClr val="9AA3B0"/>
                </a:solidFill>
                <a:latin typeface="Calibri"/>
                <a:ea typeface="Microsoft JhengHei"/>
              </a:rPr>
              <a:t>功能驗證與性能測試</a:t>
            </a:r>
            <a:endParaRPr sz="1050" b="0" i="0" strike="sngStrike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Relay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切換量測與統計機制</a:t>
            </a:r>
            <a:endParaRPr sz="1050" b="0" i="0" dirty="0">
              <a:solidFill>
                <a:srgbClr val="9AA3B0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切換成本函數整合（EVCS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9AA3B0"/>
                </a:solidFill>
                <a:latin typeface="Calibri"/>
                <a:ea typeface="Microsoft JhengHei"/>
              </a:rPr>
              <a:t>Optima，保留為基線</a:t>
            </a:r>
            <a:r>
              <a:rPr sz="1050" b="0" i="0" dirty="0">
                <a:solidFill>
                  <a:srgbClr val="9AA3B0"/>
                </a:solidFill>
                <a:latin typeface="Calibri"/>
                <a:ea typeface="Microsoft JhengHei"/>
              </a:rPr>
              <a:t>）</a:t>
            </a: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54F26317-21B0-48D4-BA6A-D9FDDCAA86B7}"/>
              </a:ext>
            </a:extLst>
          </p:cNvPr>
          <p:cNvSpPr/>
          <p:nvPr/>
        </p:nvSpPr>
        <p:spPr>
          <a:xfrm>
            <a:off x="6094476" y="1627632"/>
            <a:ext cx="2831973" cy="4206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F5DCD226-1E5A-98AC-6B36-5B7672F22F99}"/>
              </a:ext>
            </a:extLst>
          </p:cNvPr>
          <p:cNvSpPr txBox="1"/>
          <p:nvPr/>
        </p:nvSpPr>
        <p:spPr>
          <a:xfrm>
            <a:off x="6094476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 Q3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CB148243-F32E-0313-E3CC-AC839B183BC3}"/>
              </a:ext>
            </a:extLst>
          </p:cNvPr>
          <p:cNvSpPr/>
          <p:nvPr/>
        </p:nvSpPr>
        <p:spPr>
          <a:xfrm>
            <a:off x="6094476" y="2084831"/>
            <a:ext cx="2831973" cy="26517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56DFC0A6-3892-326F-0C9F-08FEE35CDAF7}"/>
              </a:ext>
            </a:extLst>
          </p:cNvPr>
          <p:cNvSpPr txBox="1"/>
          <p:nvPr/>
        </p:nvSpPr>
        <p:spPr>
          <a:xfrm>
            <a:off x="6149340" y="2157983"/>
            <a:ext cx="2722245" cy="112319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確認生產單位規格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（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貪婪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借電演算法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1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貪婪借電</a:t>
            </a:r>
            <a:r>
              <a:rPr lang="zh-TW" alt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演算法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：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設計、實作、模擬驗證</a:t>
            </a:r>
            <a:endParaRPr sz="1050" b="1" i="0" dirty="0">
              <a:solidFill>
                <a:srgbClr val="C55A11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2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可變</a:t>
            </a:r>
            <a:r>
              <a:rPr lang="zh-TW" alt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量 </a:t>
            </a:r>
            <a:r>
              <a:rPr lang="en-US" altLang="zh-TW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SMR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Group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數：設計、實作、動態配置驗證</a:t>
            </a:r>
            <a:endParaRPr sz="1050" b="1" i="0" dirty="0">
              <a:solidFill>
                <a:srgbClr val="C55A11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沿用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Q1/Q2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模擬引擎與測試框架驗證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3A449ED7-88AD-FF3A-F363-FF83A2CF5798}"/>
              </a:ext>
            </a:extLst>
          </p:cNvPr>
          <p:cNvSpPr/>
          <p:nvPr/>
        </p:nvSpPr>
        <p:spPr>
          <a:xfrm>
            <a:off x="8935974" y="1627632"/>
            <a:ext cx="2831973" cy="420624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629F4F9A-C9EB-A9AC-3DFA-C929DB5B61BA}"/>
              </a:ext>
            </a:extLst>
          </p:cNvPr>
          <p:cNvSpPr txBox="1"/>
          <p:nvPr/>
        </p:nvSpPr>
        <p:spPr>
          <a:xfrm>
            <a:off x="8935974" y="1627632"/>
            <a:ext cx="2831973" cy="42062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Microsoft JhengHei"/>
              </a:rPr>
              <a:t>2026 Q4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D531F104-CB8D-9F07-2A6F-EF025F6C20A9}"/>
              </a:ext>
            </a:extLst>
          </p:cNvPr>
          <p:cNvSpPr/>
          <p:nvPr/>
        </p:nvSpPr>
        <p:spPr>
          <a:xfrm>
            <a:off x="8935974" y="2084831"/>
            <a:ext cx="2831973" cy="26517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037E3AEB-8CB7-E3DF-B6D1-7A2958E5630A}"/>
              </a:ext>
            </a:extLst>
          </p:cNvPr>
          <p:cNvSpPr txBox="1"/>
          <p:nvPr/>
        </p:nvSpPr>
        <p:spPr>
          <a:xfrm>
            <a:off x="8990838" y="2157983"/>
            <a:ext cx="2722245" cy="95840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▶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3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N 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階借電：多階借電路徑設計（依賴需求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 </a:t>
            </a:r>
            <a:r>
              <a:rPr lang="en-US" sz="1050" b="1" dirty="0">
                <a:solidFill>
                  <a:srgbClr val="C55A11"/>
                </a:solidFill>
                <a:latin typeface="Calibri"/>
                <a:ea typeface="Microsoft JhengHei"/>
              </a:rPr>
              <a:t>1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、</a:t>
            </a:r>
            <a:r>
              <a:rPr lang="en-US"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2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實作與整合、模擬驗證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演算法整體驗證與效能測試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•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專案總結、API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規格、系統整合與技術移轉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24" name="Rectangle 21">
            <a:extLst>
              <a:ext uri="{FF2B5EF4-FFF2-40B4-BE49-F238E27FC236}">
                <a16:creationId xmlns:a16="http://schemas.microsoft.com/office/drawing/2014/main" id="{A8574AE5-FFAD-8667-28AC-3B11CF76618F}"/>
              </a:ext>
            </a:extLst>
          </p:cNvPr>
          <p:cNvSpPr/>
          <p:nvPr/>
        </p:nvSpPr>
        <p:spPr>
          <a:xfrm>
            <a:off x="411480" y="4846320"/>
            <a:ext cx="11365992" cy="1481328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9790A011-A7BD-0280-9744-19CBE96A0A0B}"/>
              </a:ext>
            </a:extLst>
          </p:cNvPr>
          <p:cNvSpPr txBox="1"/>
          <p:nvPr/>
        </p:nvSpPr>
        <p:spPr>
          <a:xfrm>
            <a:off x="438912" y="4846320"/>
            <a:ext cx="868680" cy="14813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Microsoft JhengHei"/>
              </a:rPr>
              <a:t>產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Calibri"/>
                <a:ea typeface="Microsoft JhengHei"/>
              </a:rPr>
              <a:t>出</a:t>
            </a:r>
          </a:p>
        </p:txBody>
      </p:sp>
      <p:sp>
        <p:nvSpPr>
          <p:cNvPr id="26" name="Rectangle 23">
            <a:extLst>
              <a:ext uri="{FF2B5EF4-FFF2-40B4-BE49-F238E27FC236}">
                <a16:creationId xmlns:a16="http://schemas.microsoft.com/office/drawing/2014/main" id="{E17F2D4D-9016-3D0F-7DB6-27FC8E8B185B}"/>
              </a:ext>
            </a:extLst>
          </p:cNvPr>
          <p:cNvSpPr/>
          <p:nvPr/>
        </p:nvSpPr>
        <p:spPr>
          <a:xfrm>
            <a:off x="1280160" y="4956048"/>
            <a:ext cx="9525" cy="1261872"/>
          </a:xfrm>
          <a:prstGeom prst="rect">
            <a:avLst/>
          </a:prstGeom>
          <a:solidFill>
            <a:srgbClr val="C9C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70E34778-DECC-86B3-B136-56CC546E1426}"/>
              </a:ext>
            </a:extLst>
          </p:cNvPr>
          <p:cNvSpPr txBox="1"/>
          <p:nvPr/>
        </p:nvSpPr>
        <p:spPr>
          <a:xfrm>
            <a:off x="1417320" y="4937760"/>
            <a:ext cx="2491740" cy="129844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[規格]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模擬引擎技術規格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[設計]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Timing Diagram 視覺化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7F7F7F"/>
                </a:solidFill>
                <a:latin typeface="Calibri"/>
                <a:ea typeface="Microsoft JhengHei"/>
              </a:rPr>
              <a:t>[測試] </a:t>
            </a:r>
            <a:r>
              <a:rPr sz="1050" b="0" i="0">
                <a:solidFill>
                  <a:srgbClr val="7F7F7F"/>
                </a:solidFill>
                <a:latin typeface="Calibri"/>
                <a:ea typeface="Microsoft JhengHei"/>
              </a:rPr>
              <a:t>測試參數資料集 / 隨機案例報告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6612A00C-4BA1-04AB-AE2D-C093598C2687}"/>
              </a:ext>
            </a:extLst>
          </p:cNvPr>
          <p:cNvSpPr txBox="1"/>
          <p:nvPr/>
        </p:nvSpPr>
        <p:spPr>
          <a:xfrm>
            <a:off x="4018788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Python→C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轉換</a:t>
            </a:r>
            <a:endParaRPr sz="1050" b="0" i="0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strike="sngStrike" dirty="0" err="1">
                <a:solidFill>
                  <a:srgbClr val="7F7F7F"/>
                </a:solidFill>
                <a:latin typeface="Calibri"/>
                <a:ea typeface="Microsoft JhengHei"/>
              </a:rPr>
              <a:t>測試</a:t>
            </a:r>
            <a:r>
              <a:rPr sz="1050" b="1" i="0" strike="sngStrike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strike="sngStrike" dirty="0">
                <a:solidFill>
                  <a:srgbClr val="7F7F7F"/>
                </a:solidFill>
                <a:latin typeface="Calibri"/>
                <a:ea typeface="Microsoft JhengHei"/>
              </a:rPr>
              <a:t>MCU </a:t>
            </a:r>
            <a:r>
              <a:rPr sz="1050" b="0" i="0" strike="sngStrike" dirty="0" err="1">
                <a:solidFill>
                  <a:srgbClr val="7F7F7F"/>
                </a:solidFill>
                <a:latin typeface="Calibri"/>
                <a:ea typeface="Microsoft JhengHei"/>
              </a:rPr>
              <a:t>功能</a:t>
            </a:r>
            <a:r>
              <a:rPr sz="1050" b="0" i="0" strike="sngStrike" dirty="0">
                <a:solidFill>
                  <a:srgbClr val="7F7F7F"/>
                </a:solidFill>
                <a:latin typeface="Calibri"/>
                <a:ea typeface="Microsoft JhengHei"/>
              </a:rPr>
              <a:t> / </a:t>
            </a:r>
            <a:r>
              <a:rPr sz="1050" b="0" i="0" strike="sngStrike" dirty="0" err="1">
                <a:solidFill>
                  <a:srgbClr val="7F7F7F"/>
                </a:solidFill>
                <a:latin typeface="Calibri"/>
                <a:ea typeface="Microsoft JhengHei"/>
              </a:rPr>
              <a:t>性能報告</a:t>
            </a:r>
            <a:endParaRPr sz="1050" b="0" i="0" strike="sngStrike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演算法技術規格</a:t>
            </a:r>
            <a:endParaRPr sz="1050" b="0" i="0" dirty="0">
              <a:solidFill>
                <a:srgbClr val="7F7F7F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7F7F7F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7F7F7F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切換最小化模組（基線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）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3E781112-6C6C-9EA2-4BA9-4859FF17DA32}"/>
              </a:ext>
            </a:extLst>
          </p:cNvPr>
          <p:cNvSpPr txBox="1"/>
          <p:nvPr/>
        </p:nvSpPr>
        <p:spPr>
          <a:xfrm>
            <a:off x="6620256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5496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] </a:t>
            </a:r>
            <a:r>
              <a:rPr lang="zh-TW" altLang="en-US" sz="1050" dirty="0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sz="1050" dirty="0" err="1">
                <a:solidFill>
                  <a:srgbClr val="262626"/>
                </a:solidFill>
                <a:latin typeface="Calibri"/>
                <a:ea typeface="Microsoft JhengHei"/>
              </a:rPr>
              <a:t>規格分析</a:t>
            </a:r>
            <a:endParaRPr sz="105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貪婪借電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演算法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（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可變</a:t>
            </a:r>
            <a:r>
              <a:rPr lang="zh-TW" alt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量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dirty="0">
                <a:solidFill>
                  <a:srgbClr val="262626"/>
                </a:solidFill>
                <a:latin typeface="Calibri"/>
                <a:ea typeface="Microsoft JhengHei"/>
              </a:rPr>
              <a:t>SMR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Group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支援（需求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2）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/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2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2CD66B3B-6142-50CF-8B2B-817DE117DD63}"/>
              </a:ext>
            </a:extLst>
          </p:cNvPr>
          <p:cNvSpPr txBox="1"/>
          <p:nvPr/>
        </p:nvSpPr>
        <p:spPr>
          <a:xfrm>
            <a:off x="9221724" y="4937760"/>
            <a:ext cx="2491740" cy="78739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7D32"/>
                </a:solidFill>
                <a:latin typeface="Calibri"/>
                <a:ea typeface="Microsoft JhengHei"/>
              </a:rPr>
              <a:t>設計</a:t>
            </a:r>
            <a:r>
              <a:rPr sz="1050" b="1" i="0" dirty="0">
                <a:solidFill>
                  <a:srgbClr val="2E7D32"/>
                </a:solidFill>
                <a:latin typeface="Calibri"/>
                <a:ea typeface="Microsoft JhengHei"/>
              </a:rPr>
              <a:t>] 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N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階借電模組（需求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模擬驗證報告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測試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落地演算法整體驗證報告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[</a:t>
            </a:r>
            <a:r>
              <a:rPr sz="1050" b="1" i="0" dirty="0" err="1">
                <a:solidFill>
                  <a:srgbClr val="2E5496"/>
                </a:solidFill>
                <a:latin typeface="Calibri"/>
                <a:ea typeface="Microsoft JhengHei"/>
              </a:rPr>
              <a:t>規格</a:t>
            </a:r>
            <a:r>
              <a:rPr sz="1050" b="1" i="0" dirty="0">
                <a:solidFill>
                  <a:srgbClr val="2E5496"/>
                </a:solidFill>
                <a:latin typeface="Calibri"/>
                <a:ea typeface="Microsoft JhengHei"/>
              </a:rPr>
              <a:t>]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系統整合</a:t>
            </a:r>
            <a:r>
              <a:rPr sz="1050" b="0" i="0" dirty="0">
                <a:solidFill>
                  <a:srgbClr val="262626"/>
                </a:solidFill>
                <a:latin typeface="Calibri"/>
                <a:ea typeface="Microsoft JhengHei"/>
              </a:rPr>
              <a:t> / </a:t>
            </a:r>
            <a:r>
              <a:rPr sz="1050" b="0" i="0" dirty="0" err="1">
                <a:solidFill>
                  <a:srgbClr val="262626"/>
                </a:solidFill>
                <a:latin typeface="Calibri"/>
                <a:ea typeface="Microsoft JhengHei"/>
              </a:rPr>
              <a:t>技術移轉文件</a:t>
            </a:r>
            <a:endParaRPr sz="1050" b="0" i="0" dirty="0">
              <a:solidFill>
                <a:srgbClr val="262626"/>
              </a:solidFill>
              <a:latin typeface="Calibri"/>
              <a:ea typeface="Microsoft JhengHei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687C368F-C366-F75E-DA79-A214EA3E0793}"/>
              </a:ext>
            </a:extLst>
          </p:cNvPr>
          <p:cNvSpPr txBox="1"/>
          <p:nvPr/>
        </p:nvSpPr>
        <p:spPr>
          <a:xfrm>
            <a:off x="411480" y="6419088"/>
            <a:ext cx="11365992" cy="1872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dirty="0" err="1">
                <a:solidFill>
                  <a:srgbClr val="C55A11"/>
                </a:solidFill>
                <a:latin typeface="Calibri"/>
                <a:ea typeface="Microsoft JhengHei"/>
              </a:rPr>
              <a:t>估計假設</a:t>
            </a:r>
            <a:r>
              <a:rPr sz="1050" b="1" i="0" dirty="0">
                <a:solidFill>
                  <a:srgbClr val="C55A11"/>
                </a:solidFill>
                <a:latin typeface="Calibri"/>
                <a:ea typeface="Microsoft JhengHei"/>
              </a:rPr>
              <a:t>　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</a:t>
            </a:r>
            <a:r>
              <a:rPr lang="en-US"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1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（低～中）＋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需求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2（中）約各 1.5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個月於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 Q3；需求 </a:t>
            </a:r>
            <a:r>
              <a:rPr lang="en-US"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3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（高）為 Q4 </a:t>
            </a:r>
            <a:r>
              <a:rPr sz="1050" b="0" i="0" dirty="0" err="1">
                <a:solidFill>
                  <a:srgbClr val="7F7F7F"/>
                </a:solidFill>
                <a:latin typeface="Calibri"/>
                <a:ea typeface="Microsoft JhengHei"/>
              </a:rPr>
              <a:t>主線。實際依規格複雜度調整</a:t>
            </a:r>
            <a:r>
              <a:rPr sz="1050" b="0" i="0" dirty="0">
                <a:solidFill>
                  <a:srgbClr val="7F7F7F"/>
                </a:solidFill>
                <a:latin typeface="Calibri"/>
                <a:ea typeface="Microsoft JhengHei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313F204-0053-0164-C3B6-795B14427201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AD4D056-1F39-13EC-875D-3F04F1E2EA68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313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3E72E2-945D-04CC-7C3C-9C69656E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b="1" dirty="0" err="1">
                <a:latin typeface="DeltaSans" panose="020B0502030000000004" pitchFamily="34" charset="0"/>
              </a:rPr>
              <a:t>執行近況與後續事項</a:t>
            </a:r>
            <a:endParaRPr lang="zh-TW" altLang="en-US" sz="2800" b="1" dirty="0">
              <a:latin typeface="DeltaSans" panose="020B0502030000000004" pitchFamily="34" charset="0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3B085AE7-4450-551E-B5DE-7E27F61967CD}"/>
              </a:ext>
            </a:extLst>
          </p:cNvPr>
          <p:cNvSpPr/>
          <p:nvPr/>
        </p:nvSpPr>
        <p:spPr>
          <a:xfrm>
            <a:off x="-9252" y="-862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F11D5D-83A6-E5F9-63A0-B0B150E550CA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34F0C2E-F220-5FB6-98AF-5B5AAA930CEF}"/>
              </a:ext>
            </a:extLst>
          </p:cNvPr>
          <p:cNvSpPr/>
          <p:nvPr/>
        </p:nvSpPr>
        <p:spPr>
          <a:xfrm>
            <a:off x="376276" y="141732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CDCDCF1-55B6-C95C-7AC2-7BF205EB01B7}"/>
              </a:ext>
            </a:extLst>
          </p:cNvPr>
          <p:cNvSpPr/>
          <p:nvPr/>
        </p:nvSpPr>
        <p:spPr>
          <a:xfrm>
            <a:off x="376276" y="1417320"/>
            <a:ext cx="3703320" cy="777240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3E9D265-C2B8-EB02-E8A4-56D28002C0B2}"/>
              </a:ext>
            </a:extLst>
          </p:cNvPr>
          <p:cNvSpPr/>
          <p:nvPr/>
        </p:nvSpPr>
        <p:spPr>
          <a:xfrm>
            <a:off x="650596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DONE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CF36AE-4C12-1C98-BD57-AEE633D0D907}"/>
              </a:ext>
            </a:extLst>
          </p:cNvPr>
          <p:cNvSpPr/>
          <p:nvPr/>
        </p:nvSpPr>
        <p:spPr>
          <a:xfrm>
            <a:off x="650596" y="1746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397F15-AC86-C76F-F75D-CABE921746A0}"/>
              </a:ext>
            </a:extLst>
          </p:cNvPr>
          <p:cNvSpPr/>
          <p:nvPr/>
        </p:nvSpPr>
        <p:spPr>
          <a:xfrm>
            <a:off x="650596" y="237744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階段模擬引擎完成 (Q1)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241 Unit tests  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場景測試矩陣全綠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 語言演算法實現 (Q2)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 硬體適配層 (Q2)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Relay 切換次數統計機制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UI Phase 1–4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上線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335EC03-F7E1-3D35-0141-9B5E09C03CF3}"/>
              </a:ext>
            </a:extLst>
          </p:cNvPr>
          <p:cNvSpPr/>
          <p:nvPr/>
        </p:nvSpPr>
        <p:spPr>
          <a:xfrm>
            <a:off x="4244188" y="141732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503EFCF-2D70-8755-B199-289C6526A0EC}"/>
              </a:ext>
            </a:extLst>
          </p:cNvPr>
          <p:cNvSpPr/>
          <p:nvPr/>
        </p:nvSpPr>
        <p:spPr>
          <a:xfrm>
            <a:off x="4244188" y="1417320"/>
            <a:ext cx="3703320" cy="777240"/>
          </a:xfrm>
          <a:prstGeom prst="rect">
            <a:avLst/>
          </a:prstGeom>
          <a:solidFill>
            <a:srgbClr val="E8B83C"/>
          </a:solidFill>
          <a:ln w="12700">
            <a:solidFill>
              <a:srgbClr val="E8B8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0F9D34-E76C-74E3-41AB-F8C0F843D6AE}"/>
              </a:ext>
            </a:extLst>
          </p:cNvPr>
          <p:cNvSpPr/>
          <p:nvPr/>
        </p:nvSpPr>
        <p:spPr>
          <a:xfrm>
            <a:off x="4518508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2429A9A-4BAC-1BF3-48D3-75F2F3F85DC9}"/>
              </a:ext>
            </a:extLst>
          </p:cNvPr>
          <p:cNvSpPr/>
          <p:nvPr/>
        </p:nvSpPr>
        <p:spPr>
          <a:xfrm>
            <a:off x="4518508" y="1746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進行中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F3A5F81-2322-A046-685B-4CA97E2157FE}"/>
              </a:ext>
            </a:extLst>
          </p:cNvPr>
          <p:cNvSpPr/>
          <p:nvPr/>
        </p:nvSpPr>
        <p:spPr>
          <a:xfrm>
            <a:off x="4518508" y="237744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(貪婪借電) 規格研讀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altLang="zh-TW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貪婪借電</a:t>
            </a:r>
            <a:r>
              <a:rPr lang="en-US" altLang="zh-TW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演算法測試框架設計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與生產單位進行規格對齊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Web UI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動態配置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228-case 測試矩陣延伸</a:t>
            </a:r>
            <a:endParaRPr lang="en-US" sz="10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4852B62-29F1-4273-F70E-21C46BA38838}"/>
              </a:ext>
            </a:extLst>
          </p:cNvPr>
          <p:cNvSpPr/>
          <p:nvPr/>
        </p:nvSpPr>
        <p:spPr>
          <a:xfrm>
            <a:off x="8112100" y="1417320"/>
            <a:ext cx="37033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B3FF662-4F33-B932-17B9-117A0583BFB9}"/>
              </a:ext>
            </a:extLst>
          </p:cNvPr>
          <p:cNvSpPr/>
          <p:nvPr/>
        </p:nvSpPr>
        <p:spPr>
          <a:xfrm>
            <a:off x="8112100" y="1417320"/>
            <a:ext cx="370332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F84EA6D-1656-3465-F7A9-D01A15E600A0}"/>
              </a:ext>
            </a:extLst>
          </p:cNvPr>
          <p:cNvSpPr/>
          <p:nvPr/>
        </p:nvSpPr>
        <p:spPr>
          <a:xfrm>
            <a:off x="8386420" y="1508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NEXT  H2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9EC604C-9C6B-F91D-B39D-5D1CDE39FFA4}"/>
              </a:ext>
            </a:extLst>
          </p:cNvPr>
          <p:cNvSpPr/>
          <p:nvPr/>
        </p:nvSpPr>
        <p:spPr>
          <a:xfrm>
            <a:off x="8386420" y="1746504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後續事項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F04D128-60E2-87AF-277D-5AE017A7B1A7}"/>
              </a:ext>
            </a:extLst>
          </p:cNvPr>
          <p:cNvSpPr/>
          <p:nvPr/>
        </p:nvSpPr>
        <p:spPr>
          <a:xfrm>
            <a:off x="8386420" y="237744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 貪婪借電演算法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 需求 2 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可變</a:t>
            </a:r>
            <a:r>
              <a:rPr lang="zh-TW" alt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 </a:t>
            </a:r>
            <a:r>
              <a:rPr lang="en-US" altLang="zh-TW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SMR</a:t>
            </a: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Group 數演算法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1+2 模擬驗證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  </a:t>
            </a:r>
            <a:r>
              <a:rPr lang="en-US" sz="105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 N 階借電演算法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  落地演算法整體驗證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05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  系統整合與技術移轉</a:t>
            </a:r>
            <a:endParaRPr lang="en-US" sz="105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B5950E-210F-ED62-65D6-49CCE98F9151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8A246C-415D-0E7A-3B80-A7A3D016204D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29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9CF76-543A-E11A-2563-748F3FDFF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b="1" dirty="0">
                <a:latin typeface="DeltaSans" panose="020B0502030000000004" pitchFamily="34" charset="0"/>
              </a:rPr>
              <a:t>附件</a:t>
            </a:r>
            <a:r>
              <a:rPr lang="en-US" altLang="zh-TW" sz="2800" b="1">
                <a:latin typeface="DeltaSans" panose="020B0502030000000004" pitchFamily="34" charset="0"/>
              </a:rPr>
              <a:t>: </a:t>
            </a:r>
            <a:r>
              <a:rPr lang="zh-TW" altLang="en-US" sz="2800" b="1">
                <a:latin typeface="DeltaSans" panose="020B0502030000000004" pitchFamily="34" charset="0"/>
              </a:rPr>
              <a:t>落地</a:t>
            </a:r>
            <a:r>
              <a:rPr lang="zh-TW" altLang="en-US" sz="2800" b="1" dirty="0">
                <a:latin typeface="DeltaSans" panose="020B0502030000000004" pitchFamily="34" charset="0"/>
              </a:rPr>
              <a:t>演算法</a:t>
            </a:r>
            <a:r>
              <a:rPr lang="en-US" altLang="zh-TW" sz="2800" b="1" dirty="0">
                <a:latin typeface="DeltaSans" panose="020B0502030000000004" pitchFamily="34" charset="0"/>
              </a:rPr>
              <a:t>.</a:t>
            </a:r>
            <a:r>
              <a:rPr lang="zh-TW" altLang="en-US" sz="2800" b="1" dirty="0">
                <a:latin typeface="DeltaSans" panose="020B0502030000000004" pitchFamily="34" charset="0"/>
              </a:rPr>
              <a:t>三項需求 </a:t>
            </a:r>
            <a:r>
              <a:rPr lang="en-US" altLang="zh-TW" sz="2800" b="1" dirty="0">
                <a:latin typeface="DeltaSans" panose="020B0502030000000004" pitchFamily="34" charset="0"/>
              </a:rPr>
              <a:t>Roadmap</a:t>
            </a:r>
            <a:endParaRPr lang="zh-TW" altLang="en-US" sz="2800" b="1" dirty="0">
              <a:latin typeface="DeltaSans" panose="020B0502030000000004" pitchFamily="34" charset="0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92C12C33-E118-C57B-CD82-169BDA8C923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CBFC339-3826-D8B0-F200-409F8C8397C8}"/>
              </a:ext>
            </a:extLst>
          </p:cNvPr>
          <p:cNvSpPr/>
          <p:nvPr/>
        </p:nvSpPr>
        <p:spPr>
          <a:xfrm>
            <a:off x="502920" y="1280160"/>
            <a:ext cx="11247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175BE2-6638-6644-D6B2-1185146302BB}"/>
              </a:ext>
            </a:extLst>
          </p:cNvPr>
          <p:cNvSpPr/>
          <p:nvPr/>
        </p:nvSpPr>
        <p:spPr>
          <a:xfrm>
            <a:off x="50292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依相依序推進:需求</a:t>
            </a:r>
            <a:r>
              <a:rPr lang="en-US" sz="13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(基礎) → 需求 2 (擴展) → </a:t>
            </a:r>
            <a:r>
              <a:rPr lang="en-US" sz="13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3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 (整合)。</a:t>
            </a:r>
            <a:r>
              <a:rPr lang="en-US" sz="1300" dirty="0" err="1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難度遞增,需求</a:t>
            </a:r>
            <a:r>
              <a:rPr lang="en-US" sz="13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 為 Q4 主線。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DAEF54-5131-C9D4-EF07-16E3D72BE055}"/>
              </a:ext>
            </a:extLst>
          </p:cNvPr>
          <p:cNvSpPr/>
          <p:nvPr/>
        </p:nvSpPr>
        <p:spPr>
          <a:xfrm>
            <a:off x="376276" y="2011680"/>
            <a:ext cx="37033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A48BF91-16AE-9086-351D-27073966C55A}"/>
              </a:ext>
            </a:extLst>
          </p:cNvPr>
          <p:cNvSpPr/>
          <p:nvPr/>
        </p:nvSpPr>
        <p:spPr>
          <a:xfrm>
            <a:off x="376276" y="201168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3D2648A-18EB-BBD7-F191-5EC443C7FD23}"/>
              </a:ext>
            </a:extLst>
          </p:cNvPr>
          <p:cNvSpPr/>
          <p:nvPr/>
        </p:nvSpPr>
        <p:spPr>
          <a:xfrm>
            <a:off x="559156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200" b="1" kern="0" spc="2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827436-ECCD-2B32-097E-7C049F0D1490}"/>
              </a:ext>
            </a:extLst>
          </p:cNvPr>
          <p:cNvSpPr/>
          <p:nvPr/>
        </p:nvSpPr>
        <p:spPr>
          <a:xfrm>
            <a:off x="559156" y="2377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貪婪借電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8436931-EA0B-3990-8479-F81C9A751A98}"/>
              </a:ext>
            </a:extLst>
          </p:cNvPr>
          <p:cNvSpPr/>
          <p:nvPr/>
        </p:nvSpPr>
        <p:spPr>
          <a:xfrm>
            <a:off x="604876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253E2FB-9CE8-9D5A-1C02-D72FA1A21C94}"/>
              </a:ext>
            </a:extLst>
          </p:cNvPr>
          <p:cNvSpPr/>
          <p:nvPr/>
        </p:nvSpPr>
        <p:spPr>
          <a:xfrm>
            <a:off x="1427836" y="3246120"/>
            <a:ext cx="1097280" cy="256032"/>
          </a:xfrm>
          <a:prstGeom prst="rect">
            <a:avLst/>
          </a:prstGeom>
          <a:solidFill>
            <a:srgbClr val="1E8E5C"/>
          </a:solidFill>
          <a:ln w="12700">
            <a:solidFill>
              <a:srgbClr val="1E8E5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D2412DD-76F3-6BD0-5A00-99524294B03C}"/>
              </a:ext>
            </a:extLst>
          </p:cNvPr>
          <p:cNvSpPr/>
          <p:nvPr/>
        </p:nvSpPr>
        <p:spPr>
          <a:xfrm>
            <a:off x="1427836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 ~ 中</a:t>
            </a: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0445C7-99B1-C730-8337-73EE8B36C715}"/>
              </a:ext>
            </a:extLst>
          </p:cNvPr>
          <p:cNvSpPr/>
          <p:nvPr/>
        </p:nvSpPr>
        <p:spPr>
          <a:xfrm>
            <a:off x="604876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D0278EB-B182-F424-2CE6-42BE0636ED82}"/>
              </a:ext>
            </a:extLst>
          </p:cNvPr>
          <p:cNvSpPr/>
          <p:nvPr/>
        </p:nvSpPr>
        <p:spPr>
          <a:xfrm>
            <a:off x="1427836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上半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AAA07B6-01F0-7782-D5B9-1C60BEBE2A19}"/>
              </a:ext>
            </a:extLst>
          </p:cNvPr>
          <p:cNvSpPr/>
          <p:nvPr/>
        </p:nvSpPr>
        <p:spPr>
          <a:xfrm>
            <a:off x="604876" y="4023360"/>
            <a:ext cx="3246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0F9097D-12F6-DF7A-FB37-6D3FE3C64121}"/>
              </a:ext>
            </a:extLst>
          </p:cNvPr>
          <p:cNvSpPr/>
          <p:nvPr/>
        </p:nvSpPr>
        <p:spPr>
          <a:xfrm>
            <a:off x="650596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本地資源不足時向鄰近 MCU 借電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以貪婪策略選擇借電來源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作為需求 1、2 的基礎</a:t>
            </a:r>
            <a:endParaRPr lang="en-US" sz="11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A3B8AD6-4D83-33F5-E17F-FFFA7315E922}"/>
              </a:ext>
            </a:extLst>
          </p:cNvPr>
          <p:cNvSpPr/>
          <p:nvPr/>
        </p:nvSpPr>
        <p:spPr>
          <a:xfrm>
            <a:off x="4244188" y="2011680"/>
            <a:ext cx="37033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36659AA2-8C03-3D28-01D8-09F08BE793EB}"/>
              </a:ext>
            </a:extLst>
          </p:cNvPr>
          <p:cNvSpPr/>
          <p:nvPr/>
        </p:nvSpPr>
        <p:spPr>
          <a:xfrm>
            <a:off x="4244188" y="201168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F3C8E20-FD96-69AF-D836-DFBC45165215}"/>
              </a:ext>
            </a:extLst>
          </p:cNvPr>
          <p:cNvSpPr/>
          <p:nvPr/>
        </p:nvSpPr>
        <p:spPr>
          <a:xfrm>
            <a:off x="4427068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 2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1EE43D4-3A52-968D-B601-82E16952CF1E}"/>
              </a:ext>
            </a:extLst>
          </p:cNvPr>
          <p:cNvSpPr/>
          <p:nvPr/>
        </p:nvSpPr>
        <p:spPr>
          <a:xfrm>
            <a:off x="4427068" y="2377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可變</a:t>
            </a: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SMR Group 數</a:t>
            </a:r>
            <a:endParaRPr lang="en-US" sz="2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006A7E8-19B1-5ECE-2D58-A356EB6CFA53}"/>
              </a:ext>
            </a:extLst>
          </p:cNvPr>
          <p:cNvSpPr/>
          <p:nvPr/>
        </p:nvSpPr>
        <p:spPr>
          <a:xfrm>
            <a:off x="4472788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</a:t>
            </a:r>
            <a:endParaRPr lang="en-US" sz="10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023E456-3E18-B746-D9FB-FD01C9D9668F}"/>
              </a:ext>
            </a:extLst>
          </p:cNvPr>
          <p:cNvSpPr/>
          <p:nvPr/>
        </p:nvSpPr>
        <p:spPr>
          <a:xfrm>
            <a:off x="5295748" y="3246120"/>
            <a:ext cx="1097280" cy="256032"/>
          </a:xfrm>
          <a:prstGeom prst="rect">
            <a:avLst/>
          </a:prstGeom>
          <a:solidFill>
            <a:srgbClr val="E8B83C"/>
          </a:solidFill>
          <a:ln w="12700">
            <a:solidFill>
              <a:srgbClr val="E8B83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AB79789-6FE9-8C51-4326-AC7B12A1F134}"/>
              </a:ext>
            </a:extLst>
          </p:cNvPr>
          <p:cNvSpPr/>
          <p:nvPr/>
        </p:nvSpPr>
        <p:spPr>
          <a:xfrm>
            <a:off x="5295748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27AF144-3605-2234-3067-C6D00EF42180}"/>
              </a:ext>
            </a:extLst>
          </p:cNvPr>
          <p:cNvSpPr/>
          <p:nvPr/>
        </p:nvSpPr>
        <p:spPr>
          <a:xfrm>
            <a:off x="4472788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DCB6804-FE7F-923F-9B50-0252DDF5555D}"/>
              </a:ext>
            </a:extLst>
          </p:cNvPr>
          <p:cNvSpPr/>
          <p:nvPr/>
        </p:nvSpPr>
        <p:spPr>
          <a:xfrm>
            <a:off x="5295748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Q3 下半</a:t>
            </a:r>
            <a:endParaRPr lang="en-US" sz="11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2F37C50-432E-6DC5-E739-39BE38E0AED8}"/>
              </a:ext>
            </a:extLst>
          </p:cNvPr>
          <p:cNvSpPr/>
          <p:nvPr/>
        </p:nvSpPr>
        <p:spPr>
          <a:xfrm>
            <a:off x="4472788" y="4023360"/>
            <a:ext cx="3246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D80FA9F-583A-7FB0-DC45-E4FA589C2958}"/>
              </a:ext>
            </a:extLst>
          </p:cNvPr>
          <p:cNvSpPr/>
          <p:nvPr/>
        </p:nvSpPr>
        <p:spPr>
          <a:xfrm>
            <a:off x="4518508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支援每個 REC BD 不同 Group 數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動態調整資源分配單位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為需求 1 提供彈性容量支撐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CCACDD4-7813-3065-AF6B-EA8EBDD45EE9}"/>
              </a:ext>
            </a:extLst>
          </p:cNvPr>
          <p:cNvSpPr/>
          <p:nvPr/>
        </p:nvSpPr>
        <p:spPr>
          <a:xfrm>
            <a:off x="8112100" y="2011680"/>
            <a:ext cx="37033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E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7936DDE-742D-93AB-1189-07CBB82C5874}"/>
              </a:ext>
            </a:extLst>
          </p:cNvPr>
          <p:cNvSpPr/>
          <p:nvPr/>
        </p:nvSpPr>
        <p:spPr>
          <a:xfrm>
            <a:off x="8112100" y="2011680"/>
            <a:ext cx="37033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310D996-0C0B-1F9B-0ECE-243593EB6EE1}"/>
              </a:ext>
            </a:extLst>
          </p:cNvPr>
          <p:cNvSpPr/>
          <p:nvPr/>
        </p:nvSpPr>
        <p:spPr>
          <a:xfrm>
            <a:off x="8294980" y="21031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200" b="1" kern="0" spc="200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</a:t>
            </a:r>
            <a:endParaRPr lang="en-US" sz="12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72DAAE5-0DF8-2558-FFFB-FC9A01D6D96A}"/>
              </a:ext>
            </a:extLst>
          </p:cNvPr>
          <p:cNvSpPr/>
          <p:nvPr/>
        </p:nvSpPr>
        <p:spPr>
          <a:xfrm>
            <a:off x="8294980" y="2377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 階借電</a:t>
            </a:r>
            <a:endParaRPr lang="en-US" sz="2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9DE02CB-E046-E14A-6F38-FA98160663F8}"/>
              </a:ext>
            </a:extLst>
          </p:cNvPr>
          <p:cNvSpPr/>
          <p:nvPr/>
        </p:nvSpPr>
        <p:spPr>
          <a:xfrm>
            <a:off x="8340700" y="32004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難度</a:t>
            </a:r>
            <a:endParaRPr lang="en-US" sz="10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4626E70-DBC6-FB4C-B205-794B320EC08B}"/>
              </a:ext>
            </a:extLst>
          </p:cNvPr>
          <p:cNvSpPr/>
          <p:nvPr/>
        </p:nvSpPr>
        <p:spPr>
          <a:xfrm>
            <a:off x="9163660" y="3246120"/>
            <a:ext cx="1097280" cy="256032"/>
          </a:xfrm>
          <a:prstGeom prst="rect">
            <a:avLst/>
          </a:prstGeom>
          <a:solidFill>
            <a:srgbClr val="C1443A"/>
          </a:solidFill>
          <a:ln w="12700">
            <a:solidFill>
              <a:srgbClr val="C144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7344239-6799-E81B-790B-4FDC6D1F609E}"/>
              </a:ext>
            </a:extLst>
          </p:cNvPr>
          <p:cNvSpPr/>
          <p:nvPr/>
        </p:nvSpPr>
        <p:spPr>
          <a:xfrm>
            <a:off x="9163660" y="3246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10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3A6C468-48B3-7532-E567-352E1CDF8848}"/>
              </a:ext>
            </a:extLst>
          </p:cNvPr>
          <p:cNvSpPr/>
          <p:nvPr/>
        </p:nvSpPr>
        <p:spPr>
          <a:xfrm>
            <a:off x="834070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98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排程</a:t>
            </a:r>
            <a:endParaRPr lang="en-US" sz="10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68F822A-54A3-D098-3839-615204F42D8D}"/>
              </a:ext>
            </a:extLst>
          </p:cNvPr>
          <p:cNvSpPr/>
          <p:nvPr/>
        </p:nvSpPr>
        <p:spPr>
          <a:xfrm>
            <a:off x="916366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Q4 全季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1DE1F8D-E544-E378-692A-634AB5B79331}"/>
              </a:ext>
            </a:extLst>
          </p:cNvPr>
          <p:cNvSpPr/>
          <p:nvPr/>
        </p:nvSpPr>
        <p:spPr>
          <a:xfrm>
            <a:off x="8340700" y="4023360"/>
            <a:ext cx="3246120" cy="0"/>
          </a:xfrm>
          <a:prstGeom prst="line">
            <a:avLst/>
          </a:prstGeom>
          <a:noFill/>
          <a:ln w="12700">
            <a:solidFill>
              <a:srgbClr val="D7DEE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7F31A5DA-CBEF-7A61-4A15-A95AC67B353E}"/>
              </a:ext>
            </a:extLst>
          </p:cNvPr>
          <p:cNvSpPr/>
          <p:nvPr/>
        </p:nvSpPr>
        <p:spPr>
          <a:xfrm>
            <a:off x="8386420" y="4160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跨多個 MCU 的多階借電傳遞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依賴需求 2 (可變容量) 與需求 3 (貪婪基礎)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0F1A3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H2 主線,預留完整 Q4 為 runway</a:t>
            </a:r>
            <a:endParaRPr lang="en-US" sz="11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2CD7997C-757B-C4F0-3182-05B59F74EB4A}"/>
              </a:ext>
            </a:extLst>
          </p:cNvPr>
          <p:cNvSpPr/>
          <p:nvPr/>
        </p:nvSpPr>
        <p:spPr>
          <a:xfrm>
            <a:off x="502920" y="5943600"/>
            <a:ext cx="11274552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EFBB9535-DBAF-3FC1-A839-82B0B4B4B5BD}"/>
              </a:ext>
            </a:extLst>
          </p:cNvPr>
          <p:cNvSpPr/>
          <p:nvPr/>
        </p:nvSpPr>
        <p:spPr>
          <a:xfrm>
            <a:off x="777240" y="5943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相依關係  </a:t>
            </a:r>
            <a:r>
              <a:rPr lang="en-US" sz="1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1 (貪婪基礎) → 需求 2 (可變容量) → </a:t>
            </a:r>
            <a:r>
              <a:rPr lang="en-US" sz="1100" dirty="0" err="1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</a:t>
            </a: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3 (N 階整合)。此順序為 Q4 如期交付的關鍵設計。</a:t>
            </a:r>
            <a:endParaRPr lang="en-US" sz="1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E186E0-4667-4340-5A08-9F5EA9BC4D64}"/>
              </a:ext>
            </a:extLst>
          </p:cNvPr>
          <p:cNvSpPr/>
          <p:nvPr/>
        </p:nvSpPr>
        <p:spPr>
          <a:xfrm>
            <a:off x="263352" y="272944"/>
            <a:ext cx="2160240" cy="800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2AADA1F-870A-B054-347E-4D1BA48F1E83}"/>
              </a:ext>
            </a:extLst>
          </p:cNvPr>
          <p:cNvSpPr/>
          <p:nvPr/>
        </p:nvSpPr>
        <p:spPr>
          <a:xfrm>
            <a:off x="263352" y="6561348"/>
            <a:ext cx="1368152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5773992"/>
      </p:ext>
    </p:extLst>
  </p:cSld>
  <p:clrMapOvr>
    <a:masterClrMapping/>
  </p:clrMapOvr>
</p:sld>
</file>

<file path=ppt/theme/theme1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76a94ab-b2dc-4efe-a651-b0cafe107a7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832D2C47912E4FAD334D1C38349AED" ma:contentTypeVersion="14" ma:contentTypeDescription="Create a new document." ma:contentTypeScope="" ma:versionID="c5df0c640b9a45e675b9f1d471c040d2">
  <xsd:schema xmlns:xsd="http://www.w3.org/2001/XMLSchema" xmlns:xs="http://www.w3.org/2001/XMLSchema" xmlns:p="http://schemas.microsoft.com/office/2006/metadata/properties" xmlns:ns3="176a94ab-b2dc-4efe-a651-b0cafe107a7d" xmlns:ns4="f029d87d-6098-4df4-a3a4-864bb3cbba3b" targetNamespace="http://schemas.microsoft.com/office/2006/metadata/properties" ma:root="true" ma:fieldsID="152c6ea8b1f39b001375bef4e4038e35" ns3:_="" ns4:_="">
    <xsd:import namespace="176a94ab-b2dc-4efe-a651-b0cafe107a7d"/>
    <xsd:import namespace="f029d87d-6098-4df4-a3a4-864bb3cbba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6a94ab-b2dc-4efe-a651-b0cafe107a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29d87d-6098-4df4-a3a4-864bb3cbba3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A8AA2E-71E6-4DEB-9477-3611CB9D9CE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040429-3B2D-4A00-A509-5D697484DEC3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terms/"/>
    <ds:schemaRef ds:uri="176a94ab-b2dc-4efe-a651-b0cafe107a7d"/>
    <ds:schemaRef ds:uri="f029d87d-6098-4df4-a3a4-864bb3cbba3b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8F73206-D7E1-4938-BE1B-4A7627EFB9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6a94ab-b2dc-4efe-a651-b0cafe107a7d"/>
    <ds:schemaRef ds:uri="f029d87d-6098-4df4-a3a4-864bb3cbba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Delta_PPTtemplate_16x9_EN</Template>
  <TotalTime>0</TotalTime>
  <Words>1140</Words>
  <Application>Microsoft Office PowerPoint</Application>
  <PresentationFormat>寬螢幕</PresentationFormat>
  <Paragraphs>207</Paragraphs>
  <Slides>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6" baseType="lpstr">
      <vt:lpstr>Noto Sans CJK TC</vt:lpstr>
      <vt:lpstr>Arial</vt:lpstr>
      <vt:lpstr>Calibri</vt:lpstr>
      <vt:lpstr>DeltaSans</vt:lpstr>
      <vt:lpstr>Georgia</vt:lpstr>
      <vt:lpstr>Wingdings</vt:lpstr>
      <vt:lpstr>1_自訂設計</vt:lpstr>
      <vt:lpstr>2_自訂設計</vt:lpstr>
      <vt:lpstr>合作背景與目標</vt:lpstr>
      <vt:lpstr>原計劃回顧</vt:lpstr>
      <vt:lpstr>整體進度與原計畫差異</vt:lpstr>
      <vt:lpstr>範圍擴增 Web UI 系統</vt:lpstr>
      <vt:lpstr>Web UI Demo 對客戶提案流程</vt:lpstr>
      <vt:lpstr>H2 (2026下半年) 路線圖</vt:lpstr>
      <vt:lpstr>執行近況與後續事項</vt:lpstr>
      <vt:lpstr>附件: 落地演算法.三項需求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 Maximum 2 Lines (32pt)</dc:title>
  <dc:creator>user</dc:creator>
  <cp:lastModifiedBy>SONNY.LEE 李松年</cp:lastModifiedBy>
  <cp:revision>1938</cp:revision>
  <dcterms:created xsi:type="dcterms:W3CDTF">2022-01-20T01:43:08Z</dcterms:created>
  <dcterms:modified xsi:type="dcterms:W3CDTF">2026-07-07T02:32:52Z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0x010100FA832D2C47912E4FAD334D1C38349AED</vt:lpwstr>
  </property>
</Properties>
</file>